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3"/>
          <c:y val="0.02"/>
          <c:w val="0.54"/>
          <c:h val="0.96"/>
        </c:manualLayout>
      </c:layout>
      <c:barChart>
        <c:barDir val="bar"/>
        <c:grouping val="clustered"/>
        <c:ser>
          <c:idx val="0"/>
          <c:order val="0"/>
          <c:tx>
            <c:strRef>
              <c:f>Sheet1!$B$1</c:f>
              <c:strCache>
                <c:ptCount val="1"/>
                <c:pt idx="0">
                  <c:v>Avance registrado</c:v>
                </c:pt>
              </c:strCache>
            </c:strRef>
          </c:tx>
          <c:dPt>
            <c:idx val="0"/>
            <c:spPr>
              <a:solidFill>
                <a:srgbClr val="4472C4"/>
              </a:solidFill>
            </c:spPr>
          </c:dPt>
          <c:dPt>
            <c:idx val="1"/>
            <c:spPr>
              <a:solidFill>
                <a:srgbClr val="4472C4"/>
              </a:solidFill>
            </c:spPr>
          </c:dPt>
          <c:dPt>
            <c:idx val="2"/>
            <c:spPr>
              <a:solidFill>
                <a:srgbClr val="4472C4"/>
              </a:solidFill>
            </c:spPr>
          </c:dPt>
          <c:dPt>
            <c:idx val="3"/>
            <c:spPr>
              <a:solidFill>
                <a:srgbClr val="D7712B"/>
              </a:solidFill>
            </c:spPr>
          </c:dPt>
          <c:dPt>
            <c:idx val="4"/>
            <c:spPr>
              <a:solidFill>
                <a:srgbClr val="D7712B"/>
              </a:solidFill>
            </c:spPr>
          </c:dPt>
          <c:dPt>
            <c:idx val="5"/>
            <c:spPr>
              <a:solidFill>
                <a:srgbClr val="D7712B"/>
              </a:solidFill>
            </c:spPr>
          </c:dPt>
          <c:dPt>
            <c:idx val="6"/>
            <c:spPr>
              <a:solidFill>
                <a:srgbClr val="D7712B"/>
              </a:solidFill>
            </c:spPr>
          </c:dPt>
          <c:dLbls>
            <c:dLbl>
              <c:idx val="0"/>
              <c:tx>
                <c:rich>
                  <a:bodyPr/>
                  <a:lstStyle/>
                  <a:p>
                    <a:r>
                      <a:rPr sz="1100" b="1">
                        <a:solidFill>
                          <a:srgbClr val="000000"/>
                        </a:solidFill>
                      </a:rPr>
                      <a:t>103,3 %</a:t>
                    </a:r>
                  </a:p>
                </c:rich>
              </c:tx>
              <c:dLblPos val="outEnd"/>
              <c:showLegendKey val="0"/>
              <c:showVal val="1"/>
              <c:showCatName val="0"/>
              <c:showSerName val="0"/>
              <c:showPercent val="0"/>
              <c:showBubbleSize val="0"/>
            </c:dLbl>
            <c:dLbl>
              <c:idx val="1"/>
              <c:tx>
                <c:rich>
                  <a:bodyPr/>
                  <a:lstStyle/>
                  <a:p>
                    <a:r>
                      <a:rPr sz="1100" b="1">
                        <a:solidFill>
                          <a:srgbClr val="000000"/>
                        </a:solidFill>
                      </a:rPr>
                      <a:t>101,9 %</a:t>
                    </a:r>
                  </a:p>
                </c:rich>
              </c:tx>
              <c:dLblPos val="outEnd"/>
              <c:showLegendKey val="0"/>
              <c:showVal val="1"/>
              <c:showCatName val="0"/>
              <c:showSerName val="0"/>
              <c:showPercent val="0"/>
              <c:showBubbleSize val="0"/>
            </c:dLbl>
            <c:dLbl>
              <c:idx val="2"/>
              <c:tx>
                <c:rich>
                  <a:bodyPr/>
                  <a:lstStyle/>
                  <a:p>
                    <a:r>
                      <a:rPr sz="1100" b="1">
                        <a:solidFill>
                          <a:srgbClr val="000000"/>
                        </a:solidFill>
                      </a:rPr>
                      <a:t>95,4 %</a:t>
                    </a:r>
                  </a:p>
                </c:rich>
              </c:tx>
              <c:dLblPos val="outEnd"/>
              <c:showLegendKey val="0"/>
              <c:showVal val="1"/>
              <c:showCatName val="0"/>
              <c:showSerName val="0"/>
              <c:showPercent val="0"/>
              <c:showBubbleSize val="0"/>
            </c:dLbl>
            <c:dLbl>
              <c:idx val="3"/>
              <c:tx>
                <c:rich>
                  <a:bodyPr/>
                  <a:lstStyle/>
                  <a:p>
                    <a:r>
                      <a:rPr sz="1100" b="1">
                        <a:solidFill>
                          <a:srgbClr val="000000"/>
                        </a:solidFill>
                      </a:rPr>
                      <a:t>73,0 %</a:t>
                    </a:r>
                  </a:p>
                </c:rich>
              </c:tx>
              <c:dLblPos val="outEnd"/>
              <c:showLegendKey val="0"/>
              <c:showVal val="1"/>
              <c:showCatName val="0"/>
              <c:showSerName val="0"/>
              <c:showPercent val="0"/>
              <c:showBubbleSize val="0"/>
            </c:dLbl>
            <c:dLbl>
              <c:idx val="4"/>
              <c:tx>
                <c:rich>
                  <a:bodyPr/>
                  <a:lstStyle/>
                  <a:p>
                    <a:r>
                      <a:rPr sz="1100" b="1">
                        <a:solidFill>
                          <a:srgbClr val="000000"/>
                        </a:solidFill>
                      </a:rPr>
                      <a:t>37,9 %</a:t>
                    </a:r>
                  </a:p>
                </c:rich>
              </c:tx>
              <c:dLblPos val="outEnd"/>
              <c:showLegendKey val="0"/>
              <c:showVal val="1"/>
              <c:showCatName val="0"/>
              <c:showSerName val="0"/>
              <c:showPercent val="0"/>
              <c:showBubbleSize val="0"/>
            </c:dLbl>
            <c:dLbl>
              <c:idx val="5"/>
              <c:tx>
                <c:rich>
                  <a:bodyPr/>
                  <a:lstStyle/>
                  <a:p>
                    <a:r>
                      <a:rPr sz="1100" b="1">
                        <a:solidFill>
                          <a:srgbClr val="000000"/>
                        </a:solidFill>
                      </a:rPr>
                      <a:t>5,7 %</a:t>
                    </a:r>
                  </a:p>
                </c:rich>
              </c:tx>
              <c:dLblPos val="outEnd"/>
              <c:showLegendKey val="0"/>
              <c:showVal val="1"/>
              <c:showCatName val="0"/>
              <c:showSerName val="0"/>
              <c:showPercent val="0"/>
              <c:showBubbleSize val="0"/>
            </c:dLbl>
            <c:dLbl>
              <c:idx val="6"/>
              <c:tx>
                <c:rich>
                  <a:bodyPr/>
                  <a:lstStyle/>
                  <a:p>
                    <a:r>
                      <a:rPr sz="1100" b="1">
                        <a:solidFill>
                          <a:srgbClr val="000000"/>
                        </a:solidFill>
                      </a:rPr>
                      <a:t>1,3 %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Catalayud, piso 4 (14,57 m)</c:v>
                </c:pt>
                <c:pt idx="1">
                  <c:v>Catalayud, piso 4 con la IMU (8,08 m)</c:v>
                </c:pt>
                <c:pt idx="2">
                  <c:v>Catalayud, piso 4 (6,68 m)</c:v>
                </c:pt>
                <c:pt idx="3">
                  <c:v>Gregorio, hall del piso 3 (6 m)</c:v>
                </c:pt>
                <c:pt idx="4">
                  <c:v>Gregorio, pasillo simulado de 46,9 m</c:v>
                </c:pt>
                <c:pt idx="5">
                  <c:v>Gregorio, pasillo simulado del piso 2</c:v>
                </c:pt>
                <c:pt idx="6">
                  <c:v>Gregorio, pasillo simulado del piso 3</c:v>
                </c:pt>
              </c:strCache>
            </c:strRef>
          </c:cat>
          <c:val>
            <c:numRef>
              <c:f>Sheet1!$B$2:$B$8</c:f>
              <c:numCache>
                <c:formatCode>General</c:formatCode>
                <c:ptCount val="7"/>
                <c:pt idx="0">
                  <c:v>103.3</c:v>
                </c:pt>
                <c:pt idx="1">
                  <c:v>101.9</c:v>
                </c:pt>
                <c:pt idx="2">
                  <c:v>95.4</c:v>
                </c:pt>
                <c:pt idx="3">
                  <c:v>73.0</c:v>
                </c:pt>
                <c:pt idx="4">
                  <c:v>37.9</c:v>
                </c:pt>
                <c:pt idx="5">
                  <c:v>5.7</c:v>
                </c:pt>
                <c:pt idx="6">
                  <c:v>1.3</c:v>
                </c:pt>
              </c:numCache>
            </c:numRef>
          </c:val>
        </c:ser>
        <c:gapWidth val="55"/>
        <c:axId val="-2068027336"/>
        <c:axId val="-2113994440"/>
      </c:barChart>
      <c:catAx>
        <c:axId val="-2068027336"/>
        <c:scaling>
          <c:orientation val="minMax"/>
        </c:scaling>
        <c:delete val="0"/>
        <c:axPos val="l"/>
        <c:majorTickMark val="out"/>
        <c:minorTickMark val="none"/>
        <c:tickLblPos val="nextTo"/>
        <c:spPr>
          <a:ln>
            <a:solidFill>
              <a:srgbClr val="A6A6A6"/>
            </a:solidFill>
          </a:ln>
        </c:spPr>
        <c:txPr>
          <a:bodyPr/>
          <a:lstStyle/>
          <a:p>
            <a:pPr>
              <a:defRPr sz="1100"/>
            </a:pPr>
          </a:p>
        </c:txPr>
        <c:crossAx val="-2113994440"/>
        <c:crosses val="autoZero"/>
        <c:auto val="1"/>
        <c:lblAlgn val="ctr"/>
        <c:lblOffset val="100"/>
        <c:noMultiLvlLbl val="0"/>
      </c:catAx>
      <c:valAx>
        <c:axId val="-2113994440"/>
        <c:scaling>
          <c:max val="125.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20 s. Título del proyecto, autores y director. El trabajo pertenece al grupo GED, en la línea de Robótica e Inteligencia Computacional.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15 s. Orden de la presentación: el problema y los objetivos, el marco referencial, el desarrollo del sistema, los resultados de las dos campañas, las conclusiones y los trabajos futuros.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 Orientarse en un edificio desconocido exige construir un mapa mental, y la escalera es el punto donde esa representación deja de servir (Jiménez Muñoz, 2024). Los trabajos que llevan un robot de un piso a otro lo hacen con hardware: mecanismos para subir escaleras o la integración con el ascensor (Kim et al., 2024; Song et al., 2024). Eso encarece la plataforma y obliga a intervenir el edificio. La propuesta usa dos agentes, uno por piso: el usuario cambia de piso por su cuenta y el agente del otro piso lo recibe. El cambio de piso pasa a ser un problema de coordinación, y ese traspaso, el relevo, es el aporte del proyecto. Se evaluó en simulación y en el edificio Catalayud.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 Orientarse exige construir y actualizar una representación mental del espacio, y en un edificio de varios pisos el cambio de nivel rompe la continuidad del recorrido. La robótica colaborativa tiene una teoría de asignación de tareas aceptada desde Gerkey y Matarić (2004), pero la mayoría de sus desarrollos se evaluó en una sola planta (Nair, 2024). Resolver el cambio de piso con un solo robot exige subir escaleras o intervenir el ascensor, como hacen Song et al. (2024) con dispositivos conectados en la cabina: más costo de hardware y obras en el edificio. De ahí la pregunta problema.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20 s. Lectura del objetivo general, tal como lo aprobó el anteproyecto.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 Los cuatro objetivos específicos del anteproyecto, transcritos sin cambios: la arquitectura funcional, la plataforma con los dos agentes, la interfaz y la evaluación experimental con las cuatro métricas. El segundo nombra el DonkeyCar; la plataforma final fue el AWS DeepRacer, y el cambio se explica en el recorrido del trabajo.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30 s. El alcance del sistema: una prueba de concepto con dos agentes, uno por piso, que se relevan en la escalera sin que ninguno cruce de nivel; una misión a la vez, en interiores y en condiciones controladas. Los agentes no accionan puertas ni ascensores y no transportan carga. La foto es de la campaña del 16 de octubre: una persona sigue al agente del piso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 De los robots guía se toma la integración de navegación e interacción; RHINO operó seis días en un museo en 1997. De la navegación en interiores, el flujo de Nav2 sobre ROS 2. De la coordinación multirrobot, la taxonomía de asignación y la planificación con relevos, donde lo que se traspasa es un paquete que puede esperar; una persona no puede, y por eso el relevo incluye una confirmación con plazo. De la movilidad entre pisos, el mapa por piso unido por un punto de transición; allí el robot cruza de nivel. La combinación nueva es resolver la discontinuidad entre pisos sin que ningún agente la atraviese.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 En la taxonomía de Gerkey y Matarić, la asignación del sistema es ST–SR–IA: cada agente hace un tramo a la vez, cada tramo lo hace un solo agente y la decisión se toma al llegar la solicitud. El relevo acopla las agendas de los dos agentes, que es la clase XD de Korsah et al. ROS 2 se comunica sobre DDS, un estándar de comunicación de datos en tiempo real. Un vehículo tipo automóvil no gira sobre su eje; por eso se usan el A* híbrido con caminos de Reeds-Shepp y el controlador Regulated Pure Pursuit. La localización AMCL usa la odometría del láser, que en un pasillo uniforme no registra el avance. La evaluación usa el intervalo de Wilson, la falsabilidad de cada criterio y la norma ASTM F3244-21.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20 s. El proyecto se enmarca en los CONPES 3975 y 4069, que piden a la academia prototipos con herramientas de la Cuarta Revolución Industrial. El alcance excluye que los agentes interactúen mecánicamente con el edificio. El impacto ambiental es mínimo: equipo institucional que ya existía y baterías que van a los canales de residuos electrónicos.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El trabajo siguió las seis fases del anteproyecto entre febrero y octubre de 2026. En abril se pasó del DonkeyCar al modelo del AWS DeepRacer, migrado a ROS 2 Humble. Entre agosto y septiembre se integró todo en simulación, con los pisos 2 y 3 del edificio Gregorio, y la campaña de treinta misiones corrió el 4 y el 5 de septiembre. Con los agentes físicos, en los pasillos uniformes de Gregorio la odometría no registraba el avance y el tránsito de personas dificultaba las pruebas. El 2 de octubre se pasó a los pisos 3 y 4 del edificio Catalayud, y la campaña física corrió el 16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55 s. Un coordinador central en el portátil decide y manda; dos agentes, uno por piso, ejecutan; la página web es la vía del usuario. Lo que cruza la escalera es la persona, y lo que se traspasa entre agentes es la responsabilidad de guiarla. Antes de escribir código se fijó un contrato de tres reglas. La tercera evita tener dos copias de la misma lógica en el coordinador y en la página. Los requisitos se reconstruyeron desde los objetivos: treinta y seis, cada uno con su prueba. El código del coordinador, del planificador y de la página es el mismo en simulación y con los agentes físicos; cambia la implementación de los bloques.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El relevo se planifica en una función pura, sin ROS 2: entra el catálogo de puntos y el par origen-destino, y salen los tramos. En el mismo piso son dos tramos del mismo agente; entre pisos, cuatro, con el relevo en el punto de transferencia de cada nivel. Así una prueba automática recorre las 930 solicitudes posibles del catálogo de simulación en milisegundos, y con ella se encontró un defecto que una corrida no habría mostrado. Con un agente por nivel, la asignación no necesita optimizador: el método húngaro devolvería la misma tabla. Abajo, las etapas que publica el coordinador y que sirven de marcas de tiempo.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55 s. Cada agente es un AWS DeepRacer con su tarjeta original, Ubuntu 24.04 y ROS 2 Jazzy, un LiDAR RPLIDAR A1M8 y la unidad inercial de la tarjeta. Las condiciones de la plataforma definieron el diseño. No gira sobre su eje, así que Nav2 se configuró con el planificador híbrido A* y Regulated Pure Pursuit, con marcha atrás. No avanza por debajo de 0,40 m/s, lo que fija la tolerancia de llegada en 0,5 m. El rumbo del láser derivaba hasta 5,9° por minuto, y con la unidad inercial bajó a 0,3° por minuto o menos. Y en pasillos de 2,5 a 3,2 m la media vuelta de Nav2 abortó contra la pared, por lo que se escribió una maniobra propia. La red usa un punto de acceso de 5 GHz por piso.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El objetivo pedía una interfaz móvil, y se construyó una página web que sirve el propio portátil: un visitante no va a instalar una aplicación para preguntar por un salón. Funciona sin salida a internet. El usuario elige el origen y el destino y sigue la misión con el texto que redacta el coordinador. La confirmación de cambio de piso y la cancelación se añadieron al ver el sistema en uso. Sin la confirmación, una misión podía darse por completada con la persona en el piso equivocado; la cancelación devuelve al agente a su escalera.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El protocolo se escribió antes de instrumentar el sistema, para que ni el instrumento ni los recorridos se eligieran después de ver los resultados. Cada métrica tiene un evento de inicio y uno de fin que registra una máquina. El éxito se mide contra la odometría del agente y no contra el resultado de Nav2, que en una prueba dio éxito con el agente a 0,296 m de la meta. Las misiones se sortearon con una semilla fija, y una corrida fallida cuenta como fallo salvo causas de una lista cerrada.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Treinta misiones sorteadas, quince en un piso y quince entre pisos, sin ningún descarte, de las que veintiséis fueron exitosas. Lo que se puede afirmar es que la tasa de éxito supera el 70 %, no que sea del 86,7 %: con treinta misiones el intervalo mide 24 puntos de ancho. Los intervalos de los dos grupos se solapan, así que no se comparan. Los cuatro fallos quedaron cortos, a entre 0,284 y 0,347 m del destino frente a 0,25 m: son de precisión de llegada, y en las treinta misiones el coordinador asignó el agente y ejecutó el relevo. El agente arranca en menos de medio segundo; la asignación tarda microsegundos.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 El agente no tiene codificadores en las ruedas: su odometría sale de comparar barridos sucesivos del láser. Entre el 26 de agosto y el 2 de octubre no dio una medida utilizable: en un pasillo recto y uniforme cada barrido es casi igual al anterior y el avance no está en la señal. En Catalayud, con hornacinas, casilleros y quiebres, la misma odometría quedó dentro del 5 % sin cambiar un parámetro. El estimador es el mismo en todas las barras; cambió el entorno. Por eso se cambió de edificio.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30 s. La prueba de navegación pide llegar de un punto a otro con Nav2 a 0,5 m o menos, medido con flexómetro. El 7 de octubre un agente recorrió tres tramos encadenados en el piso 4 y regresó a la salida sin que nadie lo tocara; las llegadas medidas quedaron entre 0,06 y 0,45 m. El 8 de octubre el otro agente hizo cinco tramos en el piso 3, con dos medias vueltas, sin recuperaciones. Lo que limita la precisión es la banda muerta: el agente se aproxima a 0,40 m/s.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El 16 de octubre, en los pisos 3 y 4 de Catalayud, con un agente por piso y el coordinador en el portátil. Se sortearon diez misiones, cinco de subida y cinco de bajada, y se corrieron sin reubicar los agentes, como en la operación real. Las nueve que llegaron a correr se completaron, todas con relevo; la décima quedó interrumpida porque el portátil se quedó sin batería. La figura descompone cada misión en sus etapas; la franja rayada es la espera de la confirmación. Con nueve de nueve, la tasa de éxito supera el 70 %, la misma cota de la simulación. La llegada se midió con la localización de cada agente.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 Para la persona, el relevo es el tiempo entre llegar a la escalera de su piso y que arranque el guiado en el otro: mediana de 24,8 s, en el que cambia de piso y confirma en la página. En cuanto a la medición, la continuidad, como criterio binario, no puede fallar por la forma en que está construida, y por eso se informa el intervalo del relevo. En el mapa de la simulación, celdas desconocidas se cargaron como libres; no cambia el veredicto y el umbral se corrigió el 25 de septiembre. Y con los agentes físicos la llegada se tomó de la localización del propio agente, sin flexómetro.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 Los cuatro objetivos se cumplieron. Un agente por nivel convierte el cambio de piso en un problema de coordinación, y separar el planificador de ROS 2 permitió verificarlo completo. El AWS DeepRacer sirve como agente con tres condiciones que el trabajo hizo explícitas: el sitio de operación es parte del diseño, la tracción fija la precisión de llegada y el cómputo se reparte. Una página web basta para la interacción. Y la evaluación sostiene la cota del 70 % en las dos campañas, con los fallos en la navegación y no en la coordinación.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30 s. La respuesta a la pregunta problema es que un esquema de relevo entre dos agentes, uno por nivel, es viable. Los agentes se reparten el guiado de una persona que cambia de piso, sin que ninguno atraviese la zona de transición y sin modificar el edificio. Queda una conclusión de método: decidir qué mide cada criterio fue más difícil que construir el sistema. Falta medir la experiencia de la persona guiada, con un estudio con usuarios.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35 s. Una navegación más precisa, con tracción lenta y una medida del avance que no dependa del pasillo. Más capacidad de cómputo, con una Raspberry Pi 4 o 5. Evasión de obstáculos en movimiento, para operar en horario de clases. Un controlador predictivo como el MPPI de Nav2. E interacción por voz, con los modelos en el portátil, porque la red puede no tener internet.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 s. Las referencias citadas en la presentación; la lista completa, de 41 referencias, está en el documento.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 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15 s. Cada código abre un video del proyecto; los dos últimos son las campañas en simulación y con los agentes físicos. El repositorio guarda toda la trazabilidad: código, matriz de requisitos con la prueba de cada uno, protocolo, registro de cada misión, evidencia de cada sesión y entregables semanales.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 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tiempo que quede es para las preguntas del jurado.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4.xml"/><Relationship Id="rId4" Type="http://schemas.openxmlformats.org/officeDocument/2006/relationships/image" Target="../media/image9.jpg"/><Relationship Id="rId5"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7.xml"/><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png"/><Relationship Id="rId7"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8.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9.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0.xm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1.xml"/><Relationship Id="rId4" Type="http://schemas.openxmlformats.org/officeDocument/2006/relationships/image" Target="../media/image18.png"/><Relationship Id="rId5"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4.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5.xml"/><Relationship Id="rId4"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6.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8.xml"/><Relationship Id="rId4"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7.xml"/><Relationship Id="rId4" Type="http://schemas.openxmlformats.org/officeDocument/2006/relationships/image" Target="../media/image24.png"/><Relationship Id="rId5" Type="http://schemas.openxmlformats.org/officeDocument/2006/relationships/hyperlink" Target="https://youtu.be/Q0w_CTga98k" TargetMode="External"/><Relationship Id="rId6" Type="http://schemas.openxmlformats.org/officeDocument/2006/relationships/image" Target="../media/image25.png"/><Relationship Id="rId7" Type="http://schemas.openxmlformats.org/officeDocument/2006/relationships/hyperlink" Target="https://youtu.be/ZPJ0Qw2L5-A" TargetMode="External"/><Relationship Id="rId8" Type="http://schemas.openxmlformats.org/officeDocument/2006/relationships/image" Target="../media/image26.png"/><Relationship Id="rId9" Type="http://schemas.openxmlformats.org/officeDocument/2006/relationships/hyperlink" Target="https://youtu.be/ZGfAMnC4lYY" TargetMode="External"/><Relationship Id="rId10" Type="http://schemas.openxmlformats.org/officeDocument/2006/relationships/image" Target="../media/image27.png"/><Relationship Id="rId11" Type="http://schemas.openxmlformats.org/officeDocument/2006/relationships/hyperlink" Target="https://youtu.be/6SABSgCxVEw" TargetMode="External"/><Relationship Id="rId12" Type="http://schemas.openxmlformats.org/officeDocument/2006/relationships/image" Target="../media/image28.png"/><Relationship Id="rId13" Type="http://schemas.openxmlformats.org/officeDocument/2006/relationships/hyperlink" Target="https://youtu.be/iKYSiM9cs-Y" TargetMode="External"/><Relationship Id="rId14" Type="http://schemas.openxmlformats.org/officeDocument/2006/relationships/image" Target="../media/image29.png"/><Relationship Id="rId15" Type="http://schemas.openxmlformats.org/officeDocument/2006/relationships/hyperlink" Target="https://youtu.be/eH_Co4vZZdw" TargetMode="External"/><Relationship Id="rId16" Type="http://schemas.openxmlformats.org/officeDocument/2006/relationships/image" Target="../media/image30.png"/><Relationship Id="rId17" Type="http://schemas.openxmlformats.org/officeDocument/2006/relationships/hyperlink" Target="https://youtu.be/X3BINGgNxiA" TargetMode="External"/><Relationship Id="rId18" Type="http://schemas.openxmlformats.org/officeDocument/2006/relationships/image" Target="../media/image31.png"/><Relationship Id="rId19" Type="http://schemas.openxmlformats.org/officeDocument/2006/relationships/hyperlink" Target="https://github.com/shdeza12/Collaborative-Mobile-Robot-System-for-Indoor-Navigation-Assistance-in-Multi-Level-Environments" TargetMode="External"/><Relationship Id="rId20" Type="http://schemas.openxmlformats.org/officeDocument/2006/relationships/image" Target="../media/image32.png"/><Relationship Id="rId21" Type="http://schemas.openxmlformats.org/officeDocument/2006/relationships/hyperlink" Target="https://shdeza12.github.io/Collaborative-Mobile-Robot-System-for-Indoor-Navigation-Assistance-in-Multi-Level-Environment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8.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2000" cy="6858000"/>
          </a:xfrm>
          <a:prstGeom prst="rect">
            <a:avLst/>
          </a:prstGeom>
        </p:spPr>
      </p:pic>
      <p:pic>
        <p:nvPicPr>
          <p:cNvPr id="3" name="Picture 2" descr="logo_portada.png"/>
          <p:cNvPicPr>
            <a:picLocks noChangeAspect="1"/>
          </p:cNvPicPr>
          <p:nvPr/>
        </p:nvPicPr>
        <p:blipFill>
          <a:blip r:embed="rId4"/>
          <a:stretch>
            <a:fillRect/>
          </a:stretch>
        </p:blipFill>
        <p:spPr>
          <a:xfrm>
            <a:off x="1511300" y="1549400"/>
            <a:ext cx="3543300" cy="3441700"/>
          </a:xfrm>
          <a:prstGeom prst="rect">
            <a:avLst/>
          </a:prstGeom>
        </p:spPr>
      </p:pic>
      <p:sp>
        <p:nvSpPr>
          <p:cNvPr id="4" name="TextBox 3"/>
          <p:cNvSpPr txBox="1"/>
          <p:nvPr/>
        </p:nvSpPr>
        <p:spPr>
          <a:xfrm>
            <a:off x="1600200" y="5156200"/>
            <a:ext cx="8890000" cy="1016000"/>
          </a:xfrm>
          <a:prstGeom prst="rect">
            <a:avLst/>
          </a:prstGeom>
          <a:noFill/>
        </p:spPr>
        <p:txBody>
          <a:bodyPr wrap="square" lIns="0" tIns="0" rIns="0" bIns="0" anchor="t">
            <a:noAutofit/>
          </a:bodyPr>
          <a:lstStyle/>
          <a:p>
            <a:pPr algn="l"/>
            <a:r>
              <a:rPr sz="3200" b="0" i="0">
                <a:solidFill>
                  <a:srgbClr val="FFFFFF"/>
                </a:solidFill>
                <a:latin typeface="Calibri"/>
              </a:rPr>
              <a:t>FACULTAD DE INGENIERÍA ELECTRÓNICA</a:t>
            </a:r>
          </a:p>
          <a:p>
            <a:pPr algn="l"/>
            <a:r>
              <a:rPr sz="3200" b="0" i="0">
                <a:solidFill>
                  <a:srgbClr val="FFFFFF"/>
                </a:solidFill>
                <a:latin typeface="Calibri"/>
              </a:rPr>
              <a:t>INGENIERÍA ELECTRÓNICA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825500" y="812800"/>
            <a:ext cx="8890000" cy="1778000"/>
          </a:xfrm>
          <a:prstGeom prst="rect">
            <a:avLst/>
          </a:prstGeom>
          <a:noFill/>
        </p:spPr>
        <p:txBody>
          <a:bodyPr wrap="square" lIns="0" tIns="0" rIns="0" bIns="0" anchor="t">
            <a:noAutofit/>
          </a:bodyPr>
          <a:lstStyle/>
          <a:p>
            <a:pPr algn="l">
              <a:lnSpc>
                <a:spcPts val="3400"/>
              </a:lnSpc>
            </a:pPr>
            <a:r>
              <a:rPr sz="2700" b="0" i="0">
                <a:solidFill>
                  <a:srgbClr val="FFFFFF"/>
                </a:solidFill>
                <a:latin typeface="Arial Black"/>
              </a:rPr>
              <a:t>SISTEMA COLABORATIVO DE ROBOTS</a:t>
            </a:r>
          </a:p>
          <a:p>
            <a:pPr algn="l">
              <a:lnSpc>
                <a:spcPts val="3400"/>
              </a:lnSpc>
            </a:pPr>
            <a:r>
              <a:rPr sz="2700" b="0" i="0">
                <a:solidFill>
                  <a:srgbClr val="FFFFFF"/>
                </a:solidFill>
                <a:latin typeface="Arial Black"/>
              </a:rPr>
              <a:t>MÓVILES PARA ASISTENCIA DE</a:t>
            </a:r>
          </a:p>
          <a:p>
            <a:pPr algn="l">
              <a:lnSpc>
                <a:spcPts val="3400"/>
              </a:lnSpc>
            </a:pPr>
            <a:r>
              <a:rPr sz="2700" b="0" i="0">
                <a:solidFill>
                  <a:srgbClr val="FFFFFF"/>
                </a:solidFill>
                <a:latin typeface="Arial Black"/>
              </a:rPr>
              <a:t>ORIENTACIÓN EN ENTORNOS INTERIORES</a:t>
            </a:r>
          </a:p>
          <a:p>
            <a:pPr algn="l">
              <a:lnSpc>
                <a:spcPts val="3400"/>
              </a:lnSpc>
            </a:pPr>
            <a:r>
              <a:rPr sz="2700" b="0" i="0">
                <a:solidFill>
                  <a:srgbClr val="FFFFFF"/>
                </a:solidFill>
                <a:latin typeface="Arial Black"/>
              </a:rPr>
              <a:t>CON MÚLTIPLES PISOS</a:t>
            </a:r>
          </a:p>
        </p:txBody>
      </p:sp>
      <p:sp>
        <p:nvSpPr>
          <p:cNvPr id="5" name="TextBox 4"/>
          <p:cNvSpPr txBox="1"/>
          <p:nvPr/>
        </p:nvSpPr>
        <p:spPr>
          <a:xfrm>
            <a:off x="863600" y="2819400"/>
            <a:ext cx="5080000" cy="406400"/>
          </a:xfrm>
          <a:prstGeom prst="rect">
            <a:avLst/>
          </a:prstGeom>
          <a:noFill/>
        </p:spPr>
        <p:txBody>
          <a:bodyPr wrap="square" lIns="0" tIns="0" rIns="0" bIns="0" anchor="t">
            <a:noAutofit/>
          </a:bodyPr>
          <a:lstStyle/>
          <a:p>
            <a:pPr algn="l"/>
            <a:r>
              <a:rPr sz="2400" b="0" i="0">
                <a:solidFill>
                  <a:srgbClr val="FFFFFF"/>
                </a:solidFill>
                <a:latin typeface="Arial Black"/>
              </a:rPr>
              <a:t>ESTUDIANTES:</a:t>
            </a:r>
          </a:p>
        </p:txBody>
      </p:sp>
      <p:sp>
        <p:nvSpPr>
          <p:cNvPr id="6" name="TextBox 5"/>
          <p:cNvSpPr txBox="1"/>
          <p:nvPr/>
        </p:nvSpPr>
        <p:spPr>
          <a:xfrm>
            <a:off x="825500" y="3365500"/>
            <a:ext cx="7620000" cy="812800"/>
          </a:xfrm>
          <a:prstGeom prst="rect">
            <a:avLst/>
          </a:prstGeom>
          <a:noFill/>
        </p:spPr>
        <p:txBody>
          <a:bodyPr wrap="square" lIns="0" tIns="0" rIns="0" bIns="0" anchor="t">
            <a:noAutofit/>
          </a:bodyPr>
          <a:lstStyle/>
          <a:p>
            <a:pPr algn="l"/>
            <a:r>
              <a:rPr sz="2400" b="1" i="0">
                <a:solidFill>
                  <a:srgbClr val="FFFFFF"/>
                </a:solidFill>
                <a:latin typeface="Arial"/>
              </a:rPr>
              <a:t>Santiago Hernández Ávila</a:t>
            </a:r>
          </a:p>
          <a:p>
            <a:pPr algn="l"/>
            <a:r>
              <a:rPr sz="2400" b="1" i="0">
                <a:solidFill>
                  <a:srgbClr val="FFFFFF"/>
                </a:solidFill>
                <a:latin typeface="Arial"/>
              </a:rPr>
              <a:t>Jonny Alejandro Mejía León</a:t>
            </a:r>
          </a:p>
        </p:txBody>
      </p:sp>
      <p:sp>
        <p:nvSpPr>
          <p:cNvPr id="7" name="TextBox 6"/>
          <p:cNvSpPr txBox="1"/>
          <p:nvPr/>
        </p:nvSpPr>
        <p:spPr>
          <a:xfrm>
            <a:off x="863600" y="4419600"/>
            <a:ext cx="8890000" cy="812800"/>
          </a:xfrm>
          <a:prstGeom prst="rect">
            <a:avLst/>
          </a:prstGeom>
          <a:noFill/>
        </p:spPr>
        <p:txBody>
          <a:bodyPr wrap="square" lIns="0" tIns="0" rIns="0" bIns="0" anchor="t">
            <a:noAutofit/>
          </a:bodyPr>
          <a:lstStyle/>
          <a:p>
            <a:pPr algn="l"/>
            <a:r>
              <a:rPr sz="2400" b="0" i="0">
                <a:solidFill>
                  <a:srgbClr val="FFFFFF"/>
                </a:solidFill>
                <a:latin typeface="Arial"/>
              </a:rPr>
              <a:t>DIRECTOR: Ing. Armando Mateus Rojas, MSc.</a:t>
            </a:r>
          </a:p>
          <a:p>
            <a:pPr algn="l"/>
            <a:r>
              <a:rPr sz="2400" b="0" i="0">
                <a:solidFill>
                  <a:srgbClr val="FFFFFF"/>
                </a:solidFill>
                <a:latin typeface="Arial"/>
              </a:rPr>
              <a:t>LÍNEA: Robótica e Inteligencia Computacional</a:t>
            </a:r>
          </a:p>
        </p:txBody>
      </p:sp>
      <p:sp>
        <p:nvSpPr>
          <p:cNvPr id="8" name="TextBox 7"/>
          <p:cNvSpPr txBox="1"/>
          <p:nvPr/>
        </p:nvSpPr>
        <p:spPr>
          <a:xfrm>
            <a:off x="927100" y="6083300"/>
            <a:ext cx="8255000" cy="406400"/>
          </a:xfrm>
          <a:prstGeom prst="rect">
            <a:avLst/>
          </a:prstGeom>
          <a:noFill/>
        </p:spPr>
        <p:txBody>
          <a:bodyPr wrap="square" lIns="0" tIns="0" rIns="0" bIns="0" anchor="t">
            <a:noAutofit/>
          </a:bodyPr>
          <a:lstStyle/>
          <a:p>
            <a:pPr algn="l"/>
            <a:r>
              <a:rPr sz="2400" b="1" i="0">
                <a:solidFill>
                  <a:srgbClr val="FFFFFF"/>
                </a:solidFill>
                <a:latin typeface="Arial"/>
              </a:rPr>
              <a:t>Vinculado al grupo de investigación: GED</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agenda.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562100" y="584200"/>
            <a:ext cx="5080000" cy="698500"/>
          </a:xfrm>
          <a:prstGeom prst="rect">
            <a:avLst/>
          </a:prstGeom>
          <a:noFill/>
        </p:spPr>
        <p:txBody>
          <a:bodyPr wrap="square" lIns="0" tIns="0" rIns="0" bIns="0" anchor="t">
            <a:noAutofit/>
          </a:bodyPr>
          <a:lstStyle/>
          <a:p>
            <a:pPr algn="l"/>
            <a:r>
              <a:rPr sz="4000" b="0" i="0">
                <a:solidFill>
                  <a:srgbClr val="FFFFFF"/>
                </a:solidFill>
                <a:latin typeface="Arial Black"/>
              </a:rPr>
              <a:t>CONTENIDO</a:t>
            </a:r>
          </a:p>
        </p:txBody>
      </p:sp>
      <p:sp>
        <p:nvSpPr>
          <p:cNvPr id="5" name="TextBox 4"/>
          <p:cNvSpPr txBox="1"/>
          <p:nvPr/>
        </p:nvSpPr>
        <p:spPr>
          <a:xfrm>
            <a:off x="1562100" y="1219200"/>
            <a:ext cx="2540000" cy="304800"/>
          </a:xfrm>
          <a:prstGeom prst="rect">
            <a:avLst/>
          </a:prstGeom>
          <a:noFill/>
        </p:spPr>
        <p:txBody>
          <a:bodyPr wrap="square" lIns="0" tIns="0" rIns="0" bIns="0" anchor="t">
            <a:noAutofit/>
          </a:bodyPr>
          <a:lstStyle/>
          <a:p>
            <a:pPr algn="l"/>
            <a:r>
              <a:rPr sz="1800" b="1" i="0">
                <a:solidFill>
                  <a:srgbClr val="FFFF00"/>
                </a:solidFill>
                <a:latin typeface="Arial"/>
              </a:rPr>
              <a:t>Agenda</a:t>
            </a:r>
          </a:p>
        </p:txBody>
      </p:sp>
      <p:sp>
        <p:nvSpPr>
          <p:cNvPr id="6" name="TextBox 5"/>
          <p:cNvSpPr txBox="1"/>
          <p:nvPr/>
        </p:nvSpPr>
        <p:spPr>
          <a:xfrm>
            <a:off x="4191000" y="1549400"/>
            <a:ext cx="4800600" cy="431800"/>
          </a:xfrm>
          <a:prstGeom prst="rect">
            <a:avLst/>
          </a:prstGeom>
          <a:noFill/>
        </p:spPr>
        <p:txBody>
          <a:bodyPr wrap="square" lIns="0" tIns="0" rIns="0" bIns="0" anchor="ctr">
            <a:noAutofit/>
          </a:bodyPr>
          <a:lstStyle/>
          <a:p>
            <a:pPr algn="r"/>
            <a:r>
              <a:rPr sz="2400" b="0" i="0">
                <a:solidFill>
                  <a:srgbClr val="FFFFFF"/>
                </a:solidFill>
                <a:latin typeface="Arial"/>
              </a:rPr>
              <a:t>Introducción</a:t>
            </a:r>
          </a:p>
        </p:txBody>
      </p:sp>
      <p:sp>
        <p:nvSpPr>
          <p:cNvPr id="7" name="Rectangle 6"/>
          <p:cNvSpPr/>
          <p:nvPr/>
        </p:nvSpPr>
        <p:spPr>
          <a:xfrm>
            <a:off x="9309100" y="1549400"/>
            <a:ext cx="177800" cy="419100"/>
          </a:xfrm>
          <a:prstGeom prst="rect">
            <a:avLst/>
          </a:prstGeom>
          <a:solidFill>
            <a:srgbClr val="FFFF00"/>
          </a:solidFill>
          <a:ln>
            <a:noFill/>
          </a:ln>
        </p:spPr>
        <p:txBody>
          <a:bodyPr rtlCol="0" anchor="ctr"/>
          <a:lstStyle/>
          <a:p>
            <a:pPr algn="ctr"/>
          </a:p>
        </p:txBody>
      </p:sp>
      <p:sp>
        <p:nvSpPr>
          <p:cNvPr id="8" name="TextBox 7"/>
          <p:cNvSpPr txBox="1"/>
          <p:nvPr/>
        </p:nvSpPr>
        <p:spPr>
          <a:xfrm>
            <a:off x="4191000" y="2039620"/>
            <a:ext cx="4800600" cy="431800"/>
          </a:xfrm>
          <a:prstGeom prst="rect">
            <a:avLst/>
          </a:prstGeom>
          <a:noFill/>
        </p:spPr>
        <p:txBody>
          <a:bodyPr wrap="square" lIns="0" tIns="0" rIns="0" bIns="0" anchor="ctr">
            <a:noAutofit/>
          </a:bodyPr>
          <a:lstStyle/>
          <a:p>
            <a:pPr algn="r"/>
            <a:r>
              <a:rPr sz="2400" b="0" i="0">
                <a:solidFill>
                  <a:srgbClr val="FFFFFF"/>
                </a:solidFill>
                <a:latin typeface="Arial"/>
              </a:rPr>
              <a:t>Planteamiento del problema</a:t>
            </a:r>
          </a:p>
        </p:txBody>
      </p:sp>
      <p:sp>
        <p:nvSpPr>
          <p:cNvPr id="9" name="Rectangle 8"/>
          <p:cNvSpPr/>
          <p:nvPr/>
        </p:nvSpPr>
        <p:spPr>
          <a:xfrm>
            <a:off x="9309100" y="2039620"/>
            <a:ext cx="177800" cy="419100"/>
          </a:xfrm>
          <a:prstGeom prst="rect">
            <a:avLst/>
          </a:prstGeom>
          <a:solidFill>
            <a:srgbClr val="FFFF00"/>
          </a:solidFill>
          <a:ln>
            <a:noFill/>
          </a:ln>
        </p:spPr>
        <p:txBody>
          <a:bodyPr rtlCol="0" anchor="ctr"/>
          <a:lstStyle/>
          <a:p>
            <a:pPr algn="ctr"/>
          </a:p>
        </p:txBody>
      </p:sp>
      <p:sp>
        <p:nvSpPr>
          <p:cNvPr id="10" name="TextBox 9"/>
          <p:cNvSpPr txBox="1"/>
          <p:nvPr/>
        </p:nvSpPr>
        <p:spPr>
          <a:xfrm>
            <a:off x="4191000" y="2529840"/>
            <a:ext cx="4800600" cy="431800"/>
          </a:xfrm>
          <a:prstGeom prst="rect">
            <a:avLst/>
          </a:prstGeom>
          <a:noFill/>
        </p:spPr>
        <p:txBody>
          <a:bodyPr wrap="square" lIns="0" tIns="0" rIns="0" bIns="0" anchor="ctr">
            <a:noAutofit/>
          </a:bodyPr>
          <a:lstStyle/>
          <a:p>
            <a:pPr algn="r"/>
            <a:r>
              <a:rPr sz="2400" b="0" i="0">
                <a:solidFill>
                  <a:srgbClr val="FFFFFF"/>
                </a:solidFill>
                <a:latin typeface="Arial"/>
              </a:rPr>
              <a:t>Objetivos</a:t>
            </a:r>
          </a:p>
        </p:txBody>
      </p:sp>
      <p:sp>
        <p:nvSpPr>
          <p:cNvPr id="11" name="Rectangle 10"/>
          <p:cNvSpPr/>
          <p:nvPr/>
        </p:nvSpPr>
        <p:spPr>
          <a:xfrm>
            <a:off x="9309100" y="2529840"/>
            <a:ext cx="177800" cy="419100"/>
          </a:xfrm>
          <a:prstGeom prst="rect">
            <a:avLst/>
          </a:prstGeom>
          <a:solidFill>
            <a:srgbClr val="FFFF00"/>
          </a:solidFill>
          <a:ln>
            <a:noFill/>
          </a:ln>
        </p:spPr>
        <p:txBody>
          <a:bodyPr rtlCol="0" anchor="ctr"/>
          <a:lstStyle/>
          <a:p>
            <a:pPr algn="ctr"/>
          </a:p>
        </p:txBody>
      </p:sp>
      <p:sp>
        <p:nvSpPr>
          <p:cNvPr id="12" name="TextBox 11"/>
          <p:cNvSpPr txBox="1"/>
          <p:nvPr/>
        </p:nvSpPr>
        <p:spPr>
          <a:xfrm>
            <a:off x="4191000" y="3020060"/>
            <a:ext cx="4800600" cy="431800"/>
          </a:xfrm>
          <a:prstGeom prst="rect">
            <a:avLst/>
          </a:prstGeom>
          <a:noFill/>
        </p:spPr>
        <p:txBody>
          <a:bodyPr wrap="square" lIns="0" tIns="0" rIns="0" bIns="0" anchor="ctr">
            <a:noAutofit/>
          </a:bodyPr>
          <a:lstStyle/>
          <a:p>
            <a:pPr algn="r"/>
            <a:r>
              <a:rPr sz="2400" b="0" i="0">
                <a:solidFill>
                  <a:srgbClr val="FFFFFF"/>
                </a:solidFill>
                <a:latin typeface="Arial"/>
              </a:rPr>
              <a:t>Marco referencial</a:t>
            </a:r>
          </a:p>
        </p:txBody>
      </p:sp>
      <p:sp>
        <p:nvSpPr>
          <p:cNvPr id="13" name="Rectangle 12"/>
          <p:cNvSpPr/>
          <p:nvPr/>
        </p:nvSpPr>
        <p:spPr>
          <a:xfrm>
            <a:off x="9309100" y="3020060"/>
            <a:ext cx="177800" cy="419100"/>
          </a:xfrm>
          <a:prstGeom prst="rect">
            <a:avLst/>
          </a:prstGeom>
          <a:solidFill>
            <a:srgbClr val="FFFF00"/>
          </a:solidFill>
          <a:ln>
            <a:noFill/>
          </a:ln>
        </p:spPr>
        <p:txBody>
          <a:bodyPr rtlCol="0" anchor="ctr"/>
          <a:lstStyle/>
          <a:p>
            <a:pPr algn="ctr"/>
          </a:p>
        </p:txBody>
      </p:sp>
      <p:sp>
        <p:nvSpPr>
          <p:cNvPr id="14" name="TextBox 13"/>
          <p:cNvSpPr txBox="1"/>
          <p:nvPr/>
        </p:nvSpPr>
        <p:spPr>
          <a:xfrm>
            <a:off x="4191000" y="3510279"/>
            <a:ext cx="4800600" cy="431800"/>
          </a:xfrm>
          <a:prstGeom prst="rect">
            <a:avLst/>
          </a:prstGeom>
          <a:noFill/>
        </p:spPr>
        <p:txBody>
          <a:bodyPr wrap="square" lIns="0" tIns="0" rIns="0" bIns="0" anchor="ctr">
            <a:noAutofit/>
          </a:bodyPr>
          <a:lstStyle/>
          <a:p>
            <a:pPr algn="r"/>
            <a:r>
              <a:rPr sz="2400" b="0" i="0">
                <a:solidFill>
                  <a:srgbClr val="FFFFFF"/>
                </a:solidFill>
                <a:latin typeface="Arial"/>
              </a:rPr>
              <a:t>Desarrollo</a:t>
            </a:r>
          </a:p>
        </p:txBody>
      </p:sp>
      <p:sp>
        <p:nvSpPr>
          <p:cNvPr id="15" name="Rectangle 14"/>
          <p:cNvSpPr/>
          <p:nvPr/>
        </p:nvSpPr>
        <p:spPr>
          <a:xfrm>
            <a:off x="9309100" y="3510279"/>
            <a:ext cx="177800" cy="419100"/>
          </a:xfrm>
          <a:prstGeom prst="rect">
            <a:avLst/>
          </a:prstGeom>
          <a:solidFill>
            <a:srgbClr val="FFFF00"/>
          </a:solidFill>
          <a:ln>
            <a:noFill/>
          </a:ln>
        </p:spPr>
        <p:txBody>
          <a:bodyPr rtlCol="0" anchor="ctr"/>
          <a:lstStyle/>
          <a:p>
            <a:pPr algn="ctr"/>
          </a:p>
        </p:txBody>
      </p:sp>
      <p:sp>
        <p:nvSpPr>
          <p:cNvPr id="16" name="TextBox 15"/>
          <p:cNvSpPr txBox="1"/>
          <p:nvPr/>
        </p:nvSpPr>
        <p:spPr>
          <a:xfrm>
            <a:off x="4191000" y="4000500"/>
            <a:ext cx="4800600" cy="431800"/>
          </a:xfrm>
          <a:prstGeom prst="rect">
            <a:avLst/>
          </a:prstGeom>
          <a:noFill/>
        </p:spPr>
        <p:txBody>
          <a:bodyPr wrap="square" lIns="0" tIns="0" rIns="0" bIns="0" anchor="ctr">
            <a:noAutofit/>
          </a:bodyPr>
          <a:lstStyle/>
          <a:p>
            <a:pPr algn="r"/>
            <a:r>
              <a:rPr sz="2400" b="0" i="0">
                <a:solidFill>
                  <a:srgbClr val="FFFFFF"/>
                </a:solidFill>
                <a:latin typeface="Arial"/>
              </a:rPr>
              <a:t>Resultados</a:t>
            </a:r>
          </a:p>
        </p:txBody>
      </p:sp>
      <p:sp>
        <p:nvSpPr>
          <p:cNvPr id="17" name="Rectangle 16"/>
          <p:cNvSpPr/>
          <p:nvPr/>
        </p:nvSpPr>
        <p:spPr>
          <a:xfrm>
            <a:off x="9309100" y="4000500"/>
            <a:ext cx="177800" cy="419100"/>
          </a:xfrm>
          <a:prstGeom prst="rect">
            <a:avLst/>
          </a:prstGeom>
          <a:solidFill>
            <a:srgbClr val="FFFF00"/>
          </a:solidFill>
          <a:ln>
            <a:noFill/>
          </a:ln>
        </p:spPr>
        <p:txBody>
          <a:bodyPr rtlCol="0" anchor="ctr"/>
          <a:lstStyle/>
          <a:p>
            <a:pPr algn="ctr"/>
          </a:p>
        </p:txBody>
      </p:sp>
      <p:sp>
        <p:nvSpPr>
          <p:cNvPr id="18" name="TextBox 17"/>
          <p:cNvSpPr txBox="1"/>
          <p:nvPr/>
        </p:nvSpPr>
        <p:spPr>
          <a:xfrm>
            <a:off x="4191000" y="4490720"/>
            <a:ext cx="4800600" cy="431800"/>
          </a:xfrm>
          <a:prstGeom prst="rect">
            <a:avLst/>
          </a:prstGeom>
          <a:noFill/>
        </p:spPr>
        <p:txBody>
          <a:bodyPr wrap="square" lIns="0" tIns="0" rIns="0" bIns="0" anchor="ctr">
            <a:noAutofit/>
          </a:bodyPr>
          <a:lstStyle/>
          <a:p>
            <a:pPr algn="r"/>
            <a:r>
              <a:rPr sz="2400" b="0" i="0">
                <a:solidFill>
                  <a:srgbClr val="FFFFFF"/>
                </a:solidFill>
                <a:latin typeface="Arial"/>
              </a:rPr>
              <a:t>Conclusiones</a:t>
            </a:r>
          </a:p>
        </p:txBody>
      </p:sp>
      <p:sp>
        <p:nvSpPr>
          <p:cNvPr id="19" name="Rectangle 18"/>
          <p:cNvSpPr/>
          <p:nvPr/>
        </p:nvSpPr>
        <p:spPr>
          <a:xfrm>
            <a:off x="9309100" y="4490720"/>
            <a:ext cx="177800" cy="419100"/>
          </a:xfrm>
          <a:prstGeom prst="rect">
            <a:avLst/>
          </a:prstGeom>
          <a:solidFill>
            <a:srgbClr val="FFFF00"/>
          </a:solidFill>
          <a:ln>
            <a:noFill/>
          </a:ln>
        </p:spPr>
        <p:txBody>
          <a:bodyPr rtlCol="0" anchor="ctr"/>
          <a:lstStyle/>
          <a:p>
            <a:pPr algn="ctr"/>
          </a:p>
        </p:txBody>
      </p:sp>
      <p:sp>
        <p:nvSpPr>
          <p:cNvPr id="20" name="TextBox 19"/>
          <p:cNvSpPr txBox="1"/>
          <p:nvPr/>
        </p:nvSpPr>
        <p:spPr>
          <a:xfrm>
            <a:off x="4191000" y="4980940"/>
            <a:ext cx="4800600" cy="431800"/>
          </a:xfrm>
          <a:prstGeom prst="rect">
            <a:avLst/>
          </a:prstGeom>
          <a:noFill/>
        </p:spPr>
        <p:txBody>
          <a:bodyPr wrap="square" lIns="0" tIns="0" rIns="0" bIns="0" anchor="ctr">
            <a:noAutofit/>
          </a:bodyPr>
          <a:lstStyle/>
          <a:p>
            <a:pPr algn="r"/>
            <a:r>
              <a:rPr sz="2400" b="0" i="0">
                <a:solidFill>
                  <a:srgbClr val="FFFFFF"/>
                </a:solidFill>
                <a:latin typeface="Arial"/>
              </a:rPr>
              <a:t>Trabajos futuros</a:t>
            </a:r>
          </a:p>
        </p:txBody>
      </p:sp>
      <p:sp>
        <p:nvSpPr>
          <p:cNvPr id="21" name="Rectangle 20"/>
          <p:cNvSpPr/>
          <p:nvPr/>
        </p:nvSpPr>
        <p:spPr>
          <a:xfrm>
            <a:off x="9309100" y="4980940"/>
            <a:ext cx="177800" cy="419100"/>
          </a:xfrm>
          <a:prstGeom prst="rect">
            <a:avLst/>
          </a:prstGeom>
          <a:solidFill>
            <a:srgbClr val="FFFF00"/>
          </a:solidFill>
          <a:ln>
            <a:noFill/>
          </a:ln>
        </p:spPr>
        <p:txBody>
          <a:bodyPr rtlCol="0" anchor="ctr"/>
          <a:lstStyle/>
          <a:p>
            <a:pPr algn="ctr"/>
          </a:p>
        </p:txBody>
      </p:sp>
      <p:sp>
        <p:nvSpPr>
          <p:cNvPr id="22" name="TextBox 21"/>
          <p:cNvSpPr txBox="1"/>
          <p:nvPr/>
        </p:nvSpPr>
        <p:spPr>
          <a:xfrm>
            <a:off x="4191000" y="5471160"/>
            <a:ext cx="4800600" cy="431800"/>
          </a:xfrm>
          <a:prstGeom prst="rect">
            <a:avLst/>
          </a:prstGeom>
          <a:noFill/>
        </p:spPr>
        <p:txBody>
          <a:bodyPr wrap="square" lIns="0" tIns="0" rIns="0" bIns="0" anchor="ctr">
            <a:noAutofit/>
          </a:bodyPr>
          <a:lstStyle/>
          <a:p>
            <a:pPr algn="r"/>
            <a:r>
              <a:rPr sz="2400" b="0" i="0">
                <a:solidFill>
                  <a:srgbClr val="FFFFFF"/>
                </a:solidFill>
                <a:latin typeface="Arial"/>
              </a:rPr>
              <a:t>Referencias bibliográficas</a:t>
            </a:r>
          </a:p>
        </p:txBody>
      </p:sp>
      <p:sp>
        <p:nvSpPr>
          <p:cNvPr id="23" name="Rectangle 22"/>
          <p:cNvSpPr/>
          <p:nvPr/>
        </p:nvSpPr>
        <p:spPr>
          <a:xfrm>
            <a:off x="9309100" y="5471160"/>
            <a:ext cx="177800" cy="419100"/>
          </a:xfrm>
          <a:prstGeom prst="rect">
            <a:avLst/>
          </a:prstGeom>
          <a:solidFill>
            <a:srgbClr val="FFFF00"/>
          </a:solidFill>
          <a:ln>
            <a:noFill/>
          </a:ln>
        </p:spPr>
        <p:txBody>
          <a:bodyPr rtlCol="0" anchor="ctr"/>
          <a:lstStyle/>
          <a:p>
            <a:pPr algn="ctr"/>
          </a:p>
        </p:txBody>
      </p:sp>
      <p:sp>
        <p:nvSpPr>
          <p:cNvPr id="24" name="TextBox 23"/>
          <p:cNvSpPr txBox="1"/>
          <p:nvPr/>
        </p:nvSpPr>
        <p:spPr>
          <a:xfrm>
            <a:off x="4191000" y="5961380"/>
            <a:ext cx="4800600" cy="431800"/>
          </a:xfrm>
          <a:prstGeom prst="rect">
            <a:avLst/>
          </a:prstGeom>
          <a:noFill/>
        </p:spPr>
        <p:txBody>
          <a:bodyPr wrap="square" lIns="0" tIns="0" rIns="0" bIns="0" anchor="ctr">
            <a:noAutofit/>
          </a:bodyPr>
          <a:lstStyle/>
          <a:p>
            <a:pPr algn="r"/>
            <a:r>
              <a:rPr sz="2400" b="0" i="0">
                <a:solidFill>
                  <a:srgbClr val="FFFFFF"/>
                </a:solidFill>
                <a:latin typeface="Arial"/>
              </a:rPr>
              <a:t>Anexos</a:t>
            </a:r>
          </a:p>
        </p:txBody>
      </p:sp>
      <p:sp>
        <p:nvSpPr>
          <p:cNvPr id="25" name="Rectangle 24"/>
          <p:cNvSpPr/>
          <p:nvPr/>
        </p:nvSpPr>
        <p:spPr>
          <a:xfrm>
            <a:off x="9309100" y="5961380"/>
            <a:ext cx="177800" cy="419100"/>
          </a:xfrm>
          <a:prstGeom prst="rect">
            <a:avLst/>
          </a:prstGeom>
          <a:solidFill>
            <a:srgbClr val="FFFF00"/>
          </a:solidFill>
          <a:ln>
            <a:noFill/>
          </a:ln>
        </p:spPr>
        <p:txBody>
          <a:bodyPr rtlCol="0" anchor="ctr"/>
          <a:lstStyle/>
          <a:p>
            <a:pPr algn="ct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INTRODUCCIÓN</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Introducción</a:t>
            </a:r>
          </a:p>
        </p:txBody>
      </p:sp>
      <p:sp>
        <p:nvSpPr>
          <p:cNvPr id="5" name="Rectangle 4"/>
          <p:cNvSpPr/>
          <p:nvPr/>
        </p:nvSpPr>
        <p:spPr>
          <a:xfrm>
            <a:off x="812800" y="2311400"/>
            <a:ext cx="6718300" cy="381000"/>
          </a:xfrm>
          <a:prstGeom prst="rect">
            <a:avLst/>
          </a:prstGeom>
          <a:noFill/>
          <a:ln w="9525">
            <a:solidFill>
              <a:srgbClr val="4472C4"/>
            </a:solidFill>
          </a:ln>
        </p:spPr>
        <p:txBody>
          <a:bodyPr rtlCol="0" anchor="ctr"/>
          <a:lstStyle/>
          <a:p>
            <a:pPr algn="ctr"/>
          </a:p>
        </p:txBody>
      </p:sp>
      <p:sp>
        <p:nvSpPr>
          <p:cNvPr id="6" name="Rounded Rectangle 5"/>
          <p:cNvSpPr/>
          <p:nvPr/>
        </p:nvSpPr>
        <p:spPr>
          <a:xfrm>
            <a:off x="1219200" y="2108200"/>
            <a:ext cx="5676900" cy="419100"/>
          </a:xfrm>
          <a:prstGeom prst="roundRect">
            <a:avLst>
              <a:gd name="adj" fmla="val 12000"/>
            </a:avLst>
          </a:prstGeom>
          <a:solidFill>
            <a:srgbClr val="4472C4"/>
          </a:solidFill>
          <a:ln>
            <a:noFill/>
          </a:ln>
        </p:spPr>
        <p:txBody>
          <a:bodyPr rtlCol="0" anchor="ctr" wrap="square" lIns="228600" tIns="0" rIns="76200" bIns="0">
            <a:noAutofit/>
          </a:bodyPr>
          <a:lstStyle/>
          <a:p>
            <a:pPr algn="l"/>
            <a:r>
              <a:rPr sz="1500" b="1" i="0">
                <a:solidFill>
                  <a:srgbClr val="FFFFFF"/>
                </a:solidFill>
                <a:latin typeface="Arial"/>
              </a:rPr>
              <a:t>Orientarse en un edificio desconocido es difícil</a:t>
            </a:r>
          </a:p>
        </p:txBody>
      </p:sp>
      <p:sp>
        <p:nvSpPr>
          <p:cNvPr id="7" name="Rectangle 6"/>
          <p:cNvSpPr/>
          <p:nvPr/>
        </p:nvSpPr>
        <p:spPr>
          <a:xfrm>
            <a:off x="812800" y="2990850"/>
            <a:ext cx="6718300" cy="381000"/>
          </a:xfrm>
          <a:prstGeom prst="rect">
            <a:avLst/>
          </a:prstGeom>
          <a:noFill/>
          <a:ln w="9525">
            <a:solidFill>
              <a:srgbClr val="4472C4"/>
            </a:solidFill>
          </a:ln>
        </p:spPr>
        <p:txBody>
          <a:bodyPr rtlCol="0" anchor="ctr"/>
          <a:lstStyle/>
          <a:p>
            <a:pPr algn="ctr"/>
          </a:p>
        </p:txBody>
      </p:sp>
      <p:sp>
        <p:nvSpPr>
          <p:cNvPr id="8" name="Rounded Rectangle 7"/>
          <p:cNvSpPr/>
          <p:nvPr/>
        </p:nvSpPr>
        <p:spPr>
          <a:xfrm>
            <a:off x="1219200" y="2787650"/>
            <a:ext cx="5676900" cy="419100"/>
          </a:xfrm>
          <a:prstGeom prst="roundRect">
            <a:avLst>
              <a:gd name="adj" fmla="val 12000"/>
            </a:avLst>
          </a:prstGeom>
          <a:solidFill>
            <a:srgbClr val="4472C4"/>
          </a:solidFill>
          <a:ln>
            <a:noFill/>
          </a:ln>
        </p:spPr>
        <p:txBody>
          <a:bodyPr rtlCol="0" anchor="ctr" wrap="square" lIns="228600" tIns="0" rIns="76200" bIns="0">
            <a:noAutofit/>
          </a:bodyPr>
          <a:lstStyle/>
          <a:p>
            <a:pPr algn="l"/>
            <a:r>
              <a:rPr sz="1500" b="1" i="0">
                <a:solidFill>
                  <a:srgbClr val="FFFFFF"/>
                </a:solidFill>
                <a:latin typeface="Arial"/>
              </a:rPr>
              <a:t>La escalera corta la continuidad del recorrido</a:t>
            </a:r>
          </a:p>
        </p:txBody>
      </p:sp>
      <p:sp>
        <p:nvSpPr>
          <p:cNvPr id="9" name="Rectangle 8"/>
          <p:cNvSpPr/>
          <p:nvPr/>
        </p:nvSpPr>
        <p:spPr>
          <a:xfrm>
            <a:off x="812800" y="3670300"/>
            <a:ext cx="6718300" cy="381000"/>
          </a:xfrm>
          <a:prstGeom prst="rect">
            <a:avLst/>
          </a:prstGeom>
          <a:noFill/>
          <a:ln w="9525">
            <a:solidFill>
              <a:srgbClr val="4472C4"/>
            </a:solidFill>
          </a:ln>
        </p:spPr>
        <p:txBody>
          <a:bodyPr rtlCol="0" anchor="ctr"/>
          <a:lstStyle/>
          <a:p>
            <a:pPr algn="ctr"/>
          </a:p>
        </p:txBody>
      </p:sp>
      <p:sp>
        <p:nvSpPr>
          <p:cNvPr id="10" name="Rounded Rectangle 9"/>
          <p:cNvSpPr/>
          <p:nvPr/>
        </p:nvSpPr>
        <p:spPr>
          <a:xfrm>
            <a:off x="1219200" y="3467100"/>
            <a:ext cx="5676900" cy="419100"/>
          </a:xfrm>
          <a:prstGeom prst="roundRect">
            <a:avLst>
              <a:gd name="adj" fmla="val 12000"/>
            </a:avLst>
          </a:prstGeom>
          <a:solidFill>
            <a:srgbClr val="4472C4"/>
          </a:solidFill>
          <a:ln>
            <a:noFill/>
          </a:ln>
        </p:spPr>
        <p:txBody>
          <a:bodyPr rtlCol="0" anchor="ctr" wrap="square" lIns="228600" tIns="0" rIns="76200" bIns="0">
            <a:noAutofit/>
          </a:bodyPr>
          <a:lstStyle/>
          <a:p>
            <a:pPr algn="l"/>
            <a:r>
              <a:rPr sz="1500" b="1" i="0">
                <a:solidFill>
                  <a:srgbClr val="FFFFFF"/>
                </a:solidFill>
                <a:latin typeface="Arial"/>
              </a:rPr>
              <a:t>Con un solo robot, cambiar de piso resulta caro</a:t>
            </a:r>
          </a:p>
        </p:txBody>
      </p:sp>
      <p:sp>
        <p:nvSpPr>
          <p:cNvPr id="11" name="Rectangle 10"/>
          <p:cNvSpPr/>
          <p:nvPr/>
        </p:nvSpPr>
        <p:spPr>
          <a:xfrm>
            <a:off x="812800" y="4349750"/>
            <a:ext cx="6718300" cy="381000"/>
          </a:xfrm>
          <a:prstGeom prst="rect">
            <a:avLst/>
          </a:prstGeom>
          <a:noFill/>
          <a:ln w="9525">
            <a:solidFill>
              <a:srgbClr val="4472C4"/>
            </a:solidFill>
          </a:ln>
        </p:spPr>
        <p:txBody>
          <a:bodyPr rtlCol="0" anchor="ctr"/>
          <a:lstStyle/>
          <a:p>
            <a:pPr algn="ctr"/>
          </a:p>
        </p:txBody>
      </p:sp>
      <p:sp>
        <p:nvSpPr>
          <p:cNvPr id="12" name="Rounded Rectangle 11"/>
          <p:cNvSpPr/>
          <p:nvPr/>
        </p:nvSpPr>
        <p:spPr>
          <a:xfrm>
            <a:off x="1219200" y="4146550"/>
            <a:ext cx="5676900" cy="419100"/>
          </a:xfrm>
          <a:prstGeom prst="roundRect">
            <a:avLst>
              <a:gd name="adj" fmla="val 12000"/>
            </a:avLst>
          </a:prstGeom>
          <a:solidFill>
            <a:srgbClr val="4472C4"/>
          </a:solidFill>
          <a:ln>
            <a:noFill/>
          </a:ln>
        </p:spPr>
        <p:txBody>
          <a:bodyPr rtlCol="0" anchor="ctr" wrap="square" lIns="228600" tIns="0" rIns="76200" bIns="0">
            <a:noAutofit/>
          </a:bodyPr>
          <a:lstStyle/>
          <a:p>
            <a:pPr algn="l"/>
            <a:r>
              <a:rPr sz="1500" b="1" i="0">
                <a:solidFill>
                  <a:srgbClr val="FFFFFF"/>
                </a:solidFill>
                <a:latin typeface="Arial"/>
              </a:rPr>
              <a:t>Dos agentes, uno por piso, se relevan en la escalera</a:t>
            </a:r>
          </a:p>
        </p:txBody>
      </p:sp>
      <p:sp>
        <p:nvSpPr>
          <p:cNvPr id="13" name="TextBox 12"/>
          <p:cNvSpPr txBox="1"/>
          <p:nvPr/>
        </p:nvSpPr>
        <p:spPr>
          <a:xfrm>
            <a:off x="812800" y="5016500"/>
            <a:ext cx="6350000" cy="635000"/>
          </a:xfrm>
          <a:prstGeom prst="rect">
            <a:avLst/>
          </a:prstGeom>
          <a:noFill/>
        </p:spPr>
        <p:txBody>
          <a:bodyPr wrap="square" lIns="0" tIns="0" rIns="0" bIns="0" anchor="t">
            <a:noAutofit/>
          </a:bodyPr>
          <a:lstStyle/>
          <a:p>
            <a:pPr algn="l"/>
            <a:r>
              <a:rPr sz="1300" b="0" i="0">
                <a:solidFill>
                  <a:srgbClr val="404040"/>
                </a:solidFill>
                <a:latin typeface="Arial"/>
              </a:rPr>
              <a:t>Plataforma AWS DeepRacer y ROS 2, evaluada en simulación con 30 misiones y en el edificio Catalayud con 10</a:t>
            </a:r>
          </a:p>
        </p:txBody>
      </p:sp>
      <p:pic>
        <p:nvPicPr>
          <p:cNvPr id="14" name="Picture 13" descr="imagen_introduccion.jpg"/>
          <p:cNvPicPr>
            <a:picLocks noChangeAspect="1"/>
          </p:cNvPicPr>
          <p:nvPr/>
        </p:nvPicPr>
        <p:blipFill>
          <a:blip r:embed="rId4"/>
          <a:stretch>
            <a:fillRect/>
          </a:stretch>
        </p:blipFill>
        <p:spPr>
          <a:xfrm>
            <a:off x="7531100" y="1244600"/>
            <a:ext cx="2806700" cy="4051300"/>
          </a:xfrm>
          <a:prstGeom prst="rect">
            <a:avLst/>
          </a:prstGeom>
        </p:spPr>
      </p:pic>
      <p:sp>
        <p:nvSpPr>
          <p:cNvPr id="15" name="TextBox 14"/>
          <p:cNvSpPr txBox="1"/>
          <p:nvPr/>
        </p:nvSpPr>
        <p:spPr>
          <a:xfrm>
            <a:off x="7620000" y="5308600"/>
            <a:ext cx="2667000" cy="177800"/>
          </a:xfrm>
          <a:prstGeom prst="rect">
            <a:avLst/>
          </a:prstGeom>
          <a:noFill/>
        </p:spPr>
        <p:txBody>
          <a:bodyPr wrap="square" lIns="0" tIns="0" rIns="0" bIns="0" anchor="t">
            <a:noAutofit/>
          </a:bodyPr>
          <a:lstStyle/>
          <a:p>
            <a:pPr algn="ctr"/>
            <a:r>
              <a:rPr sz="900" b="0" i="0">
                <a:solidFill>
                  <a:srgbClr val="404040"/>
                </a:solidFill>
                <a:latin typeface="Arial"/>
              </a:rPr>
              <a:t>Fuente: Imagen generada con IA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PLANTEAMIENTO DEL</a:t>
            </a:r>
          </a:p>
          <a:p>
            <a:pPr algn="l">
              <a:lnSpc>
                <a:spcPts val="4800"/>
              </a:lnSpc>
            </a:pPr>
            <a:r>
              <a:rPr sz="4000" b="0" i="0">
                <a:solidFill>
                  <a:srgbClr val="FFFFFF"/>
                </a:solidFill>
                <a:latin typeface="Arial Black"/>
              </a:rPr>
              <a:t>PROBLEMA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Planteamiento del problema</a:t>
            </a:r>
          </a:p>
        </p:txBody>
      </p:sp>
      <p:sp>
        <p:nvSpPr>
          <p:cNvPr id="5" name="Diamond 4"/>
          <p:cNvSpPr/>
          <p:nvPr/>
        </p:nvSpPr>
        <p:spPr>
          <a:xfrm>
            <a:off x="1295400" y="2159000"/>
            <a:ext cx="4064000" cy="4089400"/>
          </a:xfrm>
          <a:prstGeom prst="diamond">
            <a:avLst/>
          </a:prstGeom>
          <a:solidFill>
            <a:srgbClr val="F8D7CD"/>
          </a:solidFill>
          <a:ln>
            <a:noFill/>
          </a:ln>
        </p:spPr>
        <p:txBody>
          <a:bodyPr rtlCol="0" anchor="ctr"/>
          <a:lstStyle/>
          <a:p>
            <a:pPr algn="ctr"/>
          </a:p>
        </p:txBody>
      </p:sp>
      <p:sp>
        <p:nvSpPr>
          <p:cNvPr id="6" name="Rounded Rectangle 5"/>
          <p:cNvSpPr/>
          <p:nvPr/>
        </p:nvSpPr>
        <p:spPr>
          <a:xfrm>
            <a:off x="1663700" y="2540000"/>
            <a:ext cx="1612900" cy="1612900"/>
          </a:xfrm>
          <a:prstGeom prst="roundRect">
            <a:avLst>
              <a:gd name="adj" fmla="val 16000"/>
            </a:avLst>
          </a:prstGeom>
          <a:solidFill>
            <a:srgbClr val="FFFFFF"/>
          </a:solidFill>
          <a:ln w="9525">
            <a:solidFill>
              <a:srgbClr val="D7712B"/>
            </a:solidFill>
          </a:ln>
        </p:spPr>
        <p:txBody>
          <a:bodyPr rtlCol="0" anchor="ctr" wrap="square" lIns="63500" tIns="63500" rIns="63500" bIns="63500">
            <a:noAutofit/>
          </a:bodyPr>
          <a:lstStyle/>
          <a:p>
            <a:pPr algn="ctr"/>
            <a:r>
              <a:rPr sz="1700" b="0" i="0">
                <a:solidFill>
                  <a:srgbClr val="000000"/>
                </a:solidFill>
                <a:latin typeface="Arial"/>
              </a:rPr>
              <a:t>Reto en la verticalidad</a:t>
            </a:r>
          </a:p>
        </p:txBody>
      </p:sp>
      <p:sp>
        <p:nvSpPr>
          <p:cNvPr id="7" name="Rounded Rectangle 6"/>
          <p:cNvSpPr/>
          <p:nvPr/>
        </p:nvSpPr>
        <p:spPr>
          <a:xfrm>
            <a:off x="3390900" y="2540000"/>
            <a:ext cx="1612900" cy="1612900"/>
          </a:xfrm>
          <a:prstGeom prst="roundRect">
            <a:avLst>
              <a:gd name="adj" fmla="val 16000"/>
            </a:avLst>
          </a:prstGeom>
          <a:solidFill>
            <a:srgbClr val="FFFFFF"/>
          </a:solidFill>
          <a:ln w="9525">
            <a:solidFill>
              <a:srgbClr val="D7712B"/>
            </a:solidFill>
          </a:ln>
        </p:spPr>
        <p:txBody>
          <a:bodyPr rtlCol="0" anchor="ctr" wrap="square" lIns="63500" tIns="63500" rIns="63500" bIns="63500">
            <a:noAutofit/>
          </a:bodyPr>
          <a:lstStyle/>
          <a:p>
            <a:pPr algn="ctr"/>
            <a:r>
              <a:rPr sz="1700" b="0" i="0">
                <a:solidFill>
                  <a:srgbClr val="000000"/>
                </a:solidFill>
                <a:latin typeface="Arial"/>
              </a:rPr>
              <a:t>Desafío de la navegación humana</a:t>
            </a:r>
          </a:p>
        </p:txBody>
      </p:sp>
      <p:sp>
        <p:nvSpPr>
          <p:cNvPr id="8" name="Rounded Rectangle 7"/>
          <p:cNvSpPr/>
          <p:nvPr/>
        </p:nvSpPr>
        <p:spPr>
          <a:xfrm>
            <a:off x="1663700" y="4267200"/>
            <a:ext cx="1612900" cy="1612900"/>
          </a:xfrm>
          <a:prstGeom prst="roundRect">
            <a:avLst>
              <a:gd name="adj" fmla="val 16000"/>
            </a:avLst>
          </a:prstGeom>
          <a:solidFill>
            <a:srgbClr val="FFFFFF"/>
          </a:solidFill>
          <a:ln w="9525">
            <a:solidFill>
              <a:srgbClr val="D7712B"/>
            </a:solidFill>
          </a:ln>
        </p:spPr>
        <p:txBody>
          <a:bodyPr rtlCol="0" anchor="ctr" wrap="square" lIns="63500" tIns="63500" rIns="63500" bIns="63500">
            <a:noAutofit/>
          </a:bodyPr>
          <a:lstStyle/>
          <a:p>
            <a:pPr algn="ctr"/>
            <a:r>
              <a:rPr sz="1700" b="0" i="0">
                <a:solidFill>
                  <a:srgbClr val="000000"/>
                </a:solidFill>
                <a:latin typeface="Arial"/>
              </a:rPr>
              <a:t>Barreras en sistemas con agente único</a:t>
            </a:r>
          </a:p>
        </p:txBody>
      </p:sp>
      <p:sp>
        <p:nvSpPr>
          <p:cNvPr id="9" name="Rounded Rectangle 8"/>
          <p:cNvSpPr/>
          <p:nvPr/>
        </p:nvSpPr>
        <p:spPr>
          <a:xfrm>
            <a:off x="3390900" y="4267200"/>
            <a:ext cx="1612900" cy="1612900"/>
          </a:xfrm>
          <a:prstGeom prst="roundRect">
            <a:avLst>
              <a:gd name="adj" fmla="val 16000"/>
            </a:avLst>
          </a:prstGeom>
          <a:solidFill>
            <a:srgbClr val="FFFFFF"/>
          </a:solidFill>
          <a:ln w="9525">
            <a:solidFill>
              <a:srgbClr val="D7712B"/>
            </a:solidFill>
          </a:ln>
        </p:spPr>
        <p:txBody>
          <a:bodyPr rtlCol="0" anchor="ctr" wrap="square" lIns="63500" tIns="63500" rIns="63500" bIns="63500">
            <a:noAutofit/>
          </a:bodyPr>
          <a:lstStyle/>
          <a:p>
            <a:pPr algn="ctr"/>
            <a:r>
              <a:rPr sz="1700" b="0" i="0">
                <a:solidFill>
                  <a:srgbClr val="000000"/>
                </a:solidFill>
                <a:latin typeface="Arial"/>
              </a:rPr>
              <a:t>Limitaciones económicas y tecnológicas</a:t>
            </a:r>
          </a:p>
        </p:txBody>
      </p:sp>
      <p:sp>
        <p:nvSpPr>
          <p:cNvPr id="10" name="Right Brace 9"/>
          <p:cNvSpPr/>
          <p:nvPr/>
        </p:nvSpPr>
        <p:spPr>
          <a:xfrm>
            <a:off x="5689600" y="2159000"/>
            <a:ext cx="431800" cy="4292600"/>
          </a:xfrm>
          <a:prstGeom prst="rightBrace">
            <a:avLst/>
          </a:prstGeom>
          <a:noFill/>
          <a:ln w="9525">
            <a:solidFill>
              <a:srgbClr val="4472C4"/>
            </a:solidFill>
          </a:ln>
        </p:spPr>
        <p:txBody>
          <a:bodyPr rtlCol="0" anchor="ctr"/>
          <a:lstStyle/>
          <a:p>
            <a:pPr algn="ctr"/>
          </a:p>
        </p:txBody>
      </p:sp>
      <p:sp>
        <p:nvSpPr>
          <p:cNvPr id="11" name="Rounded Rectangle 10"/>
          <p:cNvSpPr/>
          <p:nvPr/>
        </p:nvSpPr>
        <p:spPr>
          <a:xfrm>
            <a:off x="6604000" y="3403600"/>
            <a:ext cx="4089400" cy="1778000"/>
          </a:xfrm>
          <a:prstGeom prst="roundRect">
            <a:avLst>
              <a:gd name="adj" fmla="val 18000"/>
            </a:avLst>
          </a:prstGeom>
          <a:solidFill>
            <a:srgbClr val="F6B79D"/>
          </a:solidFill>
          <a:ln w="9525">
            <a:solidFill>
              <a:srgbClr val="F5B195"/>
            </a:solidFill>
          </a:ln>
        </p:spPr>
        <p:txBody>
          <a:bodyPr rtlCol="0" anchor="ctr" wrap="square" lIns="177800" tIns="76200" rIns="127000" bIns="76200">
            <a:noAutofit/>
          </a:bodyPr>
          <a:lstStyle/>
          <a:p>
            <a:pPr algn="l"/>
            <a:r>
              <a:rPr sz="2000" b="1" i="0">
                <a:solidFill>
                  <a:srgbClr val="000000"/>
                </a:solidFill>
                <a:latin typeface="Arial"/>
              </a:rPr>
              <a:t>¿Cómo asistir la orientación de usuarios dentro de entornos interiores con múltiples pisos utilizando sistemas robóticos?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OBJETIVOS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Objetivo general</a:t>
            </a:r>
          </a:p>
        </p:txBody>
      </p:sp>
      <p:sp>
        <p:nvSpPr>
          <p:cNvPr id="5" name="Rounded Rectangle 4"/>
          <p:cNvSpPr/>
          <p:nvPr/>
        </p:nvSpPr>
        <p:spPr>
          <a:xfrm>
            <a:off x="1358900" y="2489200"/>
            <a:ext cx="8928100" cy="1676400"/>
          </a:xfrm>
          <a:prstGeom prst="roundRect">
            <a:avLst>
              <a:gd name="adj" fmla="val 14000"/>
            </a:avLst>
          </a:prstGeom>
          <a:solidFill>
            <a:srgbClr val="FFFFFF"/>
          </a:solidFill>
          <a:ln w="9525">
            <a:solidFill>
              <a:srgbClr val="85A3D8"/>
            </a:solidFill>
          </a:ln>
        </p:spPr>
        <p:txBody>
          <a:bodyPr rtlCol="0" anchor="ctr" wrap="square" lIns="152400" tIns="76200" rIns="152400" bIns="76200">
            <a:noAutofit/>
          </a:bodyPr>
          <a:lstStyle/>
          <a:p>
            <a:pPr algn="ctr"/>
            <a:r>
              <a:rPr sz="1800" b="1" i="1">
                <a:solidFill>
                  <a:srgbClr val="000000"/>
                </a:solidFill>
                <a:latin typeface="Arial"/>
              </a:rPr>
              <a:t>Implementar un sistema colaborativo de dos robots móviles terrestres para la guía coordinada y eficiente de asistencia a visitantes en entornos interiores con múltiples pisos, mediante comunicación inter-robot, asignación dinámica de tareas y una interfaz móvil de interacción usuario-robot.</a:t>
            </a:r>
          </a:p>
        </p:txBody>
      </p:sp>
      <p:pic>
        <p:nvPicPr>
          <p:cNvPr id="6" name="Picture 5" descr="icono_objetivo.png"/>
          <p:cNvPicPr>
            <a:picLocks noChangeAspect="1"/>
          </p:cNvPicPr>
          <p:nvPr/>
        </p:nvPicPr>
        <p:blipFill>
          <a:blip r:embed="rId4"/>
          <a:stretch>
            <a:fillRect/>
          </a:stretch>
        </p:blipFill>
        <p:spPr>
          <a:xfrm>
            <a:off x="5080000" y="4470400"/>
            <a:ext cx="1524000" cy="1574800"/>
          </a:xfrm>
          <a:prstGeom prst="rect">
            <a:avLst/>
          </a:prstGeom>
        </p:spPr>
      </p:pic>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Objetivos específicos</a:t>
            </a:r>
          </a:p>
        </p:txBody>
      </p:sp>
      <p:sp>
        <p:nvSpPr>
          <p:cNvPr id="5" name="Freeform 4"/>
          <p:cNvSpPr/>
          <p:nvPr/>
        </p:nvSpPr>
        <p:spPr>
          <a:xfrm>
            <a:off x="1143000" y="1625600"/>
            <a:ext cx="508000" cy="5181600"/>
          </a:xfrm>
          <a:custGeom>
            <a:avLst/>
            <a:gdLst/>
            <a:ahLst/>
            <a:cxnLst/>
            <a:rect l="l" t="t" r="r" b="b"/>
            <a:pathLst>
              <a:path w="40" h="408">
                <a:moveTo>
                  <a:pt x="0" y="0"/>
                </a:moveTo>
                <a:lnTo>
                  <a:pt x="2" y="6"/>
                </a:lnTo>
                <a:lnTo>
                  <a:pt x="4" y="12"/>
                </a:lnTo>
                <a:lnTo>
                  <a:pt x="5" y="18"/>
                </a:lnTo>
                <a:lnTo>
                  <a:pt x="7" y="24"/>
                </a:lnTo>
                <a:lnTo>
                  <a:pt x="9" y="30"/>
                </a:lnTo>
                <a:lnTo>
                  <a:pt x="11" y="36"/>
                </a:lnTo>
                <a:lnTo>
                  <a:pt x="13" y="42"/>
                </a:lnTo>
                <a:lnTo>
                  <a:pt x="14" y="48"/>
                </a:lnTo>
                <a:lnTo>
                  <a:pt x="16" y="54"/>
                </a:lnTo>
                <a:lnTo>
                  <a:pt x="18" y="60"/>
                </a:lnTo>
                <a:lnTo>
                  <a:pt x="19" y="66"/>
                </a:lnTo>
                <a:lnTo>
                  <a:pt x="21" y="72"/>
                </a:lnTo>
                <a:lnTo>
                  <a:pt x="22" y="78"/>
                </a:lnTo>
                <a:lnTo>
                  <a:pt x="24" y="84"/>
                </a:lnTo>
                <a:lnTo>
                  <a:pt x="25" y="90"/>
                </a:lnTo>
                <a:lnTo>
                  <a:pt x="27" y="96"/>
                </a:lnTo>
                <a:lnTo>
                  <a:pt x="28" y="102"/>
                </a:lnTo>
                <a:lnTo>
                  <a:pt x="29" y="108"/>
                </a:lnTo>
                <a:lnTo>
                  <a:pt x="31" y="114"/>
                </a:lnTo>
                <a:lnTo>
                  <a:pt x="32" y="120"/>
                </a:lnTo>
                <a:lnTo>
                  <a:pt x="33" y="126"/>
                </a:lnTo>
                <a:lnTo>
                  <a:pt x="34" y="132"/>
                </a:lnTo>
                <a:lnTo>
                  <a:pt x="35" y="138"/>
                </a:lnTo>
                <a:lnTo>
                  <a:pt x="36" y="144"/>
                </a:lnTo>
                <a:lnTo>
                  <a:pt x="36" y="150"/>
                </a:lnTo>
                <a:lnTo>
                  <a:pt x="37" y="156"/>
                </a:lnTo>
                <a:lnTo>
                  <a:pt x="38" y="162"/>
                </a:lnTo>
                <a:lnTo>
                  <a:pt x="38" y="168"/>
                </a:lnTo>
                <a:lnTo>
                  <a:pt x="39" y="174"/>
                </a:lnTo>
                <a:lnTo>
                  <a:pt x="39" y="180"/>
                </a:lnTo>
                <a:lnTo>
                  <a:pt x="40" y="186"/>
                </a:lnTo>
                <a:lnTo>
                  <a:pt x="40" y="192"/>
                </a:lnTo>
                <a:lnTo>
                  <a:pt x="40" y="198"/>
                </a:lnTo>
                <a:lnTo>
                  <a:pt x="40" y="204"/>
                </a:lnTo>
                <a:lnTo>
                  <a:pt x="40" y="210"/>
                </a:lnTo>
                <a:lnTo>
                  <a:pt x="40" y="216"/>
                </a:lnTo>
                <a:lnTo>
                  <a:pt x="40" y="222"/>
                </a:lnTo>
                <a:lnTo>
                  <a:pt x="39" y="228"/>
                </a:lnTo>
                <a:lnTo>
                  <a:pt x="39" y="234"/>
                </a:lnTo>
                <a:lnTo>
                  <a:pt x="39" y="240"/>
                </a:lnTo>
                <a:lnTo>
                  <a:pt x="38" y="246"/>
                </a:lnTo>
                <a:lnTo>
                  <a:pt x="38" y="252"/>
                </a:lnTo>
                <a:lnTo>
                  <a:pt x="37" y="258"/>
                </a:lnTo>
                <a:lnTo>
                  <a:pt x="36" y="264"/>
                </a:lnTo>
                <a:lnTo>
                  <a:pt x="35" y="270"/>
                </a:lnTo>
                <a:lnTo>
                  <a:pt x="34" y="276"/>
                </a:lnTo>
                <a:lnTo>
                  <a:pt x="33" y="282"/>
                </a:lnTo>
                <a:lnTo>
                  <a:pt x="32" y="288"/>
                </a:lnTo>
                <a:lnTo>
                  <a:pt x="31" y="294"/>
                </a:lnTo>
                <a:lnTo>
                  <a:pt x="30" y="300"/>
                </a:lnTo>
                <a:lnTo>
                  <a:pt x="29" y="306"/>
                </a:lnTo>
                <a:lnTo>
                  <a:pt x="28" y="312"/>
                </a:lnTo>
                <a:lnTo>
                  <a:pt x="26" y="318"/>
                </a:lnTo>
                <a:lnTo>
                  <a:pt x="25" y="324"/>
                </a:lnTo>
                <a:lnTo>
                  <a:pt x="23" y="330"/>
                </a:lnTo>
                <a:lnTo>
                  <a:pt x="22" y="336"/>
                </a:lnTo>
                <a:lnTo>
                  <a:pt x="20" y="342"/>
                </a:lnTo>
                <a:lnTo>
                  <a:pt x="19" y="348"/>
                </a:lnTo>
                <a:lnTo>
                  <a:pt x="17" y="354"/>
                </a:lnTo>
                <a:lnTo>
                  <a:pt x="15" y="360"/>
                </a:lnTo>
                <a:lnTo>
                  <a:pt x="14" y="366"/>
                </a:lnTo>
                <a:lnTo>
                  <a:pt x="12" y="372"/>
                </a:lnTo>
                <a:lnTo>
                  <a:pt x="10" y="378"/>
                </a:lnTo>
                <a:lnTo>
                  <a:pt x="8" y="384"/>
                </a:lnTo>
                <a:lnTo>
                  <a:pt x="7" y="390"/>
                </a:lnTo>
                <a:lnTo>
                  <a:pt x="5" y="396"/>
                </a:lnTo>
                <a:lnTo>
                  <a:pt x="3" y="402"/>
                </a:lnTo>
                <a:lnTo>
                  <a:pt x="1" y="408"/>
                </a:lnTo>
              </a:path>
            </a:pathLst>
          </a:custGeom>
          <a:noFill/>
          <a:ln w="12700">
            <a:solidFill>
              <a:srgbClr val="4472C4"/>
            </a:solidFill>
          </a:ln>
        </p:spPr>
        <p:txBody>
          <a:bodyPr rtlCol="0" anchor="ctr"/>
          <a:lstStyle/>
          <a:p>
            <a:pPr algn="ctr"/>
          </a:p>
        </p:txBody>
      </p:sp>
      <p:sp>
        <p:nvSpPr>
          <p:cNvPr id="6" name="Rectangle 5"/>
          <p:cNvSpPr/>
          <p:nvPr/>
        </p:nvSpPr>
        <p:spPr>
          <a:xfrm>
            <a:off x="2159000" y="1943100"/>
            <a:ext cx="8839200" cy="863600"/>
          </a:xfrm>
          <a:prstGeom prst="rect">
            <a:avLst/>
          </a:prstGeom>
          <a:solidFill>
            <a:srgbClr val="FFFFFF"/>
          </a:solidFill>
          <a:ln w="9525">
            <a:solidFill>
              <a:srgbClr val="4472C4"/>
            </a:solidFill>
          </a:ln>
        </p:spPr>
        <p:txBody>
          <a:bodyPr rtlCol="0" anchor="ctr"/>
          <a:lstStyle/>
          <a:p>
            <a:pPr algn="ctr"/>
          </a:p>
        </p:txBody>
      </p:sp>
      <p:sp>
        <p:nvSpPr>
          <p:cNvPr id="7" name="TextBox 6"/>
          <p:cNvSpPr txBox="1"/>
          <p:nvPr/>
        </p:nvSpPr>
        <p:spPr>
          <a:xfrm>
            <a:off x="2311400" y="1981200"/>
            <a:ext cx="8610600" cy="812800"/>
          </a:xfrm>
          <a:prstGeom prst="rect">
            <a:avLst/>
          </a:prstGeom>
          <a:noFill/>
        </p:spPr>
        <p:txBody>
          <a:bodyPr wrap="square" lIns="0" tIns="0" rIns="0" bIns="0" anchor="ctr">
            <a:noAutofit/>
          </a:bodyPr>
          <a:lstStyle/>
          <a:p>
            <a:pPr algn="just"/>
            <a:r>
              <a:rPr sz="1550" b="0" i="0">
                <a:solidFill>
                  <a:srgbClr val="000000"/>
                </a:solidFill>
                <a:latin typeface="Arial"/>
              </a:rPr>
              <a:t>Modelar la arquitectura funcional del sistema colaborativo de dos robots móviles, definiendo requerimientos, escenarios de operación con múltiples pisos, estrategia de asignación de tareas y esquema de comunicación inter-robot.</a:t>
            </a:r>
          </a:p>
        </p:txBody>
      </p:sp>
      <p:sp>
        <p:nvSpPr>
          <p:cNvPr id="8" name="Oval 7"/>
          <p:cNvSpPr/>
          <p:nvPr/>
        </p:nvSpPr>
        <p:spPr>
          <a:xfrm>
            <a:off x="1130300" y="1866900"/>
            <a:ext cx="1028700" cy="1028700"/>
          </a:xfrm>
          <a:prstGeom prst="ellipse">
            <a:avLst/>
          </a:prstGeom>
          <a:solidFill>
            <a:srgbClr val="FFFFFF"/>
          </a:solidFill>
          <a:ln w="12700">
            <a:solidFill>
              <a:srgbClr val="4472C4"/>
            </a:solidFill>
          </a:ln>
        </p:spPr>
        <p:txBody>
          <a:bodyPr rtlCol="0" anchor="ctr" wrap="square" lIns="0" tIns="0" rIns="0" bIns="0">
            <a:noAutofit/>
          </a:bodyPr>
          <a:lstStyle/>
          <a:p>
            <a:pPr algn="ctr"/>
            <a:r>
              <a:rPr sz="3000" b="0" i="0">
                <a:solidFill>
                  <a:srgbClr val="001F5F"/>
                </a:solidFill>
                <a:latin typeface="Arial Black"/>
              </a:rPr>
              <a:t>1</a:t>
            </a:r>
          </a:p>
        </p:txBody>
      </p:sp>
      <p:sp>
        <p:nvSpPr>
          <p:cNvPr id="9" name="Rectangle 8"/>
          <p:cNvSpPr/>
          <p:nvPr/>
        </p:nvSpPr>
        <p:spPr>
          <a:xfrm>
            <a:off x="2628900" y="3200400"/>
            <a:ext cx="8369300" cy="863600"/>
          </a:xfrm>
          <a:prstGeom prst="rect">
            <a:avLst/>
          </a:prstGeom>
          <a:solidFill>
            <a:srgbClr val="FFFFFF"/>
          </a:solidFill>
          <a:ln w="9525">
            <a:solidFill>
              <a:srgbClr val="4472C4"/>
            </a:solidFill>
          </a:ln>
        </p:spPr>
        <p:txBody>
          <a:bodyPr rtlCol="0" anchor="ctr"/>
          <a:lstStyle/>
          <a:p>
            <a:pPr algn="ctr"/>
          </a:p>
        </p:txBody>
      </p:sp>
      <p:sp>
        <p:nvSpPr>
          <p:cNvPr id="10" name="TextBox 9"/>
          <p:cNvSpPr txBox="1"/>
          <p:nvPr/>
        </p:nvSpPr>
        <p:spPr>
          <a:xfrm>
            <a:off x="2781300" y="3238500"/>
            <a:ext cx="8140700" cy="812800"/>
          </a:xfrm>
          <a:prstGeom prst="rect">
            <a:avLst/>
          </a:prstGeom>
          <a:noFill/>
        </p:spPr>
        <p:txBody>
          <a:bodyPr wrap="square" lIns="0" tIns="0" rIns="0" bIns="0" anchor="ctr">
            <a:noAutofit/>
          </a:bodyPr>
          <a:lstStyle/>
          <a:p>
            <a:pPr algn="just"/>
            <a:r>
              <a:rPr sz="1550" b="0" i="0">
                <a:solidFill>
                  <a:srgbClr val="000000"/>
                </a:solidFill>
                <a:latin typeface="Arial"/>
              </a:rPr>
              <a:t>Desarrollar una plataforma robótica móvil basada en dos vehículos tipo DonkeyCar, integrando los módulos de locomoción, sensado, procesamiento y comunicación necesarios para la operación colaborativa en entornos interiores.</a:t>
            </a:r>
          </a:p>
        </p:txBody>
      </p:sp>
      <p:sp>
        <p:nvSpPr>
          <p:cNvPr id="11" name="Oval 10"/>
          <p:cNvSpPr/>
          <p:nvPr/>
        </p:nvSpPr>
        <p:spPr>
          <a:xfrm>
            <a:off x="1612900" y="3111500"/>
            <a:ext cx="1028700" cy="1028700"/>
          </a:xfrm>
          <a:prstGeom prst="ellipse">
            <a:avLst/>
          </a:prstGeom>
          <a:solidFill>
            <a:srgbClr val="FFFFFF"/>
          </a:solidFill>
          <a:ln w="12700">
            <a:solidFill>
              <a:srgbClr val="4472C4"/>
            </a:solidFill>
          </a:ln>
        </p:spPr>
        <p:txBody>
          <a:bodyPr rtlCol="0" anchor="ctr" wrap="square" lIns="0" tIns="0" rIns="0" bIns="0">
            <a:noAutofit/>
          </a:bodyPr>
          <a:lstStyle/>
          <a:p>
            <a:pPr algn="ctr"/>
            <a:r>
              <a:rPr sz="3000" b="0" i="0">
                <a:solidFill>
                  <a:srgbClr val="001F5F"/>
                </a:solidFill>
                <a:latin typeface="Arial Black"/>
              </a:rPr>
              <a:t>2</a:t>
            </a:r>
          </a:p>
        </p:txBody>
      </p:sp>
      <p:sp>
        <p:nvSpPr>
          <p:cNvPr id="12" name="Rectangle 11"/>
          <p:cNvSpPr/>
          <p:nvPr/>
        </p:nvSpPr>
        <p:spPr>
          <a:xfrm>
            <a:off x="2628900" y="4470400"/>
            <a:ext cx="8369300" cy="787400"/>
          </a:xfrm>
          <a:prstGeom prst="rect">
            <a:avLst/>
          </a:prstGeom>
          <a:solidFill>
            <a:srgbClr val="FFFFFF"/>
          </a:solidFill>
          <a:ln w="9525">
            <a:solidFill>
              <a:srgbClr val="4472C4"/>
            </a:solidFill>
          </a:ln>
        </p:spPr>
        <p:txBody>
          <a:bodyPr rtlCol="0" anchor="ctr"/>
          <a:lstStyle/>
          <a:p>
            <a:pPr algn="ctr"/>
          </a:p>
        </p:txBody>
      </p:sp>
      <p:sp>
        <p:nvSpPr>
          <p:cNvPr id="13" name="TextBox 12"/>
          <p:cNvSpPr txBox="1"/>
          <p:nvPr/>
        </p:nvSpPr>
        <p:spPr>
          <a:xfrm>
            <a:off x="2781300" y="4508500"/>
            <a:ext cx="8140700" cy="812800"/>
          </a:xfrm>
          <a:prstGeom prst="rect">
            <a:avLst/>
          </a:prstGeom>
          <a:noFill/>
        </p:spPr>
        <p:txBody>
          <a:bodyPr wrap="square" lIns="0" tIns="0" rIns="0" bIns="0" anchor="ctr">
            <a:noAutofit/>
          </a:bodyPr>
          <a:lstStyle/>
          <a:p>
            <a:pPr algn="just"/>
            <a:r>
              <a:rPr sz="1550" b="0" i="0">
                <a:solidFill>
                  <a:srgbClr val="000000"/>
                </a:solidFill>
                <a:latin typeface="Arial"/>
              </a:rPr>
              <a:t>Programar una interfaz móvil para interacción humano-robot (HRI) basada en la selección de localizaciones de interés de origen y destino.</a:t>
            </a:r>
          </a:p>
        </p:txBody>
      </p:sp>
      <p:sp>
        <p:nvSpPr>
          <p:cNvPr id="14" name="Oval 13"/>
          <p:cNvSpPr/>
          <p:nvPr/>
        </p:nvSpPr>
        <p:spPr>
          <a:xfrm>
            <a:off x="1612900" y="4381500"/>
            <a:ext cx="1028700" cy="1028700"/>
          </a:xfrm>
          <a:prstGeom prst="ellipse">
            <a:avLst/>
          </a:prstGeom>
          <a:solidFill>
            <a:srgbClr val="FFFFFF"/>
          </a:solidFill>
          <a:ln w="12700">
            <a:solidFill>
              <a:srgbClr val="4472C4"/>
            </a:solidFill>
          </a:ln>
        </p:spPr>
        <p:txBody>
          <a:bodyPr rtlCol="0" anchor="ctr" wrap="square" lIns="0" tIns="0" rIns="0" bIns="0">
            <a:noAutofit/>
          </a:bodyPr>
          <a:lstStyle/>
          <a:p>
            <a:pPr algn="ctr"/>
            <a:r>
              <a:rPr sz="3000" b="0" i="0">
                <a:solidFill>
                  <a:srgbClr val="001F5F"/>
                </a:solidFill>
                <a:latin typeface="Arial Black"/>
              </a:rPr>
              <a:t>3</a:t>
            </a:r>
          </a:p>
        </p:txBody>
      </p:sp>
      <p:sp>
        <p:nvSpPr>
          <p:cNvPr id="15" name="Rectangle 14"/>
          <p:cNvSpPr/>
          <p:nvPr/>
        </p:nvSpPr>
        <p:spPr>
          <a:xfrm>
            <a:off x="2159000" y="5702300"/>
            <a:ext cx="8839200" cy="863600"/>
          </a:xfrm>
          <a:prstGeom prst="rect">
            <a:avLst/>
          </a:prstGeom>
          <a:solidFill>
            <a:srgbClr val="FFFFFF"/>
          </a:solidFill>
          <a:ln w="9525">
            <a:solidFill>
              <a:srgbClr val="4472C4"/>
            </a:solidFill>
          </a:ln>
        </p:spPr>
        <p:txBody>
          <a:bodyPr rtlCol="0" anchor="ctr"/>
          <a:lstStyle/>
          <a:p>
            <a:pPr algn="ctr"/>
          </a:p>
        </p:txBody>
      </p:sp>
      <p:sp>
        <p:nvSpPr>
          <p:cNvPr id="16" name="TextBox 15"/>
          <p:cNvSpPr txBox="1"/>
          <p:nvPr/>
        </p:nvSpPr>
        <p:spPr>
          <a:xfrm>
            <a:off x="2311400" y="5740400"/>
            <a:ext cx="8610600" cy="812800"/>
          </a:xfrm>
          <a:prstGeom prst="rect">
            <a:avLst/>
          </a:prstGeom>
          <a:noFill/>
        </p:spPr>
        <p:txBody>
          <a:bodyPr wrap="square" lIns="0" tIns="0" rIns="0" bIns="0" anchor="ctr">
            <a:noAutofit/>
          </a:bodyPr>
          <a:lstStyle/>
          <a:p>
            <a:pPr algn="just"/>
            <a:r>
              <a:rPr sz="1550" b="0" i="0">
                <a:solidFill>
                  <a:srgbClr val="000000"/>
                </a:solidFill>
                <a:latin typeface="Arial"/>
              </a:rPr>
              <a:t>Evaluar el desempeño del sistema mediante pruebas experimentales en un entorno interior controlado, utilizando métricas como tiempo de respuesta, tiempo de asignación de robot, tasa de éxito en la entrega de asistencia y continuidad del servicio entre niveles.</a:t>
            </a:r>
          </a:p>
        </p:txBody>
      </p:sp>
      <p:sp>
        <p:nvSpPr>
          <p:cNvPr id="17" name="Oval 16"/>
          <p:cNvSpPr/>
          <p:nvPr/>
        </p:nvSpPr>
        <p:spPr>
          <a:xfrm>
            <a:off x="1130300" y="5626100"/>
            <a:ext cx="1028700" cy="1028700"/>
          </a:xfrm>
          <a:prstGeom prst="ellipse">
            <a:avLst/>
          </a:prstGeom>
          <a:solidFill>
            <a:srgbClr val="FFFFFF"/>
          </a:solidFill>
          <a:ln w="12700">
            <a:solidFill>
              <a:srgbClr val="4472C4"/>
            </a:solidFill>
          </a:ln>
        </p:spPr>
        <p:txBody>
          <a:bodyPr rtlCol="0" anchor="ctr" wrap="square" lIns="0" tIns="0" rIns="0" bIns="0">
            <a:noAutofit/>
          </a:bodyPr>
          <a:lstStyle/>
          <a:p>
            <a:pPr algn="ctr"/>
            <a:r>
              <a:rPr sz="3000" b="0" i="0">
                <a:solidFill>
                  <a:srgbClr val="001F5F"/>
                </a:solidFill>
                <a:latin typeface="Arial Black"/>
              </a:rPr>
              <a:t>4</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Alcance</a:t>
            </a:r>
          </a:p>
        </p:txBody>
      </p:sp>
      <p:sp>
        <p:nvSpPr>
          <p:cNvPr id="5" name="Rounded Rectangle 4"/>
          <p:cNvSpPr/>
          <p:nvPr/>
        </p:nvSpPr>
        <p:spPr>
          <a:xfrm>
            <a:off x="889000" y="1625600"/>
            <a:ext cx="4191000" cy="4724400"/>
          </a:xfrm>
          <a:prstGeom prst="roundRect">
            <a:avLst>
              <a:gd name="adj" fmla="val 8000"/>
            </a:avLst>
          </a:prstGeom>
          <a:solidFill>
            <a:srgbClr val="FFFFFF"/>
          </a:solidFill>
          <a:ln w="19050">
            <a:solidFill>
              <a:srgbClr val="5170FF"/>
            </a:solidFill>
          </a:ln>
        </p:spPr>
        <p:txBody>
          <a:bodyPr rtlCol="0" anchor="ctr"/>
          <a:lstStyle/>
          <a:p>
            <a:pPr algn="ctr"/>
          </a:p>
        </p:txBody>
      </p:sp>
      <p:sp>
        <p:nvSpPr>
          <p:cNvPr id="6" name="Rounded Rectangle 5"/>
          <p:cNvSpPr/>
          <p:nvPr/>
        </p:nvSpPr>
        <p:spPr>
          <a:xfrm>
            <a:off x="1397000" y="1397000"/>
            <a:ext cx="3175000" cy="508000"/>
          </a:xfrm>
          <a:prstGeom prst="roundRect">
            <a:avLst>
              <a:gd name="adj" fmla="val 50000"/>
            </a:avLst>
          </a:prstGeom>
          <a:solidFill>
            <a:srgbClr val="FFFFFF"/>
          </a:solidFill>
          <a:ln w="19050">
            <a:solidFill>
              <a:srgbClr val="5170FF"/>
            </a:solidFill>
          </a:ln>
        </p:spPr>
        <p:txBody>
          <a:bodyPr rtlCol="0" anchor="ctr" wrap="square" lIns="50800" tIns="50800" rIns="50800" bIns="50800">
            <a:noAutofit/>
          </a:bodyPr>
          <a:lstStyle/>
          <a:p>
            <a:pPr algn="ctr"/>
            <a:r>
              <a:rPr sz="1500" b="1" i="0">
                <a:solidFill>
                  <a:srgbClr val="000000"/>
                </a:solidFill>
                <a:latin typeface="Arial"/>
              </a:rPr>
              <a:t>ALCANCE DEL SISTEMA</a:t>
            </a:r>
          </a:p>
        </p:txBody>
      </p:sp>
      <p:sp>
        <p:nvSpPr>
          <p:cNvPr id="7" name="TextBox 6"/>
          <p:cNvSpPr txBox="1"/>
          <p:nvPr/>
        </p:nvSpPr>
        <p:spPr>
          <a:xfrm>
            <a:off x="1168400" y="2082800"/>
            <a:ext cx="330200" cy="355600"/>
          </a:xfrm>
          <a:prstGeom prst="rect">
            <a:avLst/>
          </a:prstGeom>
          <a:noFill/>
        </p:spPr>
        <p:txBody>
          <a:bodyPr wrap="square" lIns="0" tIns="0" rIns="0" bIns="0" anchor="t">
            <a:noAutofit/>
          </a:bodyPr>
          <a:lstStyle/>
          <a:p>
            <a:pPr algn="l"/>
            <a:r>
              <a:rPr sz="2000" b="0" i="0">
                <a:solidFill>
                  <a:srgbClr val="00B050"/>
                </a:solidFill>
                <a:latin typeface="Segoe UI Symbol"/>
              </a:rPr>
              <a:t>✔</a:t>
            </a:r>
          </a:p>
        </p:txBody>
      </p:sp>
      <p:sp>
        <p:nvSpPr>
          <p:cNvPr id="8" name="TextBox 7"/>
          <p:cNvSpPr txBox="1"/>
          <p:nvPr/>
        </p:nvSpPr>
        <p:spPr>
          <a:xfrm>
            <a:off x="1498600" y="2133600"/>
            <a:ext cx="3429000" cy="711200"/>
          </a:xfrm>
          <a:prstGeom prst="rect">
            <a:avLst/>
          </a:prstGeom>
          <a:noFill/>
        </p:spPr>
        <p:txBody>
          <a:bodyPr wrap="square" lIns="0" tIns="0" rIns="0" bIns="0" anchor="t">
            <a:noAutofit/>
          </a:bodyPr>
          <a:lstStyle/>
          <a:p>
            <a:pPr algn="l"/>
            <a:r>
              <a:rPr sz="1400" b="0" i="0">
                <a:solidFill>
                  <a:srgbClr val="000000"/>
                </a:solidFill>
                <a:latin typeface="Arial"/>
              </a:rPr>
              <a:t>Desarrollo de una prueba de concepto funcional</a:t>
            </a:r>
          </a:p>
        </p:txBody>
      </p:sp>
      <p:sp>
        <p:nvSpPr>
          <p:cNvPr id="9" name="TextBox 8"/>
          <p:cNvSpPr txBox="1"/>
          <p:nvPr/>
        </p:nvSpPr>
        <p:spPr>
          <a:xfrm>
            <a:off x="1168400" y="2895600"/>
            <a:ext cx="330200" cy="355600"/>
          </a:xfrm>
          <a:prstGeom prst="rect">
            <a:avLst/>
          </a:prstGeom>
          <a:noFill/>
        </p:spPr>
        <p:txBody>
          <a:bodyPr wrap="square" lIns="0" tIns="0" rIns="0" bIns="0" anchor="t">
            <a:noAutofit/>
          </a:bodyPr>
          <a:lstStyle/>
          <a:p>
            <a:pPr algn="l"/>
            <a:r>
              <a:rPr sz="2000" b="0" i="0">
                <a:solidFill>
                  <a:srgbClr val="00B050"/>
                </a:solidFill>
                <a:latin typeface="Segoe UI Symbol"/>
              </a:rPr>
              <a:t>✔</a:t>
            </a:r>
          </a:p>
        </p:txBody>
      </p:sp>
      <p:sp>
        <p:nvSpPr>
          <p:cNvPr id="10" name="TextBox 9"/>
          <p:cNvSpPr txBox="1"/>
          <p:nvPr/>
        </p:nvSpPr>
        <p:spPr>
          <a:xfrm>
            <a:off x="1498600" y="2946400"/>
            <a:ext cx="3429000" cy="711200"/>
          </a:xfrm>
          <a:prstGeom prst="rect">
            <a:avLst/>
          </a:prstGeom>
          <a:noFill/>
        </p:spPr>
        <p:txBody>
          <a:bodyPr wrap="square" lIns="0" tIns="0" rIns="0" bIns="0" anchor="t">
            <a:noAutofit/>
          </a:bodyPr>
          <a:lstStyle/>
          <a:p>
            <a:pPr algn="l"/>
            <a:r>
              <a:rPr sz="1400" b="0" i="0">
                <a:solidFill>
                  <a:srgbClr val="000000"/>
                </a:solidFill>
                <a:latin typeface="Arial"/>
              </a:rPr>
              <a:t>Implementación con dos agentes colaborativos, uno por piso</a:t>
            </a:r>
          </a:p>
        </p:txBody>
      </p:sp>
      <p:sp>
        <p:nvSpPr>
          <p:cNvPr id="11" name="TextBox 10"/>
          <p:cNvSpPr txBox="1"/>
          <p:nvPr/>
        </p:nvSpPr>
        <p:spPr>
          <a:xfrm>
            <a:off x="1168400" y="3708400"/>
            <a:ext cx="330200" cy="355600"/>
          </a:xfrm>
          <a:prstGeom prst="rect">
            <a:avLst/>
          </a:prstGeom>
          <a:noFill/>
        </p:spPr>
        <p:txBody>
          <a:bodyPr wrap="square" lIns="0" tIns="0" rIns="0" bIns="0" anchor="t">
            <a:noAutofit/>
          </a:bodyPr>
          <a:lstStyle/>
          <a:p>
            <a:pPr algn="l"/>
            <a:r>
              <a:rPr sz="2000" b="0" i="0">
                <a:solidFill>
                  <a:srgbClr val="00B050"/>
                </a:solidFill>
                <a:latin typeface="Segoe UI Symbol"/>
              </a:rPr>
              <a:t>✔</a:t>
            </a:r>
          </a:p>
        </p:txBody>
      </p:sp>
      <p:sp>
        <p:nvSpPr>
          <p:cNvPr id="12" name="TextBox 11"/>
          <p:cNvSpPr txBox="1"/>
          <p:nvPr/>
        </p:nvSpPr>
        <p:spPr>
          <a:xfrm>
            <a:off x="1498600" y="3759200"/>
            <a:ext cx="3429000" cy="711200"/>
          </a:xfrm>
          <a:prstGeom prst="rect">
            <a:avLst/>
          </a:prstGeom>
          <a:noFill/>
        </p:spPr>
        <p:txBody>
          <a:bodyPr wrap="square" lIns="0" tIns="0" rIns="0" bIns="0" anchor="t">
            <a:noAutofit/>
          </a:bodyPr>
          <a:lstStyle/>
          <a:p>
            <a:pPr algn="l"/>
            <a:r>
              <a:rPr sz="1400" b="0" i="0">
                <a:solidFill>
                  <a:srgbClr val="000000"/>
                </a:solidFill>
                <a:latin typeface="Arial"/>
              </a:rPr>
              <a:t>Operación en entorno interior controlado, una misión a la vez</a:t>
            </a:r>
          </a:p>
        </p:txBody>
      </p:sp>
      <p:sp>
        <p:nvSpPr>
          <p:cNvPr id="13" name="TextBox 12"/>
          <p:cNvSpPr txBox="1"/>
          <p:nvPr/>
        </p:nvSpPr>
        <p:spPr>
          <a:xfrm>
            <a:off x="1168400" y="4521200"/>
            <a:ext cx="330200" cy="355600"/>
          </a:xfrm>
          <a:prstGeom prst="rect">
            <a:avLst/>
          </a:prstGeom>
          <a:noFill/>
        </p:spPr>
        <p:txBody>
          <a:bodyPr wrap="square" lIns="0" tIns="0" rIns="0" bIns="0" anchor="t">
            <a:noAutofit/>
          </a:bodyPr>
          <a:lstStyle/>
          <a:p>
            <a:pPr algn="l"/>
            <a:r>
              <a:rPr sz="2000" b="0" i="0">
                <a:solidFill>
                  <a:srgbClr val="00B050"/>
                </a:solidFill>
                <a:latin typeface="Segoe UI Symbol"/>
              </a:rPr>
              <a:t>✔</a:t>
            </a:r>
          </a:p>
        </p:txBody>
      </p:sp>
      <p:sp>
        <p:nvSpPr>
          <p:cNvPr id="14" name="TextBox 13"/>
          <p:cNvSpPr txBox="1"/>
          <p:nvPr/>
        </p:nvSpPr>
        <p:spPr>
          <a:xfrm>
            <a:off x="1498600" y="4572000"/>
            <a:ext cx="3429000" cy="711200"/>
          </a:xfrm>
          <a:prstGeom prst="rect">
            <a:avLst/>
          </a:prstGeom>
          <a:noFill/>
        </p:spPr>
        <p:txBody>
          <a:bodyPr wrap="square" lIns="0" tIns="0" rIns="0" bIns="0" anchor="t">
            <a:noAutofit/>
          </a:bodyPr>
          <a:lstStyle/>
          <a:p>
            <a:pPr algn="l"/>
            <a:r>
              <a:rPr sz="1400" b="0" i="0">
                <a:solidFill>
                  <a:srgbClr val="000000"/>
                </a:solidFill>
                <a:latin typeface="Arial"/>
              </a:rPr>
              <a:t>Guía de usuarios entre pisos mediante relevo, sin que ningún agente cruce de piso</a:t>
            </a:r>
          </a:p>
        </p:txBody>
      </p:sp>
      <p:sp>
        <p:nvSpPr>
          <p:cNvPr id="15" name="TextBox 14"/>
          <p:cNvSpPr txBox="1"/>
          <p:nvPr/>
        </p:nvSpPr>
        <p:spPr>
          <a:xfrm>
            <a:off x="1168400" y="5334000"/>
            <a:ext cx="330200" cy="355600"/>
          </a:xfrm>
          <a:prstGeom prst="rect">
            <a:avLst/>
          </a:prstGeom>
          <a:noFill/>
        </p:spPr>
        <p:txBody>
          <a:bodyPr wrap="square" lIns="0" tIns="0" rIns="0" bIns="0" anchor="t">
            <a:noAutofit/>
          </a:bodyPr>
          <a:lstStyle/>
          <a:p>
            <a:pPr algn="l"/>
            <a:r>
              <a:rPr sz="2000" b="0" i="0">
                <a:solidFill>
                  <a:srgbClr val="00B050"/>
                </a:solidFill>
                <a:latin typeface="Segoe UI Symbol"/>
              </a:rPr>
              <a:t>✔</a:t>
            </a:r>
          </a:p>
        </p:txBody>
      </p:sp>
      <p:sp>
        <p:nvSpPr>
          <p:cNvPr id="16" name="TextBox 15"/>
          <p:cNvSpPr txBox="1"/>
          <p:nvPr/>
        </p:nvSpPr>
        <p:spPr>
          <a:xfrm>
            <a:off x="1498600" y="5384800"/>
            <a:ext cx="3429000" cy="711200"/>
          </a:xfrm>
          <a:prstGeom prst="rect">
            <a:avLst/>
          </a:prstGeom>
          <a:noFill/>
        </p:spPr>
        <p:txBody>
          <a:bodyPr wrap="square" lIns="0" tIns="0" rIns="0" bIns="0" anchor="t">
            <a:noAutofit/>
          </a:bodyPr>
          <a:lstStyle/>
          <a:p>
            <a:pPr algn="l"/>
            <a:r>
              <a:rPr sz="1400" b="0" i="0">
                <a:solidFill>
                  <a:srgbClr val="000000"/>
                </a:solidFill>
                <a:latin typeface="Arial"/>
              </a:rPr>
              <a:t>Validación mediante pruebas experimentales en simulación y con los agentes físicos</a:t>
            </a:r>
          </a:p>
        </p:txBody>
      </p:sp>
      <p:pic>
        <p:nvPicPr>
          <p:cNvPr id="17" name="Picture 16" descr="foto_guiado.jpg"/>
          <p:cNvPicPr>
            <a:picLocks noChangeAspect="1"/>
          </p:cNvPicPr>
          <p:nvPr/>
        </p:nvPicPr>
        <p:blipFill>
          <a:blip r:embed="rId4"/>
          <a:stretch>
            <a:fillRect/>
          </a:stretch>
        </p:blipFill>
        <p:spPr>
          <a:xfrm>
            <a:off x="5461000" y="1778000"/>
            <a:ext cx="4953000" cy="2784230"/>
          </a:xfrm>
          <a:prstGeom prst="rect">
            <a:avLst/>
          </a:prstGeom>
        </p:spPr>
      </p:pic>
      <p:sp>
        <p:nvSpPr>
          <p:cNvPr id="18" name="TextBox 17"/>
          <p:cNvSpPr txBox="1"/>
          <p:nvPr/>
        </p:nvSpPr>
        <p:spPr>
          <a:xfrm>
            <a:off x="5461000" y="4597400"/>
            <a:ext cx="4953000" cy="177800"/>
          </a:xfrm>
          <a:prstGeom prst="rect">
            <a:avLst/>
          </a:prstGeom>
          <a:noFill/>
        </p:spPr>
        <p:txBody>
          <a:bodyPr wrap="square" lIns="0" tIns="0" rIns="0" bIns="0" anchor="t">
            <a:noAutofit/>
          </a:bodyPr>
          <a:lstStyle/>
          <a:p>
            <a:pPr algn="l"/>
            <a:r>
              <a:rPr sz="900" b="0" i="0">
                <a:solidFill>
                  <a:srgbClr val="404040"/>
                </a:solidFill>
                <a:latin typeface="Arial"/>
              </a:rPr>
              <a:t>Una persona sigue al agente del piso 4 en el edificio Catalayud, 16 de octubre de 2026. Fuente: Elaboración propia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MARCO REFERENCIAL</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Antecedentes</a:t>
            </a:r>
          </a:p>
        </p:txBody>
      </p:sp>
      <p:graphicFrame>
        <p:nvGraphicFramePr>
          <p:cNvPr id="5" name="Table 4"/>
          <p:cNvGraphicFramePr>
            <a:graphicFrameLocks noGrp="1"/>
          </p:cNvGraphicFramePr>
          <p:nvPr/>
        </p:nvGraphicFramePr>
        <p:xfrm>
          <a:off x="838200" y="1422400"/>
          <a:ext cx="9067800" cy="3378200"/>
        </p:xfrm>
        <a:graphic>
          <a:graphicData uri="http://schemas.openxmlformats.org/drawingml/2006/table">
            <a:tbl>
              <a:tblPr firstRow="1">
                <a:tableStyleId>{5C22544A-7EE6-4342-B048-85BDC9FD1C3A}</a:tableStyleId>
              </a:tblPr>
              <a:tblGrid>
                <a:gridCol w="2895600"/>
                <a:gridCol w="3276600"/>
                <a:gridCol w="2895600"/>
              </a:tblGrid>
              <a:tr h="330200">
                <a:tc>
                  <a:txBody>
                    <a:bodyPr wrap="square"/>
                    <a:lstStyle/>
                    <a:p>
                      <a:pPr algn="l"/>
                      <a:r>
                        <a:rPr sz="1200" b="1" i="0">
                          <a:solidFill>
                            <a:srgbClr val="FFFFFF"/>
                          </a:solidFill>
                          <a:latin typeface="Arial"/>
                        </a:rPr>
                        <a:t>Línea</a:t>
                      </a:r>
                    </a:p>
                  </a:txBody>
                  <a:tcPr marL="63500" marR="63500" marT="25400" marB="25400" anchor="ctr">
                    <a:solidFill>
                      <a:srgbClr val="4472C4"/>
                    </a:solidFill>
                  </a:tcPr>
                </a:tc>
                <a:tc>
                  <a:txBody>
                    <a:bodyPr wrap="square"/>
                    <a:lstStyle/>
                    <a:p>
                      <a:pPr algn="l"/>
                      <a:r>
                        <a:rPr sz="1200" b="1" i="0">
                          <a:solidFill>
                            <a:srgbClr val="FFFFFF"/>
                          </a:solidFill>
                          <a:latin typeface="Arial"/>
                        </a:rPr>
                        <a:t>Lo que se toma de ella</a:t>
                      </a:r>
                    </a:p>
                  </a:txBody>
                  <a:tcPr marL="63500" marR="63500" marT="25400" marB="25400" anchor="ctr">
                    <a:solidFill>
                      <a:srgbClr val="4472C4"/>
                    </a:solidFill>
                  </a:tcPr>
                </a:tc>
                <a:tc>
                  <a:txBody>
                    <a:bodyPr wrap="square"/>
                    <a:lstStyle/>
                    <a:p>
                      <a:pPr algn="l"/>
                      <a:r>
                        <a:rPr sz="1200" b="1" i="0">
                          <a:solidFill>
                            <a:srgbClr val="FFFFFF"/>
                          </a:solidFill>
                          <a:latin typeface="Arial"/>
                        </a:rPr>
                        <a:t>Supuesto que no se comparte</a:t>
                      </a:r>
                    </a:p>
                  </a:txBody>
                  <a:tcPr marL="63500" marR="63500" marT="25400" marB="25400" anchor="ctr">
                    <a:solidFill>
                      <a:srgbClr val="4472C4"/>
                    </a:solidFill>
                  </a:tcPr>
                </a:tc>
              </a:tr>
              <a:tr h="609600">
                <a:tc>
                  <a:txBody>
                    <a:bodyPr wrap="square"/>
                    <a:lstStyle/>
                    <a:p>
                      <a:pPr algn="l"/>
                      <a:r>
                        <a:rPr sz="1200" b="1" i="0">
                          <a:solidFill>
                            <a:srgbClr val="000000"/>
                          </a:solidFill>
                          <a:latin typeface="Arial"/>
                        </a:rPr>
                        <a:t>Robots guía</a:t>
                      </a:r>
                    </a:p>
                    <a:p>
                      <a:pPr algn="l"/>
                      <a:r>
                        <a:rPr sz="950" b="0" i="0">
                          <a:solidFill>
                            <a:srgbClr val="404040"/>
                          </a:solidFill>
                          <a:latin typeface="Arial"/>
                        </a:rPr>
                        <a:t>Burgard et al. (1999); Guerreiro et al. (2019); Jiménez Muñoz (2024)</a:t>
                      </a:r>
                    </a:p>
                  </a:txBody>
                  <a:tcPr marL="63500" marR="63500" marT="25400" marB="25400" anchor="ctr">
                    <a:solidFill>
                      <a:srgbClr val="FFFFFF"/>
                    </a:solidFill>
                  </a:tcPr>
                </a:tc>
                <a:tc>
                  <a:txBody>
                    <a:bodyPr wrap="square"/>
                    <a:lstStyle/>
                    <a:p>
                      <a:pPr algn="l"/>
                      <a:r>
                        <a:rPr sz="1200" b="0" i="0">
                          <a:solidFill>
                            <a:srgbClr val="000000"/>
                          </a:solidFill>
                          <a:latin typeface="Arial"/>
                        </a:rPr>
                        <a:t>La integración de navegación e interacción; la localización de Monte Carlo</a:t>
                      </a:r>
                    </a:p>
                  </a:txBody>
                  <a:tcPr marL="63500" marR="63500" marT="25400" marB="25400" anchor="ctr">
                    <a:solidFill>
                      <a:srgbClr val="FFFFFF"/>
                    </a:solidFill>
                  </a:tcPr>
                </a:tc>
                <a:tc>
                  <a:txBody>
                    <a:bodyPr wrap="square"/>
                    <a:lstStyle/>
                    <a:p>
                      <a:pPr algn="l"/>
                      <a:r>
                        <a:rPr sz="1200" b="0" i="0">
                          <a:solidFill>
                            <a:srgbClr val="000000"/>
                          </a:solidFill>
                          <a:latin typeface="Arial"/>
                        </a:rPr>
                        <a:t>Un solo robot acompaña todo el recorrido</a:t>
                      </a:r>
                    </a:p>
                  </a:txBody>
                  <a:tcPr marL="63500" marR="63500" marT="25400" marB="25400" anchor="ctr">
                    <a:solidFill>
                      <a:srgbClr val="FFFFFF"/>
                    </a:solidFill>
                  </a:tcPr>
                </a:tc>
              </a:tr>
              <a:tr h="609600">
                <a:tc>
                  <a:txBody>
                    <a:bodyPr wrap="square"/>
                    <a:lstStyle/>
                    <a:p>
                      <a:pPr algn="l"/>
                      <a:r>
                        <a:rPr sz="1200" b="1" i="0">
                          <a:solidFill>
                            <a:srgbClr val="000000"/>
                          </a:solidFill>
                          <a:latin typeface="Arial"/>
                        </a:rPr>
                        <a:t>Navegación en interiores</a:t>
                      </a:r>
                    </a:p>
                    <a:p>
                      <a:pPr algn="l"/>
                      <a:r>
                        <a:rPr sz="950" b="0" i="0">
                          <a:solidFill>
                            <a:srgbClr val="404040"/>
                          </a:solidFill>
                          <a:latin typeface="Arial"/>
                        </a:rPr>
                        <a:t>Macenski et al. (2020)</a:t>
                      </a:r>
                    </a:p>
                  </a:txBody>
                  <a:tcPr marL="63500" marR="63500" marT="25400" marB="25400" anchor="ctr">
                    <a:solidFill>
                      <a:srgbClr val="E7EDF7"/>
                    </a:solidFill>
                  </a:tcPr>
                </a:tc>
                <a:tc>
                  <a:txBody>
                    <a:bodyPr wrap="square"/>
                    <a:lstStyle/>
                    <a:p>
                      <a:pPr algn="l"/>
                      <a:r>
                        <a:rPr sz="1200" b="0" i="0">
                          <a:solidFill>
                            <a:srgbClr val="000000"/>
                          </a:solidFill>
                          <a:latin typeface="Arial"/>
                        </a:rPr>
                        <a:t>El flujo de mapa, localización y planificación sobre ROS 2 (Nav2)</a:t>
                      </a:r>
                    </a:p>
                  </a:txBody>
                  <a:tcPr marL="63500" marR="63500" marT="25400" marB="25400" anchor="ctr">
                    <a:solidFill>
                      <a:srgbClr val="E7EDF7"/>
                    </a:solidFill>
                  </a:tcPr>
                </a:tc>
                <a:tc>
                  <a:txBody>
                    <a:bodyPr wrap="square"/>
                    <a:lstStyle/>
                    <a:p>
                      <a:pPr algn="l"/>
                      <a:r>
                        <a:rPr sz="1200" b="0" i="0">
                          <a:solidFill>
                            <a:srgbClr val="000000"/>
                          </a:solidFill>
                          <a:latin typeface="Arial"/>
                        </a:rPr>
                        <a:t>Ninguno: se adopta, adaptado a la cinemática del agente</a:t>
                      </a:r>
                    </a:p>
                  </a:txBody>
                  <a:tcPr marL="63500" marR="63500" marT="25400" marB="25400" anchor="ctr">
                    <a:solidFill>
                      <a:srgbClr val="E7EDF7"/>
                    </a:solidFill>
                  </a:tcPr>
                </a:tc>
              </a:tr>
              <a:tr h="609600">
                <a:tc>
                  <a:txBody>
                    <a:bodyPr wrap="square"/>
                    <a:lstStyle/>
                    <a:p>
                      <a:pPr algn="l"/>
                      <a:r>
                        <a:rPr sz="1200" b="1" i="0">
                          <a:solidFill>
                            <a:srgbClr val="000000"/>
                          </a:solidFill>
                          <a:latin typeface="Arial"/>
                        </a:rPr>
                        <a:t>Coordinación multirrobot</a:t>
                      </a:r>
                    </a:p>
                    <a:p>
                      <a:pPr algn="l"/>
                      <a:r>
                        <a:rPr sz="950" b="0" i="0">
                          <a:solidFill>
                            <a:srgbClr val="404040"/>
                          </a:solidFill>
                          <a:latin typeface="Arial"/>
                        </a:rPr>
                        <a:t>Gerkey y Matarić (2004); Srivastava et al. (2025)</a:t>
                      </a:r>
                    </a:p>
                  </a:txBody>
                  <a:tcPr marL="63500" marR="63500" marT="25400" marB="25400" anchor="ctr">
                    <a:solidFill>
                      <a:srgbClr val="FFFFFF"/>
                    </a:solidFill>
                  </a:tcPr>
                </a:tc>
                <a:tc>
                  <a:txBody>
                    <a:bodyPr wrap="square"/>
                    <a:lstStyle/>
                    <a:p>
                      <a:pPr algn="l"/>
                      <a:r>
                        <a:rPr sz="1200" b="0" i="0">
                          <a:solidFill>
                            <a:srgbClr val="000000"/>
                          </a:solidFill>
                          <a:latin typeface="Arial"/>
                        </a:rPr>
                        <a:t>La taxonomía de asignación; la planificación con relevos</a:t>
                      </a:r>
                    </a:p>
                  </a:txBody>
                  <a:tcPr marL="63500" marR="63500" marT="25400" marB="25400" anchor="ctr">
                    <a:solidFill>
                      <a:srgbClr val="FFFFFF"/>
                    </a:solidFill>
                  </a:tcPr>
                </a:tc>
                <a:tc>
                  <a:txBody>
                    <a:bodyPr wrap="square"/>
                    <a:lstStyle/>
                    <a:p>
                      <a:pPr algn="l"/>
                      <a:r>
                        <a:rPr sz="1200" b="0" i="0">
                          <a:solidFill>
                            <a:srgbClr val="000000"/>
                          </a:solidFill>
                          <a:latin typeface="Arial"/>
                        </a:rPr>
                        <a:t>Lo que se traspasa puede esperar sin límite</a:t>
                      </a:r>
                    </a:p>
                  </a:txBody>
                  <a:tcPr marL="63500" marR="63500" marT="25400" marB="25400" anchor="ctr">
                    <a:solidFill>
                      <a:srgbClr val="FFFFFF"/>
                    </a:solidFill>
                  </a:tcPr>
                </a:tc>
              </a:tr>
              <a:tr h="609600">
                <a:tc>
                  <a:txBody>
                    <a:bodyPr wrap="square"/>
                    <a:lstStyle/>
                    <a:p>
                      <a:pPr algn="l"/>
                      <a:r>
                        <a:rPr sz="1200" b="1" i="0">
                          <a:solidFill>
                            <a:srgbClr val="000000"/>
                          </a:solidFill>
                          <a:latin typeface="Arial"/>
                        </a:rPr>
                        <a:t>Movilidad entre pisos</a:t>
                      </a:r>
                    </a:p>
                    <a:p>
                      <a:pPr algn="l"/>
                      <a:r>
                        <a:rPr sz="950" b="0" i="0">
                          <a:solidFill>
                            <a:srgbClr val="404040"/>
                          </a:solidFill>
                          <a:latin typeface="Arial"/>
                        </a:rPr>
                        <a:t>Kim et al. (2024); Song et al. (2024)</a:t>
                      </a:r>
                    </a:p>
                  </a:txBody>
                  <a:tcPr marL="63500" marR="63500" marT="25400" marB="25400" anchor="ctr">
                    <a:solidFill>
                      <a:srgbClr val="E7EDF7"/>
                    </a:solidFill>
                  </a:tcPr>
                </a:tc>
                <a:tc>
                  <a:txBody>
                    <a:bodyPr wrap="square"/>
                    <a:lstStyle/>
                    <a:p>
                      <a:pPr algn="l"/>
                      <a:r>
                        <a:rPr sz="1200" b="0" i="0">
                          <a:solidFill>
                            <a:srgbClr val="000000"/>
                          </a:solidFill>
                          <a:latin typeface="Arial"/>
                        </a:rPr>
                        <a:t>El mapa por piso unido por un punto de transición</a:t>
                      </a:r>
                    </a:p>
                  </a:txBody>
                  <a:tcPr marL="63500" marR="63500" marT="25400" marB="25400" anchor="ctr">
                    <a:solidFill>
                      <a:srgbClr val="E7EDF7"/>
                    </a:solidFill>
                  </a:tcPr>
                </a:tc>
                <a:tc>
                  <a:txBody>
                    <a:bodyPr wrap="square"/>
                    <a:lstStyle/>
                    <a:p>
                      <a:pPr algn="l"/>
                      <a:r>
                        <a:rPr sz="1200" b="0" i="0">
                          <a:solidFill>
                            <a:srgbClr val="000000"/>
                          </a:solidFill>
                          <a:latin typeface="Arial"/>
                        </a:rPr>
                        <a:t>El robot cruza de nivel</a:t>
                      </a:r>
                    </a:p>
                  </a:txBody>
                  <a:tcPr marL="63500" marR="63500" marT="25400" marB="25400" anchor="ctr">
                    <a:solidFill>
                      <a:srgbClr val="E7EDF7"/>
                    </a:solidFill>
                  </a:tcPr>
                </a:tc>
              </a:tr>
              <a:tr h="609600">
                <a:tc>
                  <a:txBody>
                    <a:bodyPr wrap="square"/>
                    <a:lstStyle/>
                    <a:p>
                      <a:pPr algn="l"/>
                      <a:r>
                        <a:rPr sz="1200" b="1" i="0">
                          <a:solidFill>
                            <a:srgbClr val="000000"/>
                          </a:solidFill>
                          <a:latin typeface="Arial"/>
                        </a:rPr>
                        <a:t>Distribución del cómputo</a:t>
                      </a:r>
                    </a:p>
                    <a:p>
                      <a:pPr algn="l"/>
                      <a:r>
                        <a:rPr sz="950" b="0" i="0">
                          <a:solidFill>
                            <a:srgbClr val="404040"/>
                          </a:solidFill>
                          <a:latin typeface="Arial"/>
                        </a:rPr>
                        <a:t>Malavolta et al. (2023)</a:t>
                      </a:r>
                    </a:p>
                  </a:txBody>
                  <a:tcPr marL="63500" marR="63500" marT="25400" marB="25400" anchor="ctr">
                    <a:solidFill>
                      <a:srgbClr val="FFFFFF"/>
                    </a:solidFill>
                  </a:tcPr>
                </a:tc>
                <a:tc>
                  <a:txBody>
                    <a:bodyPr wrap="square"/>
                    <a:lstStyle/>
                    <a:p>
                      <a:pPr algn="l"/>
                      <a:r>
                        <a:rPr sz="1200" b="0" i="0">
                          <a:solidFill>
                            <a:srgbClr val="000000"/>
                          </a:solidFill>
                          <a:latin typeface="Arial"/>
                        </a:rPr>
                        <a:t>La navegación a bordo y la coordinación en un nodo central</a:t>
                      </a:r>
                    </a:p>
                  </a:txBody>
                  <a:tcPr marL="63500" marR="63500" marT="25400" marB="25400" anchor="ctr">
                    <a:solidFill>
                      <a:srgbClr val="FFFFFF"/>
                    </a:solidFill>
                  </a:tcPr>
                </a:tc>
                <a:tc>
                  <a:txBody>
                    <a:bodyPr wrap="square"/>
                    <a:lstStyle/>
                    <a:p>
                      <a:pPr algn="l"/>
                      <a:r>
                        <a:rPr sz="1200" b="0" i="0">
                          <a:solidFill>
                            <a:srgbClr val="000000"/>
                          </a:solidFill>
                          <a:latin typeface="Arial"/>
                        </a:rPr>
                        <a:t>Ninguno</a:t>
                      </a:r>
                    </a:p>
                  </a:txBody>
                  <a:tcPr marL="63500" marR="63500" marT="25400" marB="25400" anchor="ctr">
                    <a:solidFill>
                      <a:srgbClr val="FFFFFF"/>
                    </a:solidFill>
                  </a:tcPr>
                </a:tc>
              </a:tr>
            </a:tbl>
          </a:graphicData>
        </a:graphic>
      </p:graphicFrame>
      <p:sp>
        <p:nvSpPr>
          <p:cNvPr id="6" name="Rounded Rectangle 5"/>
          <p:cNvSpPr/>
          <p:nvPr/>
        </p:nvSpPr>
        <p:spPr>
          <a:xfrm>
            <a:off x="838200" y="5207000"/>
            <a:ext cx="8128000" cy="889000"/>
          </a:xfrm>
          <a:prstGeom prst="roundRect">
            <a:avLst>
              <a:gd name="adj" fmla="val 20000"/>
            </a:avLst>
          </a:prstGeom>
          <a:solidFill>
            <a:srgbClr val="F6B79D"/>
          </a:solidFill>
          <a:ln w="9525">
            <a:solidFill>
              <a:srgbClr val="F5B195"/>
            </a:solidFill>
          </a:ln>
        </p:spPr>
        <p:txBody>
          <a:bodyPr rtlCol="0" anchor="ctr" wrap="square" lIns="152400" tIns="50800" rIns="152400" bIns="50800">
            <a:noAutofit/>
          </a:bodyPr>
          <a:lstStyle/>
          <a:p>
            <a:pPr algn="l"/>
            <a:r>
              <a:rPr sz="1350" b="0" i="0">
                <a:solidFill>
                  <a:srgbClr val="000000"/>
                </a:solidFill>
                <a:latin typeface="Arial"/>
              </a:rPr>
              <a:t>Aporte: ningún agente atraviesa la zona de transición. La continuidad entre pisos se obtiene con comunicación entre agentes, y no con mecanismos para escaleras ni con la intervención del ascensor.</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Marco teórico</a:t>
            </a:r>
          </a:p>
        </p:txBody>
      </p:sp>
      <p:sp>
        <p:nvSpPr>
          <p:cNvPr id="5" name="Rounded Rectangle 4"/>
          <p:cNvSpPr/>
          <p:nvPr/>
        </p:nvSpPr>
        <p:spPr>
          <a:xfrm>
            <a:off x="1663700" y="1270000"/>
            <a:ext cx="3606800" cy="660400"/>
          </a:xfrm>
          <a:prstGeom prst="roundRect">
            <a:avLst>
              <a:gd name="adj" fmla="val 10000"/>
            </a:avLst>
          </a:prstGeom>
          <a:solidFill>
            <a:srgbClr val="4472C4"/>
          </a:solidFill>
          <a:ln>
            <a:noFill/>
          </a:ln>
        </p:spPr>
        <p:txBody>
          <a:bodyPr rtlCol="0" anchor="ctr" wrap="square" lIns="50800" tIns="50800" rIns="50800" bIns="50800">
            <a:noAutofit/>
          </a:bodyPr>
          <a:lstStyle/>
          <a:p>
            <a:pPr algn="ctr"/>
            <a:r>
              <a:rPr sz="2400" b="0" i="0">
                <a:solidFill>
                  <a:srgbClr val="FFFFFF"/>
                </a:solidFill>
                <a:latin typeface="Calibri"/>
              </a:rPr>
              <a:t>Fundamentos teóricos</a:t>
            </a:r>
          </a:p>
        </p:txBody>
      </p:sp>
      <p:sp>
        <p:nvSpPr>
          <p:cNvPr id="6" name="Freeform 5"/>
          <p:cNvSpPr/>
          <p:nvPr/>
        </p:nvSpPr>
        <p:spPr>
          <a:xfrm>
            <a:off x="2019300" y="2565400"/>
            <a:ext cx="368300" cy="0"/>
          </a:xfrm>
          <a:custGeom>
            <a:avLst/>
            <a:gdLst/>
            <a:ahLst/>
            <a:cxnLst/>
            <a:rect l="l" t="t" r="r" b="b"/>
            <a:pathLst>
              <a:path w="29" h="0">
                <a:moveTo>
                  <a:pt x="0" y="0"/>
                </a:moveTo>
                <a:lnTo>
                  <a:pt x="29" y="0"/>
                </a:lnTo>
              </a:path>
            </a:pathLst>
          </a:custGeom>
          <a:noFill/>
          <a:ln w="9525">
            <a:solidFill>
              <a:srgbClr val="34599C"/>
            </a:solidFill>
          </a:ln>
        </p:spPr>
        <p:txBody>
          <a:bodyPr rtlCol="0" anchor="ctr"/>
          <a:lstStyle/>
          <a:p>
            <a:pPr algn="ctr"/>
          </a:p>
        </p:txBody>
      </p:sp>
      <p:sp>
        <p:nvSpPr>
          <p:cNvPr id="7" name="Rounded Rectangle 6"/>
          <p:cNvSpPr/>
          <p:nvPr/>
        </p:nvSpPr>
        <p:spPr>
          <a:xfrm>
            <a:off x="2387600" y="2108200"/>
            <a:ext cx="4800600" cy="920750"/>
          </a:xfrm>
          <a:prstGeom prst="roundRect">
            <a:avLst>
              <a:gd name="adj" fmla="val 10000"/>
            </a:avLst>
          </a:prstGeom>
          <a:solidFill>
            <a:srgbClr val="FFFFFF"/>
          </a:solidFill>
          <a:ln w="9525">
            <a:solidFill>
              <a:srgbClr val="4472C4"/>
            </a:solidFill>
          </a:ln>
        </p:spPr>
        <p:txBody>
          <a:bodyPr rtlCol="0" anchor="t" wrap="square" lIns="88900" tIns="50800" rIns="50800" bIns="25400">
            <a:noAutofit/>
          </a:bodyPr>
          <a:lstStyle/>
          <a:p>
            <a:pPr algn="l"/>
            <a:r>
              <a:rPr sz="1300" b="1" i="0">
                <a:solidFill>
                  <a:srgbClr val="000000"/>
                </a:solidFill>
                <a:latin typeface="Arial"/>
              </a:rPr>
              <a:t>Asignación de tareas y coordinación</a:t>
            </a:r>
          </a:p>
          <a:p>
            <a:pPr algn="l" marL="139700" indent="-139700">
              <a:buFont typeface="Arial"/>
              <a:buChar char="•"/>
            </a:pPr>
            <a:r>
              <a:rPr sz="1150" b="0" i="0">
                <a:solidFill>
                  <a:srgbClr val="000000"/>
                </a:solidFill>
                <a:latin typeface="Arial"/>
              </a:rPr>
              <a:t>Asignación ST–SR–IA (Gerkey y Matarić, 2004)</a:t>
            </a:r>
          </a:p>
          <a:p>
            <a:pPr algn="l" marL="139700" indent="-139700">
              <a:buFont typeface="Arial"/>
              <a:buChar char="•"/>
            </a:pPr>
            <a:r>
              <a:rPr sz="1150" b="0" i="0">
                <a:solidFill>
                  <a:srgbClr val="000000"/>
                </a:solidFill>
                <a:latin typeface="Arial"/>
              </a:rPr>
              <a:t>Relevo: dependencias entre agendas (Korsah et al., 2013)</a:t>
            </a:r>
          </a:p>
          <a:p>
            <a:pPr algn="l" marL="139700" indent="-139700">
              <a:buFont typeface="Arial"/>
              <a:buChar char="•"/>
            </a:pPr>
            <a:r>
              <a:rPr sz="1150" b="0" i="0">
                <a:solidFill>
                  <a:srgbClr val="000000"/>
                </a:solidFill>
                <a:latin typeface="Arial"/>
              </a:rPr>
              <a:t>Comunicación con ROS 2 (Macenski et al., 2022)</a:t>
            </a:r>
          </a:p>
        </p:txBody>
      </p:sp>
      <p:sp>
        <p:nvSpPr>
          <p:cNvPr id="8" name="Freeform 7"/>
          <p:cNvSpPr/>
          <p:nvPr/>
        </p:nvSpPr>
        <p:spPr>
          <a:xfrm>
            <a:off x="2019300" y="3759200"/>
            <a:ext cx="368300" cy="0"/>
          </a:xfrm>
          <a:custGeom>
            <a:avLst/>
            <a:gdLst/>
            <a:ahLst/>
            <a:cxnLst/>
            <a:rect l="l" t="t" r="r" b="b"/>
            <a:pathLst>
              <a:path w="29" h="0">
                <a:moveTo>
                  <a:pt x="0" y="0"/>
                </a:moveTo>
                <a:lnTo>
                  <a:pt x="29" y="0"/>
                </a:lnTo>
              </a:path>
            </a:pathLst>
          </a:custGeom>
          <a:noFill/>
          <a:ln w="9525">
            <a:solidFill>
              <a:srgbClr val="34599C"/>
            </a:solidFill>
          </a:ln>
        </p:spPr>
        <p:txBody>
          <a:bodyPr rtlCol="0" anchor="ctr"/>
          <a:lstStyle/>
          <a:p>
            <a:pPr algn="ctr"/>
          </a:p>
        </p:txBody>
      </p:sp>
      <p:sp>
        <p:nvSpPr>
          <p:cNvPr id="9" name="Rounded Rectangle 8"/>
          <p:cNvSpPr/>
          <p:nvPr/>
        </p:nvSpPr>
        <p:spPr>
          <a:xfrm>
            <a:off x="2387600" y="3206750"/>
            <a:ext cx="4800600" cy="1117600"/>
          </a:xfrm>
          <a:prstGeom prst="roundRect">
            <a:avLst>
              <a:gd name="adj" fmla="val 10000"/>
            </a:avLst>
          </a:prstGeom>
          <a:solidFill>
            <a:srgbClr val="FFFFFF"/>
          </a:solidFill>
          <a:ln w="9525">
            <a:solidFill>
              <a:srgbClr val="4472C4"/>
            </a:solidFill>
          </a:ln>
        </p:spPr>
        <p:txBody>
          <a:bodyPr rtlCol="0" anchor="t" wrap="square" lIns="88900" tIns="50800" rIns="50800" bIns="25400">
            <a:noAutofit/>
          </a:bodyPr>
          <a:lstStyle/>
          <a:p>
            <a:pPr algn="l"/>
            <a:r>
              <a:rPr sz="1300" b="1" i="0">
                <a:solidFill>
                  <a:srgbClr val="000000"/>
                </a:solidFill>
                <a:latin typeface="Arial"/>
              </a:rPr>
              <a:t>Navegación de un vehículo tipo automóvil</a:t>
            </a:r>
          </a:p>
          <a:p>
            <a:pPr algn="l" marL="139700" indent="-139700">
              <a:buFont typeface="Arial"/>
              <a:buChar char="•"/>
            </a:pPr>
            <a:r>
              <a:rPr sz="1150" b="0" i="0">
                <a:solidFill>
                  <a:srgbClr val="000000"/>
                </a:solidFill>
                <a:latin typeface="Arial"/>
              </a:rPr>
              <a:t>A* híbrido y caminos de Reeds-Shepp (Dolgov et al., 2010)</a:t>
            </a:r>
          </a:p>
          <a:p>
            <a:pPr algn="l" marL="139700" indent="-139700">
              <a:buFont typeface="Arial"/>
              <a:buChar char="•"/>
            </a:pPr>
            <a:r>
              <a:rPr sz="1150" b="0" i="0">
                <a:solidFill>
                  <a:srgbClr val="000000"/>
                </a:solidFill>
                <a:latin typeface="Arial"/>
              </a:rPr>
              <a:t>Regulated Pure Pursuit (Macenski et al., 2023)</a:t>
            </a:r>
          </a:p>
          <a:p>
            <a:pPr algn="l" marL="139700" indent="-139700">
              <a:buFont typeface="Arial"/>
              <a:buChar char="•"/>
            </a:pPr>
            <a:r>
              <a:rPr sz="1150" b="0" i="0">
                <a:solidFill>
                  <a:srgbClr val="000000"/>
                </a:solidFill>
                <a:latin typeface="Arial"/>
              </a:rPr>
              <a:t>AMCL con odometría del láser (Jaimez et al., 2016)</a:t>
            </a:r>
          </a:p>
          <a:p>
            <a:pPr algn="l" marL="139700" indent="-139700">
              <a:buFont typeface="Arial"/>
              <a:buChar char="•"/>
            </a:pPr>
            <a:r>
              <a:rPr sz="1150" b="0" i="0">
                <a:solidFill>
                  <a:srgbClr val="000000"/>
                </a:solidFill>
                <a:latin typeface="Arial"/>
              </a:rPr>
              <a:t>Pasillo uniforme: avance no observable (Zhang et al., 2016)</a:t>
            </a:r>
          </a:p>
        </p:txBody>
      </p:sp>
      <p:sp>
        <p:nvSpPr>
          <p:cNvPr id="10" name="Freeform 9"/>
          <p:cNvSpPr/>
          <p:nvPr/>
        </p:nvSpPr>
        <p:spPr>
          <a:xfrm>
            <a:off x="2019300" y="5054600"/>
            <a:ext cx="368300" cy="0"/>
          </a:xfrm>
          <a:custGeom>
            <a:avLst/>
            <a:gdLst/>
            <a:ahLst/>
            <a:cxnLst/>
            <a:rect l="l" t="t" r="r" b="b"/>
            <a:pathLst>
              <a:path w="29" h="0">
                <a:moveTo>
                  <a:pt x="0" y="0"/>
                </a:moveTo>
                <a:lnTo>
                  <a:pt x="29" y="0"/>
                </a:lnTo>
              </a:path>
            </a:pathLst>
          </a:custGeom>
          <a:noFill/>
          <a:ln w="9525">
            <a:solidFill>
              <a:srgbClr val="34599C"/>
            </a:solidFill>
          </a:ln>
        </p:spPr>
        <p:txBody>
          <a:bodyPr rtlCol="0" anchor="ctr"/>
          <a:lstStyle/>
          <a:p>
            <a:pPr algn="ctr"/>
          </a:p>
        </p:txBody>
      </p:sp>
      <p:sp>
        <p:nvSpPr>
          <p:cNvPr id="11" name="Rounded Rectangle 10"/>
          <p:cNvSpPr/>
          <p:nvPr/>
        </p:nvSpPr>
        <p:spPr>
          <a:xfrm>
            <a:off x="2387600" y="4502150"/>
            <a:ext cx="4800600" cy="1117600"/>
          </a:xfrm>
          <a:prstGeom prst="roundRect">
            <a:avLst>
              <a:gd name="adj" fmla="val 10000"/>
            </a:avLst>
          </a:prstGeom>
          <a:solidFill>
            <a:srgbClr val="FFFFFF"/>
          </a:solidFill>
          <a:ln w="9525">
            <a:solidFill>
              <a:srgbClr val="4472C4"/>
            </a:solidFill>
          </a:ln>
        </p:spPr>
        <p:txBody>
          <a:bodyPr rtlCol="0" anchor="t" wrap="square" lIns="88900" tIns="50800" rIns="50800" bIns="25400">
            <a:noAutofit/>
          </a:bodyPr>
          <a:lstStyle/>
          <a:p>
            <a:pPr algn="l"/>
            <a:r>
              <a:rPr sz="1300" b="1" i="0">
                <a:solidFill>
                  <a:srgbClr val="000000"/>
                </a:solidFill>
                <a:latin typeface="Arial"/>
              </a:rPr>
              <a:t>Interacción y evaluación</a:t>
            </a:r>
          </a:p>
          <a:p>
            <a:pPr algn="l" marL="139700" indent="-139700">
              <a:buFont typeface="Arial"/>
              <a:buChar char="•"/>
            </a:pPr>
            <a:r>
              <a:rPr sz="1150" b="0" i="0">
                <a:solidFill>
                  <a:srgbClr val="000000"/>
                </a:solidFill>
                <a:latin typeface="Arial"/>
              </a:rPr>
              <a:t>rosbridge para el navegador (Crick et al., 2017)</a:t>
            </a:r>
          </a:p>
          <a:p>
            <a:pPr algn="l" marL="139700" indent="-139700">
              <a:buFont typeface="Arial"/>
              <a:buChar char="•"/>
            </a:pPr>
            <a:r>
              <a:rPr sz="1150" b="0" i="0">
                <a:solidFill>
                  <a:srgbClr val="000000"/>
                </a:solidFill>
                <a:latin typeface="Arial"/>
              </a:rPr>
              <a:t>Intervalo de Wilson (1927) para la tasa de éxito</a:t>
            </a:r>
          </a:p>
          <a:p>
            <a:pPr algn="l" marL="139700" indent="-139700">
              <a:buFont typeface="Arial"/>
              <a:buChar char="•"/>
            </a:pPr>
            <a:r>
              <a:rPr sz="1150" b="0" i="0">
                <a:solidFill>
                  <a:srgbClr val="000000"/>
                </a:solidFill>
                <a:latin typeface="Arial"/>
              </a:rPr>
              <a:t>Falsabilidad de cada criterio (Popper, 1959)</a:t>
            </a:r>
          </a:p>
          <a:p>
            <a:pPr algn="l" marL="139700" indent="-139700">
              <a:buFont typeface="Arial"/>
              <a:buChar char="•"/>
            </a:pPr>
            <a:r>
              <a:rPr sz="1150" b="0" i="0">
                <a:solidFill>
                  <a:srgbClr val="000000"/>
                </a:solidFill>
                <a:latin typeface="Arial"/>
              </a:rPr>
              <a:t>Norma ASTM F3244-21 para la demostración física</a:t>
            </a:r>
          </a:p>
        </p:txBody>
      </p:sp>
      <p:sp>
        <p:nvSpPr>
          <p:cNvPr id="12" name="Freeform 11"/>
          <p:cNvSpPr/>
          <p:nvPr/>
        </p:nvSpPr>
        <p:spPr>
          <a:xfrm>
            <a:off x="2019300" y="1930400"/>
            <a:ext cx="0" cy="3124200"/>
          </a:xfrm>
          <a:custGeom>
            <a:avLst/>
            <a:gdLst/>
            <a:ahLst/>
            <a:cxnLst/>
            <a:rect l="l" t="t" r="r" b="b"/>
            <a:pathLst>
              <a:path w="0" h="246">
                <a:moveTo>
                  <a:pt x="0" y="0"/>
                </a:moveTo>
                <a:lnTo>
                  <a:pt x="0" y="246"/>
                </a:lnTo>
              </a:path>
            </a:pathLst>
          </a:custGeom>
          <a:noFill/>
          <a:ln w="9525">
            <a:solidFill>
              <a:srgbClr val="34599C"/>
            </a:solidFill>
          </a:ln>
        </p:spPr>
        <p:txBody>
          <a:bodyPr rtlCol="0" anchor="ctr"/>
          <a:lstStyle/>
          <a:p>
            <a:pPr algn="ctr"/>
          </a:p>
        </p:txBody>
      </p:sp>
      <p:pic>
        <p:nvPicPr>
          <p:cNvPr id="13" name="Picture 12" descr="iconos_navegacion.jpg"/>
          <p:cNvPicPr>
            <a:picLocks noChangeAspect="1"/>
          </p:cNvPicPr>
          <p:nvPr/>
        </p:nvPicPr>
        <p:blipFill>
          <a:blip r:embed="rId4"/>
          <a:stretch>
            <a:fillRect/>
          </a:stretch>
        </p:blipFill>
        <p:spPr>
          <a:xfrm>
            <a:off x="7493000" y="1320800"/>
            <a:ext cx="2794000" cy="2019936"/>
          </a:xfrm>
          <a:prstGeom prst="rect">
            <a:avLst/>
          </a:prstGeom>
        </p:spPr>
      </p:pic>
      <p:pic>
        <p:nvPicPr>
          <p:cNvPr id="14" name="Picture 13" descr="icono_hri.jpg"/>
          <p:cNvPicPr>
            <a:picLocks noChangeAspect="1"/>
          </p:cNvPicPr>
          <p:nvPr/>
        </p:nvPicPr>
        <p:blipFill>
          <a:blip r:embed="rId5"/>
          <a:stretch>
            <a:fillRect/>
          </a:stretch>
        </p:blipFill>
        <p:spPr>
          <a:xfrm>
            <a:off x="7772400" y="3556000"/>
            <a:ext cx="2222500" cy="1359564"/>
          </a:xfrm>
          <a:prstGeom prst="rect">
            <a:avLst/>
          </a:prstGeom>
        </p:spPr>
      </p:pic>
      <p:sp>
        <p:nvSpPr>
          <p:cNvPr id="15" name="TextBox 14"/>
          <p:cNvSpPr txBox="1"/>
          <p:nvPr/>
        </p:nvSpPr>
        <p:spPr>
          <a:xfrm>
            <a:off x="7493000" y="4978400"/>
            <a:ext cx="2794000" cy="177800"/>
          </a:xfrm>
          <a:prstGeom prst="rect">
            <a:avLst/>
          </a:prstGeom>
          <a:noFill/>
        </p:spPr>
        <p:txBody>
          <a:bodyPr wrap="square" lIns="0" tIns="0" rIns="0" bIns="0" anchor="t">
            <a:noAutofit/>
          </a:bodyPr>
          <a:lstStyle/>
          <a:p>
            <a:pPr algn="ctr"/>
            <a:r>
              <a:rPr sz="900" b="0" i="0">
                <a:solidFill>
                  <a:srgbClr val="404040"/>
                </a:solidFill>
                <a:latin typeface="Arial"/>
              </a:rPr>
              <a:t>Fuente: Imagen generada con IA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Marco legal y ambiental</a:t>
            </a:r>
          </a:p>
        </p:txBody>
      </p:sp>
      <p:sp>
        <p:nvSpPr>
          <p:cNvPr id="5" name="Rounded Rectangle 4"/>
          <p:cNvSpPr/>
          <p:nvPr/>
        </p:nvSpPr>
        <p:spPr>
          <a:xfrm>
            <a:off x="889000" y="1587500"/>
            <a:ext cx="4254500" cy="3683000"/>
          </a:xfrm>
          <a:prstGeom prst="roundRect">
            <a:avLst>
              <a:gd name="adj" fmla="val 6000"/>
            </a:avLst>
          </a:prstGeom>
          <a:solidFill>
            <a:srgbClr val="FFFFFF"/>
          </a:solidFill>
          <a:ln w="9525">
            <a:solidFill>
              <a:srgbClr val="4472C4"/>
            </a:solidFill>
          </a:ln>
        </p:spPr>
        <p:txBody>
          <a:bodyPr rtlCol="0" anchor="ctr"/>
          <a:lstStyle/>
          <a:p>
            <a:pPr algn="ctr"/>
          </a:p>
        </p:txBody>
      </p:sp>
      <p:sp>
        <p:nvSpPr>
          <p:cNvPr id="6" name="Rounded Rectangle 5"/>
          <p:cNvSpPr/>
          <p:nvPr/>
        </p:nvSpPr>
        <p:spPr>
          <a:xfrm>
            <a:off x="889000" y="1587500"/>
            <a:ext cx="4254500" cy="558800"/>
          </a:xfrm>
          <a:prstGeom prst="roundRect">
            <a:avLst>
              <a:gd name="adj" fmla="val 20000"/>
            </a:avLst>
          </a:prstGeom>
          <a:solidFill>
            <a:srgbClr val="4472C4"/>
          </a:solidFill>
          <a:ln>
            <a:noFill/>
          </a:ln>
        </p:spPr>
        <p:txBody>
          <a:bodyPr rtlCol="0" anchor="ctr" wrap="square" lIns="50800" tIns="50800" rIns="50800" bIns="50800">
            <a:noAutofit/>
          </a:bodyPr>
          <a:lstStyle/>
          <a:p>
            <a:pPr algn="ctr"/>
            <a:r>
              <a:rPr sz="2200" b="0" i="0">
                <a:solidFill>
                  <a:srgbClr val="FFFFFF"/>
                </a:solidFill>
                <a:latin typeface="Calibri"/>
              </a:rPr>
              <a:t>Marco legal</a:t>
            </a:r>
          </a:p>
        </p:txBody>
      </p:sp>
      <p:sp>
        <p:nvSpPr>
          <p:cNvPr id="7" name="TextBox 6"/>
          <p:cNvSpPr txBox="1"/>
          <p:nvPr/>
        </p:nvSpPr>
        <p:spPr>
          <a:xfrm>
            <a:off x="1092200" y="2349500"/>
            <a:ext cx="3873500" cy="2794000"/>
          </a:xfrm>
          <a:prstGeom prst="rect">
            <a:avLst/>
          </a:prstGeom>
          <a:noFill/>
        </p:spPr>
        <p:txBody>
          <a:bodyPr wrap="square" lIns="0" tIns="0" rIns="0" bIns="0" anchor="t">
            <a:noAutofit/>
          </a:bodyPr>
          <a:lstStyle/>
          <a:p>
            <a:pPr algn="l" marL="139700" indent="-139700">
              <a:spcAft>
                <a:spcPts val="1000"/>
              </a:spcAft>
              <a:buFont typeface="Arial"/>
              <a:buChar char="•"/>
            </a:pPr>
            <a:r>
              <a:rPr sz="1400" b="0" i="0">
                <a:solidFill>
                  <a:srgbClr val="000000"/>
                </a:solidFill>
                <a:latin typeface="Arial"/>
              </a:rPr>
              <a:t>CONPES 3975: Política Nacional para la Transformación Digital e Inteligencia Artificial</a:t>
            </a:r>
          </a:p>
          <a:p>
            <a:pPr algn="l" marL="139700" indent="-139700">
              <a:spcAft>
                <a:spcPts val="1000"/>
              </a:spcAft>
              <a:buFont typeface="Arial"/>
              <a:buChar char="•"/>
            </a:pPr>
            <a:r>
              <a:rPr sz="1400" b="0" i="0">
                <a:solidFill>
                  <a:srgbClr val="000000"/>
                </a:solidFill>
                <a:latin typeface="Arial"/>
              </a:rPr>
              <a:t>CONPES 4069: Política Nacional de Ciencia, Tecnología e Innovación</a:t>
            </a:r>
          </a:p>
          <a:p>
            <a:pPr algn="l" marL="139700" indent="-139700">
              <a:spcAft>
                <a:spcPts val="1000"/>
              </a:spcAft>
              <a:buFont typeface="Arial"/>
              <a:buChar char="•"/>
            </a:pPr>
            <a:r>
              <a:rPr sz="1400" b="0" i="0">
                <a:solidFill>
                  <a:srgbClr val="000000"/>
                </a:solidFill>
                <a:latin typeface="Arial"/>
              </a:rPr>
              <a:t>Los agentes no accionan puertas ni ascensores, no transportan carga y no cruzan la zona de transición</a:t>
            </a:r>
          </a:p>
        </p:txBody>
      </p:sp>
      <p:sp>
        <p:nvSpPr>
          <p:cNvPr id="8" name="Rounded Rectangle 7"/>
          <p:cNvSpPr/>
          <p:nvPr/>
        </p:nvSpPr>
        <p:spPr>
          <a:xfrm>
            <a:off x="5397500" y="1587500"/>
            <a:ext cx="4254500" cy="3683000"/>
          </a:xfrm>
          <a:prstGeom prst="roundRect">
            <a:avLst>
              <a:gd name="adj" fmla="val 6000"/>
            </a:avLst>
          </a:prstGeom>
          <a:solidFill>
            <a:srgbClr val="FFFFFF"/>
          </a:solidFill>
          <a:ln w="9525">
            <a:solidFill>
              <a:srgbClr val="4472C4"/>
            </a:solidFill>
          </a:ln>
        </p:spPr>
        <p:txBody>
          <a:bodyPr rtlCol="0" anchor="ctr"/>
          <a:lstStyle/>
          <a:p>
            <a:pPr algn="ctr"/>
          </a:p>
        </p:txBody>
      </p:sp>
      <p:sp>
        <p:nvSpPr>
          <p:cNvPr id="9" name="Rounded Rectangle 8"/>
          <p:cNvSpPr/>
          <p:nvPr/>
        </p:nvSpPr>
        <p:spPr>
          <a:xfrm>
            <a:off x="5397500" y="1587500"/>
            <a:ext cx="4254500" cy="558800"/>
          </a:xfrm>
          <a:prstGeom prst="roundRect">
            <a:avLst>
              <a:gd name="adj" fmla="val 20000"/>
            </a:avLst>
          </a:prstGeom>
          <a:solidFill>
            <a:srgbClr val="4472C4"/>
          </a:solidFill>
          <a:ln>
            <a:noFill/>
          </a:ln>
        </p:spPr>
        <p:txBody>
          <a:bodyPr rtlCol="0" anchor="ctr" wrap="square" lIns="50800" tIns="50800" rIns="50800" bIns="50800">
            <a:noAutofit/>
          </a:bodyPr>
          <a:lstStyle/>
          <a:p>
            <a:pPr algn="ctr"/>
            <a:r>
              <a:rPr sz="2200" b="0" i="0">
                <a:solidFill>
                  <a:srgbClr val="FFFFFF"/>
                </a:solidFill>
                <a:latin typeface="Calibri"/>
              </a:rPr>
              <a:t>Marco ambiental</a:t>
            </a:r>
          </a:p>
        </p:txBody>
      </p:sp>
      <p:sp>
        <p:nvSpPr>
          <p:cNvPr id="10" name="TextBox 9"/>
          <p:cNvSpPr txBox="1"/>
          <p:nvPr/>
        </p:nvSpPr>
        <p:spPr>
          <a:xfrm>
            <a:off x="5600700" y="2349500"/>
            <a:ext cx="3873500" cy="2794000"/>
          </a:xfrm>
          <a:prstGeom prst="rect">
            <a:avLst/>
          </a:prstGeom>
          <a:noFill/>
        </p:spPr>
        <p:txBody>
          <a:bodyPr wrap="square" lIns="0" tIns="0" rIns="0" bIns="0" anchor="t">
            <a:noAutofit/>
          </a:bodyPr>
          <a:lstStyle/>
          <a:p>
            <a:pPr algn="l" marL="139700" indent="-139700">
              <a:spcAft>
                <a:spcPts val="1000"/>
              </a:spcAft>
              <a:buFont typeface="Arial"/>
              <a:buChar char="•"/>
            </a:pPr>
            <a:r>
              <a:rPr sz="1400" b="0" i="0">
                <a:solidFill>
                  <a:srgbClr val="000000"/>
                </a:solidFill>
                <a:latin typeface="Arial"/>
              </a:rPr>
              <a:t>Equipo institucional que ya existía: el proyecto no compró los agentes</a:t>
            </a:r>
          </a:p>
          <a:p>
            <a:pPr algn="l" marL="139700" indent="-139700">
              <a:spcAft>
                <a:spcPts val="1000"/>
              </a:spcAft>
              <a:buFont typeface="Arial"/>
              <a:buChar char="•"/>
            </a:pPr>
            <a:r>
              <a:rPr sz="1400" b="0" i="0">
                <a:solidFill>
                  <a:srgbClr val="000000"/>
                </a:solidFill>
                <a:latin typeface="Arial"/>
              </a:rPr>
              <a:t>Baterías pequeñas: una sesión de campo gasta una fracción de su carga</a:t>
            </a:r>
          </a:p>
          <a:p>
            <a:pPr algn="l" marL="139700" indent="-139700">
              <a:spcAft>
                <a:spcPts val="1000"/>
              </a:spcAft>
              <a:buFont typeface="Arial"/>
              <a:buChar char="•"/>
            </a:pPr>
            <a:r>
              <a:rPr sz="1400" b="0" i="0">
                <a:solidFill>
                  <a:srgbClr val="000000"/>
                </a:solidFill>
                <a:latin typeface="Arial"/>
              </a:rPr>
              <a:t>Las baterías de polímero de litio van a los canales de disposición de residuos electrónicos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DESARROLLO</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Recorrido del trabajo</a:t>
            </a:r>
          </a:p>
        </p:txBody>
      </p:sp>
      <p:sp>
        <p:nvSpPr>
          <p:cNvPr id="5" name="Freeform 4"/>
          <p:cNvSpPr/>
          <p:nvPr/>
        </p:nvSpPr>
        <p:spPr>
          <a:xfrm>
            <a:off x="762000" y="1930400"/>
            <a:ext cx="9271000" cy="0"/>
          </a:xfrm>
          <a:custGeom>
            <a:avLst/>
            <a:gdLst/>
            <a:ahLst/>
            <a:cxnLst/>
            <a:rect l="l" t="t" r="r" b="b"/>
            <a:pathLst>
              <a:path w="730" h="0">
                <a:moveTo>
                  <a:pt x="0" y="0"/>
                </a:moveTo>
                <a:lnTo>
                  <a:pt x="730" y="0"/>
                </a:lnTo>
              </a:path>
            </a:pathLst>
          </a:custGeom>
          <a:noFill/>
          <a:ln w="25400">
            <a:solidFill>
              <a:srgbClr val="4472C4"/>
            </a:solidFill>
          </a:ln>
        </p:spPr>
        <p:txBody>
          <a:bodyPr rtlCol="0" anchor="ctr"/>
          <a:lstStyle/>
          <a:p>
            <a:pPr algn="ctr"/>
          </a:p>
        </p:txBody>
      </p:sp>
      <p:sp>
        <p:nvSpPr>
          <p:cNvPr id="6" name="TextBox 5"/>
          <p:cNvSpPr txBox="1"/>
          <p:nvPr/>
        </p:nvSpPr>
        <p:spPr>
          <a:xfrm>
            <a:off x="7239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Feb.–mar.</a:t>
            </a:r>
          </a:p>
        </p:txBody>
      </p:sp>
      <p:sp>
        <p:nvSpPr>
          <p:cNvPr id="7" name="Oval 6"/>
          <p:cNvSpPr/>
          <p:nvPr/>
        </p:nvSpPr>
        <p:spPr>
          <a:xfrm>
            <a:off x="1358900" y="1828800"/>
            <a:ext cx="203200" cy="203200"/>
          </a:xfrm>
          <a:prstGeom prst="ellipse">
            <a:avLst/>
          </a:prstGeom>
          <a:solidFill>
            <a:srgbClr val="4472C4"/>
          </a:solidFill>
          <a:ln w="19050">
            <a:solidFill>
              <a:srgbClr val="FFFFFF"/>
            </a:solidFill>
          </a:ln>
        </p:spPr>
        <p:txBody>
          <a:bodyPr rtlCol="0" anchor="ctr"/>
          <a:lstStyle/>
          <a:p>
            <a:pPr algn="ctr"/>
          </a:p>
        </p:txBody>
      </p:sp>
      <p:sp>
        <p:nvSpPr>
          <p:cNvPr id="8" name="TextBox 7"/>
          <p:cNvSpPr txBox="1"/>
          <p:nvPr/>
        </p:nvSpPr>
        <p:spPr>
          <a:xfrm>
            <a:off x="7239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Planteamiento y requisitos</a:t>
            </a:r>
          </a:p>
        </p:txBody>
      </p:sp>
      <p:sp>
        <p:nvSpPr>
          <p:cNvPr id="9" name="TextBox 8"/>
          <p:cNvSpPr txBox="1"/>
          <p:nvPr/>
        </p:nvSpPr>
        <p:spPr>
          <a:xfrm>
            <a:off x="7239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Anteproyecto y sustentación; requisitos funcionales y restricciones</a:t>
            </a:r>
          </a:p>
        </p:txBody>
      </p:sp>
      <p:sp>
        <p:nvSpPr>
          <p:cNvPr id="10" name="TextBox 9"/>
          <p:cNvSpPr txBox="1"/>
          <p:nvPr/>
        </p:nvSpPr>
        <p:spPr>
          <a:xfrm>
            <a:off x="22606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Abril</a:t>
            </a:r>
          </a:p>
        </p:txBody>
      </p:sp>
      <p:sp>
        <p:nvSpPr>
          <p:cNvPr id="11" name="Oval 10"/>
          <p:cNvSpPr/>
          <p:nvPr/>
        </p:nvSpPr>
        <p:spPr>
          <a:xfrm>
            <a:off x="2895600" y="1828800"/>
            <a:ext cx="203200" cy="203200"/>
          </a:xfrm>
          <a:prstGeom prst="ellipse">
            <a:avLst/>
          </a:prstGeom>
          <a:solidFill>
            <a:srgbClr val="4472C4"/>
          </a:solidFill>
          <a:ln w="19050">
            <a:solidFill>
              <a:srgbClr val="FFFFFF"/>
            </a:solidFill>
          </a:ln>
        </p:spPr>
        <p:txBody>
          <a:bodyPr rtlCol="0" anchor="ctr"/>
          <a:lstStyle/>
          <a:p>
            <a:pPr algn="ctr"/>
          </a:p>
        </p:txBody>
      </p:sp>
      <p:sp>
        <p:nvSpPr>
          <p:cNvPr id="12" name="TextBox 11"/>
          <p:cNvSpPr txBox="1"/>
          <p:nvPr/>
        </p:nvSpPr>
        <p:spPr>
          <a:xfrm>
            <a:off x="22606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Diseño conceptual</a:t>
            </a:r>
          </a:p>
        </p:txBody>
      </p:sp>
      <p:sp>
        <p:nvSpPr>
          <p:cNvPr id="13" name="TextBox 12"/>
          <p:cNvSpPr txBox="1"/>
          <p:nvPr/>
        </p:nvSpPr>
        <p:spPr>
          <a:xfrm>
            <a:off x="22606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Análisis del DonkeyCar; modelo del AWS DeepRacer en ROS 2 Humble</a:t>
            </a:r>
          </a:p>
        </p:txBody>
      </p:sp>
      <p:sp>
        <p:nvSpPr>
          <p:cNvPr id="14" name="TextBox 13"/>
          <p:cNvSpPr txBox="1"/>
          <p:nvPr/>
        </p:nvSpPr>
        <p:spPr>
          <a:xfrm>
            <a:off x="37973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May.–jun.</a:t>
            </a:r>
          </a:p>
        </p:txBody>
      </p:sp>
      <p:sp>
        <p:nvSpPr>
          <p:cNvPr id="15" name="Oval 14"/>
          <p:cNvSpPr/>
          <p:nvPr/>
        </p:nvSpPr>
        <p:spPr>
          <a:xfrm>
            <a:off x="4432300" y="1828800"/>
            <a:ext cx="203200" cy="203200"/>
          </a:xfrm>
          <a:prstGeom prst="ellipse">
            <a:avLst/>
          </a:prstGeom>
          <a:solidFill>
            <a:srgbClr val="4472C4"/>
          </a:solidFill>
          <a:ln w="19050">
            <a:solidFill>
              <a:srgbClr val="FFFFFF"/>
            </a:solidFill>
          </a:ln>
        </p:spPr>
        <p:txBody>
          <a:bodyPr rtlCol="0" anchor="ctr"/>
          <a:lstStyle/>
          <a:p>
            <a:pPr algn="ctr"/>
          </a:p>
        </p:txBody>
      </p:sp>
      <p:sp>
        <p:nvSpPr>
          <p:cNvPr id="16" name="TextBox 15"/>
          <p:cNvSpPr txBox="1"/>
          <p:nvPr/>
        </p:nvSpPr>
        <p:spPr>
          <a:xfrm>
            <a:off x="37973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Desarrollo progresivo</a:t>
            </a:r>
          </a:p>
        </p:txBody>
      </p:sp>
      <p:sp>
        <p:nvSpPr>
          <p:cNvPr id="17" name="TextBox 16"/>
          <p:cNvSpPr txBox="1"/>
          <p:nvPr/>
        </p:nvSpPr>
        <p:spPr>
          <a:xfrm>
            <a:off x="37973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Pasillo en Gazebo; seguidor de paredes, descartado; primer mapa con SLAM</a:t>
            </a:r>
          </a:p>
        </p:txBody>
      </p:sp>
      <p:sp>
        <p:nvSpPr>
          <p:cNvPr id="18" name="TextBox 17"/>
          <p:cNvSpPr txBox="1"/>
          <p:nvPr/>
        </p:nvSpPr>
        <p:spPr>
          <a:xfrm>
            <a:off x="53340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Agosto</a:t>
            </a:r>
          </a:p>
        </p:txBody>
      </p:sp>
      <p:sp>
        <p:nvSpPr>
          <p:cNvPr id="19" name="Oval 18"/>
          <p:cNvSpPr/>
          <p:nvPr/>
        </p:nvSpPr>
        <p:spPr>
          <a:xfrm>
            <a:off x="5969000" y="1828800"/>
            <a:ext cx="203200" cy="203200"/>
          </a:xfrm>
          <a:prstGeom prst="ellipse">
            <a:avLst/>
          </a:prstGeom>
          <a:solidFill>
            <a:srgbClr val="4472C4"/>
          </a:solidFill>
          <a:ln w="19050">
            <a:solidFill>
              <a:srgbClr val="FFFFFF"/>
            </a:solidFill>
          </a:ln>
        </p:spPr>
        <p:txBody>
          <a:bodyPr rtlCol="0" anchor="ctr"/>
          <a:lstStyle/>
          <a:p>
            <a:pPr algn="ctr"/>
          </a:p>
        </p:txBody>
      </p:sp>
      <p:sp>
        <p:nvSpPr>
          <p:cNvPr id="20" name="TextBox 19"/>
          <p:cNvSpPr txBox="1"/>
          <p:nvPr/>
        </p:nvSpPr>
        <p:spPr>
          <a:xfrm>
            <a:off x="53340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Integración</a:t>
            </a:r>
          </a:p>
        </p:txBody>
      </p:sp>
      <p:sp>
        <p:nvSpPr>
          <p:cNvPr id="21" name="TextBox 20"/>
          <p:cNvSpPr txBox="1"/>
          <p:nvPr/>
        </p:nvSpPr>
        <p:spPr>
          <a:xfrm>
            <a:off x="53340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Nav2 para dirección Ackermann; contrato de interfaces; primera misión con relevo</a:t>
            </a:r>
          </a:p>
        </p:txBody>
      </p:sp>
      <p:sp>
        <p:nvSpPr>
          <p:cNvPr id="22" name="TextBox 21"/>
          <p:cNvSpPr txBox="1"/>
          <p:nvPr/>
        </p:nvSpPr>
        <p:spPr>
          <a:xfrm>
            <a:off x="68707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Septiembre</a:t>
            </a:r>
          </a:p>
        </p:txBody>
      </p:sp>
      <p:sp>
        <p:nvSpPr>
          <p:cNvPr id="23" name="Oval 22"/>
          <p:cNvSpPr/>
          <p:nvPr/>
        </p:nvSpPr>
        <p:spPr>
          <a:xfrm>
            <a:off x="7505700" y="1828800"/>
            <a:ext cx="203200" cy="203200"/>
          </a:xfrm>
          <a:prstGeom prst="ellipse">
            <a:avLst/>
          </a:prstGeom>
          <a:solidFill>
            <a:srgbClr val="4472C4"/>
          </a:solidFill>
          <a:ln w="19050">
            <a:solidFill>
              <a:srgbClr val="FFFFFF"/>
            </a:solidFill>
          </a:ln>
        </p:spPr>
        <p:txBody>
          <a:bodyPr rtlCol="0" anchor="ctr"/>
          <a:lstStyle/>
          <a:p>
            <a:pPr algn="ctr"/>
          </a:p>
        </p:txBody>
      </p:sp>
      <p:sp>
        <p:nvSpPr>
          <p:cNvPr id="24" name="TextBox 23"/>
          <p:cNvSpPr txBox="1"/>
          <p:nvPr/>
        </p:nvSpPr>
        <p:spPr>
          <a:xfrm>
            <a:off x="68707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Integración y validación</a:t>
            </a:r>
          </a:p>
        </p:txBody>
      </p:sp>
      <p:sp>
        <p:nvSpPr>
          <p:cNvPr id="25" name="TextBox 24"/>
          <p:cNvSpPr txBox="1"/>
          <p:nvPr/>
        </p:nvSpPr>
        <p:spPr>
          <a:xfrm>
            <a:off x="68707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Campaña de 30 misiones en simulación; interfaz en el teléfono; segundo agente</a:t>
            </a:r>
          </a:p>
        </p:txBody>
      </p:sp>
      <p:sp>
        <p:nvSpPr>
          <p:cNvPr id="26" name="TextBox 25"/>
          <p:cNvSpPr txBox="1"/>
          <p:nvPr/>
        </p:nvSpPr>
        <p:spPr>
          <a:xfrm>
            <a:off x="8407400" y="1473200"/>
            <a:ext cx="1473200" cy="279400"/>
          </a:xfrm>
          <a:prstGeom prst="rect">
            <a:avLst/>
          </a:prstGeom>
          <a:noFill/>
        </p:spPr>
        <p:txBody>
          <a:bodyPr wrap="square" lIns="0" tIns="0" rIns="0" bIns="0" anchor="t">
            <a:noAutofit/>
          </a:bodyPr>
          <a:lstStyle/>
          <a:p>
            <a:pPr algn="ctr"/>
            <a:r>
              <a:rPr sz="1400" b="1" i="0">
                <a:solidFill>
                  <a:srgbClr val="001F5F"/>
                </a:solidFill>
                <a:latin typeface="Arial"/>
              </a:rPr>
              <a:t>Octubre</a:t>
            </a:r>
          </a:p>
        </p:txBody>
      </p:sp>
      <p:sp>
        <p:nvSpPr>
          <p:cNvPr id="27" name="Oval 26"/>
          <p:cNvSpPr/>
          <p:nvPr/>
        </p:nvSpPr>
        <p:spPr>
          <a:xfrm>
            <a:off x="9042400" y="1828800"/>
            <a:ext cx="203200" cy="203200"/>
          </a:xfrm>
          <a:prstGeom prst="ellipse">
            <a:avLst/>
          </a:prstGeom>
          <a:solidFill>
            <a:srgbClr val="4472C4"/>
          </a:solidFill>
          <a:ln w="19050">
            <a:solidFill>
              <a:srgbClr val="FFFFFF"/>
            </a:solidFill>
          </a:ln>
        </p:spPr>
        <p:txBody>
          <a:bodyPr rtlCol="0" anchor="ctr"/>
          <a:lstStyle/>
          <a:p>
            <a:pPr algn="ctr"/>
          </a:p>
        </p:txBody>
      </p:sp>
      <p:sp>
        <p:nvSpPr>
          <p:cNvPr id="28" name="TextBox 27"/>
          <p:cNvSpPr txBox="1"/>
          <p:nvPr/>
        </p:nvSpPr>
        <p:spPr>
          <a:xfrm>
            <a:off x="8407400" y="2108200"/>
            <a:ext cx="1473200" cy="431800"/>
          </a:xfrm>
          <a:prstGeom prst="rect">
            <a:avLst/>
          </a:prstGeom>
          <a:noFill/>
        </p:spPr>
        <p:txBody>
          <a:bodyPr wrap="square" lIns="0" tIns="0" rIns="0" bIns="0" anchor="t">
            <a:noAutofit/>
          </a:bodyPr>
          <a:lstStyle/>
          <a:p>
            <a:pPr algn="ctr"/>
            <a:r>
              <a:rPr sz="1200" b="1" i="0">
                <a:solidFill>
                  <a:srgbClr val="4472C4"/>
                </a:solidFill>
                <a:latin typeface="Arial"/>
              </a:rPr>
              <a:t>Validación</a:t>
            </a:r>
          </a:p>
        </p:txBody>
      </p:sp>
      <p:sp>
        <p:nvSpPr>
          <p:cNvPr id="29" name="TextBox 28"/>
          <p:cNvSpPr txBox="1"/>
          <p:nvPr/>
        </p:nvSpPr>
        <p:spPr>
          <a:xfrm>
            <a:off x="8407400" y="2565400"/>
            <a:ext cx="1473200" cy="1270000"/>
          </a:xfrm>
          <a:prstGeom prst="rect">
            <a:avLst/>
          </a:prstGeom>
          <a:noFill/>
        </p:spPr>
        <p:txBody>
          <a:bodyPr wrap="square" lIns="0" tIns="0" rIns="0" bIns="0" anchor="t">
            <a:noAutofit/>
          </a:bodyPr>
          <a:lstStyle/>
          <a:p>
            <a:pPr algn="ctr"/>
            <a:r>
              <a:rPr sz="1150" b="0" i="0">
                <a:solidFill>
                  <a:srgbClr val="000000"/>
                </a:solidFill>
                <a:latin typeface="Arial"/>
              </a:rPr>
              <a:t>Pisos 3 y 4 de Catalayud; unidad inercial; campaña física el 16 de octubre</a:t>
            </a:r>
          </a:p>
        </p:txBody>
      </p:sp>
      <p:pic>
        <p:nvPicPr>
          <p:cNvPr id="30" name="Picture 29" descr="donkeycar.jpg"/>
          <p:cNvPicPr>
            <a:picLocks noChangeAspect="1"/>
          </p:cNvPicPr>
          <p:nvPr/>
        </p:nvPicPr>
        <p:blipFill>
          <a:blip r:embed="rId4"/>
          <a:stretch>
            <a:fillRect/>
          </a:stretch>
        </p:blipFill>
        <p:spPr>
          <a:xfrm>
            <a:off x="998774" y="4038600"/>
            <a:ext cx="1609250" cy="1422400"/>
          </a:xfrm>
          <a:prstGeom prst="rect">
            <a:avLst/>
          </a:prstGeom>
        </p:spPr>
      </p:pic>
      <p:sp>
        <p:nvSpPr>
          <p:cNvPr id="31" name="TextBox 30"/>
          <p:cNvSpPr txBox="1"/>
          <p:nvPr/>
        </p:nvSpPr>
        <p:spPr>
          <a:xfrm>
            <a:off x="787400" y="5499100"/>
            <a:ext cx="2032000" cy="177800"/>
          </a:xfrm>
          <a:prstGeom prst="rect">
            <a:avLst/>
          </a:prstGeom>
          <a:noFill/>
        </p:spPr>
        <p:txBody>
          <a:bodyPr wrap="square" lIns="0" tIns="0" rIns="0" bIns="0" anchor="t">
            <a:noAutofit/>
          </a:bodyPr>
          <a:lstStyle/>
          <a:p>
            <a:pPr algn="ctr"/>
            <a:r>
              <a:rPr sz="900" b="0" i="0">
                <a:solidFill>
                  <a:srgbClr val="404040"/>
                </a:solidFill>
                <a:latin typeface="Arial"/>
              </a:rPr>
              <a:t>DonkeyCar. Fuente: docs.donkeycar.com</a:t>
            </a:r>
          </a:p>
        </p:txBody>
      </p:sp>
      <p:pic>
        <p:nvPicPr>
          <p:cNvPr id="32" name="Picture 31" descr="deepracer.jpg"/>
          <p:cNvPicPr>
            <a:picLocks noChangeAspect="1"/>
          </p:cNvPicPr>
          <p:nvPr/>
        </p:nvPicPr>
        <p:blipFill>
          <a:blip r:embed="rId5"/>
          <a:stretch>
            <a:fillRect/>
          </a:stretch>
        </p:blipFill>
        <p:spPr>
          <a:xfrm>
            <a:off x="3009900" y="4073800"/>
            <a:ext cx="2032000" cy="1352000"/>
          </a:xfrm>
          <a:prstGeom prst="rect">
            <a:avLst/>
          </a:prstGeom>
        </p:spPr>
      </p:pic>
      <p:sp>
        <p:nvSpPr>
          <p:cNvPr id="33" name="TextBox 32"/>
          <p:cNvSpPr txBox="1"/>
          <p:nvPr/>
        </p:nvSpPr>
        <p:spPr>
          <a:xfrm>
            <a:off x="3009900" y="5463900"/>
            <a:ext cx="2032000" cy="177800"/>
          </a:xfrm>
          <a:prstGeom prst="rect">
            <a:avLst/>
          </a:prstGeom>
          <a:noFill/>
        </p:spPr>
        <p:txBody>
          <a:bodyPr wrap="square" lIns="0" tIns="0" rIns="0" bIns="0" anchor="t">
            <a:noAutofit/>
          </a:bodyPr>
          <a:lstStyle/>
          <a:p>
            <a:pPr algn="ctr"/>
            <a:r>
              <a:rPr sz="900" b="0" i="0">
                <a:solidFill>
                  <a:srgbClr val="404040"/>
                </a:solidFill>
                <a:latin typeface="Arial"/>
              </a:rPr>
              <a:t>AWS DeepRacer. Fuente: aws.amazon.com/es/deepracer</a:t>
            </a:r>
          </a:p>
        </p:txBody>
      </p:sp>
      <p:pic>
        <p:nvPicPr>
          <p:cNvPr id="34" name="Picture 33" descr="simulacion_relevo_dos_procesos.png"/>
          <p:cNvPicPr>
            <a:picLocks noChangeAspect="1"/>
          </p:cNvPicPr>
          <p:nvPr/>
        </p:nvPicPr>
        <p:blipFill>
          <a:blip r:embed="rId6"/>
          <a:stretch>
            <a:fillRect/>
          </a:stretch>
        </p:blipFill>
        <p:spPr>
          <a:xfrm>
            <a:off x="5232400" y="4178300"/>
            <a:ext cx="2032000" cy="1143000"/>
          </a:xfrm>
          <a:prstGeom prst="rect">
            <a:avLst/>
          </a:prstGeom>
        </p:spPr>
      </p:pic>
      <p:sp>
        <p:nvSpPr>
          <p:cNvPr id="35" name="TextBox 34"/>
          <p:cNvSpPr txBox="1"/>
          <p:nvPr/>
        </p:nvSpPr>
        <p:spPr>
          <a:xfrm>
            <a:off x="5232400" y="5359400"/>
            <a:ext cx="2032000" cy="177800"/>
          </a:xfrm>
          <a:prstGeom prst="rect">
            <a:avLst/>
          </a:prstGeom>
          <a:noFill/>
        </p:spPr>
        <p:txBody>
          <a:bodyPr wrap="square" lIns="0" tIns="0" rIns="0" bIns="0" anchor="t">
            <a:noAutofit/>
          </a:bodyPr>
          <a:lstStyle/>
          <a:p>
            <a:pPr algn="ctr"/>
            <a:r>
              <a:rPr sz="900" b="0" i="0">
                <a:solidFill>
                  <a:srgbClr val="404040"/>
                </a:solidFill>
                <a:latin typeface="Arial"/>
              </a:rPr>
              <a:t>Misión con relevo en simulación. Fuente: Elaboración propia</a:t>
            </a:r>
          </a:p>
        </p:txBody>
      </p:sp>
      <p:pic>
        <p:nvPicPr>
          <p:cNvPr id="36" name="Picture 35" descr="foto_escalera.jpg"/>
          <p:cNvPicPr>
            <a:picLocks noChangeAspect="1"/>
          </p:cNvPicPr>
          <p:nvPr/>
        </p:nvPicPr>
        <p:blipFill>
          <a:blip r:embed="rId7"/>
          <a:stretch>
            <a:fillRect/>
          </a:stretch>
        </p:blipFill>
        <p:spPr>
          <a:xfrm>
            <a:off x="7454900" y="4178675"/>
            <a:ext cx="2032000" cy="1142248"/>
          </a:xfrm>
          <a:prstGeom prst="rect">
            <a:avLst/>
          </a:prstGeom>
        </p:spPr>
      </p:pic>
      <p:sp>
        <p:nvSpPr>
          <p:cNvPr id="37" name="TextBox 36"/>
          <p:cNvSpPr txBox="1"/>
          <p:nvPr/>
        </p:nvSpPr>
        <p:spPr>
          <a:xfrm>
            <a:off x="7454900" y="5359024"/>
            <a:ext cx="2032000" cy="177800"/>
          </a:xfrm>
          <a:prstGeom prst="rect">
            <a:avLst/>
          </a:prstGeom>
          <a:noFill/>
        </p:spPr>
        <p:txBody>
          <a:bodyPr wrap="square" lIns="0" tIns="0" rIns="0" bIns="0" anchor="t">
            <a:noAutofit/>
          </a:bodyPr>
          <a:lstStyle/>
          <a:p>
            <a:pPr algn="ctr"/>
            <a:r>
              <a:rPr sz="900" b="0" i="0">
                <a:solidFill>
                  <a:srgbClr val="404040"/>
                </a:solidFill>
                <a:latin typeface="Arial"/>
              </a:rPr>
              <a:t>Campaña en Catalayud. Fuente: Elaboración propia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Arquitectura funcional</a:t>
            </a:r>
          </a:p>
        </p:txBody>
      </p:sp>
      <p:pic>
        <p:nvPicPr>
          <p:cNvPr id="5" name="Picture 4" descr="arquitectura_vehiculos.png"/>
          <p:cNvPicPr>
            <a:picLocks noChangeAspect="1"/>
          </p:cNvPicPr>
          <p:nvPr/>
        </p:nvPicPr>
        <p:blipFill>
          <a:blip r:embed="rId4"/>
          <a:stretch>
            <a:fillRect/>
          </a:stretch>
        </p:blipFill>
        <p:spPr>
          <a:xfrm>
            <a:off x="812800" y="1320800"/>
            <a:ext cx="6159500" cy="4927600"/>
          </a:xfrm>
          <a:prstGeom prst="rect">
            <a:avLst/>
          </a:prstGeom>
        </p:spPr>
      </p:pic>
      <p:sp>
        <p:nvSpPr>
          <p:cNvPr id="6" name="TextBox 5"/>
          <p:cNvSpPr txBox="1"/>
          <p:nvPr/>
        </p:nvSpPr>
        <p:spPr>
          <a:xfrm>
            <a:off x="812800" y="6273800"/>
            <a:ext cx="6159500" cy="177800"/>
          </a:xfrm>
          <a:prstGeom prst="rect">
            <a:avLst/>
          </a:prstGeom>
          <a:noFill/>
        </p:spPr>
        <p:txBody>
          <a:bodyPr wrap="square" lIns="0" tIns="0" rIns="0" bIns="0" anchor="t">
            <a:noAutofit/>
          </a:bodyPr>
          <a:lstStyle/>
          <a:p>
            <a:pPr algn="l"/>
            <a:r>
              <a:rPr sz="900" b="0" i="0">
                <a:solidFill>
                  <a:srgbClr val="404040"/>
                </a:solidFill>
                <a:latin typeface="Arial"/>
              </a:rPr>
              <a:t>Arquitectura en la campaña con los agentes físicos. Fuente: Elaboración propia</a:t>
            </a:r>
          </a:p>
        </p:txBody>
      </p:sp>
      <p:sp>
        <p:nvSpPr>
          <p:cNvPr id="7" name="TextBox 6"/>
          <p:cNvSpPr txBox="1"/>
          <p:nvPr/>
        </p:nvSpPr>
        <p:spPr>
          <a:xfrm>
            <a:off x="7264400" y="1371600"/>
            <a:ext cx="3238500" cy="304800"/>
          </a:xfrm>
          <a:prstGeom prst="rect">
            <a:avLst/>
          </a:prstGeom>
          <a:noFill/>
        </p:spPr>
        <p:txBody>
          <a:bodyPr wrap="square" lIns="0" tIns="0" rIns="0" bIns="0" anchor="t">
            <a:noAutofit/>
          </a:bodyPr>
          <a:lstStyle/>
          <a:p>
            <a:pPr algn="l"/>
            <a:r>
              <a:rPr sz="1600" b="1" i="0">
                <a:solidFill>
                  <a:srgbClr val="001F5F"/>
                </a:solidFill>
                <a:latin typeface="Arial"/>
              </a:rPr>
              <a:t>Contrato de interfaces</a:t>
            </a:r>
          </a:p>
        </p:txBody>
      </p:sp>
      <p:sp>
        <p:nvSpPr>
          <p:cNvPr id="8" name="TextBox 7"/>
          <p:cNvSpPr txBox="1"/>
          <p:nvPr/>
        </p:nvSpPr>
        <p:spPr>
          <a:xfrm>
            <a:off x="7264400" y="1727200"/>
            <a:ext cx="3238500" cy="2159000"/>
          </a:xfrm>
          <a:prstGeom prst="rect">
            <a:avLst/>
          </a:prstGeom>
          <a:noFill/>
        </p:spPr>
        <p:txBody>
          <a:bodyPr wrap="square" lIns="0" tIns="0" rIns="0" bIns="0" anchor="t">
            <a:noAutofit/>
          </a:bodyPr>
          <a:lstStyle/>
          <a:p>
            <a:pPr algn="l">
              <a:spcAft>
                <a:spcPts val="700"/>
              </a:spcAft>
            </a:pPr>
            <a:r>
              <a:rPr sz="1300" b="0" i="0">
                <a:solidFill>
                  <a:srgbClr val="000000"/>
                </a:solidFill>
                <a:latin typeface="Arial"/>
              </a:rPr>
              <a:t>1. El coordinador mueve a un agente solo con la acción de navegación de ROS 2, o con la media vuelta</a:t>
            </a:r>
          </a:p>
          <a:p>
            <a:pPr algn="l">
              <a:spcAft>
                <a:spcPts val="700"/>
              </a:spcAft>
            </a:pPr>
            <a:r>
              <a:rPr sz="1300" b="0" i="0">
                <a:solidFill>
                  <a:srgbClr val="000000"/>
                </a:solidFill>
                <a:latin typeface="Arial"/>
              </a:rPr>
              <a:t>2. La interfaz habla solo con el coordinador, nunca con los agentes</a:t>
            </a:r>
          </a:p>
          <a:p>
            <a:pPr algn="l">
              <a:spcAft>
                <a:spcPts val="700"/>
              </a:spcAft>
            </a:pPr>
            <a:r>
              <a:rPr sz="1300" b="0" i="0">
                <a:solidFill>
                  <a:srgbClr val="000000"/>
                </a:solidFill>
                <a:latin typeface="Arial"/>
              </a:rPr>
              <a:t>3. El texto que ve el usuario lo redacta el coordinador, y la interfaz lo muestra literal</a:t>
            </a:r>
          </a:p>
        </p:txBody>
      </p:sp>
      <p:sp>
        <p:nvSpPr>
          <p:cNvPr id="9" name="TextBox 8"/>
          <p:cNvSpPr txBox="1"/>
          <p:nvPr/>
        </p:nvSpPr>
        <p:spPr>
          <a:xfrm>
            <a:off x="7264400" y="3860800"/>
            <a:ext cx="3238500" cy="304800"/>
          </a:xfrm>
          <a:prstGeom prst="rect">
            <a:avLst/>
          </a:prstGeom>
          <a:noFill/>
        </p:spPr>
        <p:txBody>
          <a:bodyPr wrap="square" lIns="0" tIns="0" rIns="0" bIns="0" anchor="t">
            <a:noAutofit/>
          </a:bodyPr>
          <a:lstStyle/>
          <a:p>
            <a:pPr algn="l"/>
            <a:r>
              <a:rPr sz="1600" b="1" i="0">
                <a:solidFill>
                  <a:srgbClr val="001F5F"/>
                </a:solidFill>
                <a:latin typeface="Arial"/>
              </a:rPr>
              <a:t>Requisitos</a:t>
            </a:r>
          </a:p>
        </p:txBody>
      </p:sp>
      <p:sp>
        <p:nvSpPr>
          <p:cNvPr id="10" name="TextBox 9"/>
          <p:cNvSpPr txBox="1"/>
          <p:nvPr/>
        </p:nvSpPr>
        <p:spPr>
          <a:xfrm>
            <a:off x="7264400" y="4191000"/>
            <a:ext cx="3048000" cy="889000"/>
          </a:xfrm>
          <a:prstGeom prst="rect">
            <a:avLst/>
          </a:prstGeom>
          <a:noFill/>
        </p:spPr>
        <p:txBody>
          <a:bodyPr wrap="square" lIns="0" tIns="0" rIns="0" bIns="0" anchor="t">
            <a:noAutofit/>
          </a:bodyPr>
          <a:lstStyle/>
          <a:p>
            <a:pPr algn="l"/>
            <a:r>
              <a:rPr sz="1300" b="0" i="0">
                <a:solidFill>
                  <a:srgbClr val="000000"/>
                </a:solidFill>
                <a:latin typeface="Arial"/>
              </a:rPr>
              <a:t>36 requisitos, cada uno con la prueba que lo declara cumplido: 29 funcionales y 7 restricciones del alcance</a:t>
            </a:r>
          </a:p>
        </p:txBody>
      </p:sp>
      <p:sp>
        <p:nvSpPr>
          <p:cNvPr id="11" name="TextBox 10"/>
          <p:cNvSpPr txBox="1"/>
          <p:nvPr/>
        </p:nvSpPr>
        <p:spPr>
          <a:xfrm>
            <a:off x="7264400" y="5054600"/>
            <a:ext cx="2540000" cy="762000"/>
          </a:xfrm>
          <a:prstGeom prst="rect">
            <a:avLst/>
          </a:prstGeom>
          <a:noFill/>
        </p:spPr>
        <p:txBody>
          <a:bodyPr wrap="square" lIns="0" tIns="0" rIns="0" bIns="0" anchor="t">
            <a:noAutofit/>
          </a:bodyPr>
          <a:lstStyle/>
          <a:p>
            <a:pPr algn="l"/>
            <a:r>
              <a:rPr sz="1300" b="1" i="0">
                <a:solidFill>
                  <a:srgbClr val="4472C4"/>
                </a:solidFill>
                <a:latin typeface="Arial"/>
              </a:rPr>
              <a:t>Mismo código en simulación y con los agentes físicos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Planificación del relevo</a:t>
            </a:r>
          </a:p>
        </p:txBody>
      </p:sp>
      <p:pic>
        <p:nvPicPr>
          <p:cNvPr id="5" name="Picture 4" descr="planificador.png"/>
          <p:cNvPicPr>
            <a:picLocks noChangeAspect="1"/>
          </p:cNvPicPr>
          <p:nvPr/>
        </p:nvPicPr>
        <p:blipFill>
          <a:blip r:embed="rId4"/>
          <a:stretch>
            <a:fillRect/>
          </a:stretch>
        </p:blipFill>
        <p:spPr>
          <a:xfrm>
            <a:off x="812800" y="1320800"/>
            <a:ext cx="5651500" cy="2825750"/>
          </a:xfrm>
          <a:prstGeom prst="rect">
            <a:avLst/>
          </a:prstGeom>
        </p:spPr>
      </p:pic>
      <p:sp>
        <p:nvSpPr>
          <p:cNvPr id="6" name="TextBox 5"/>
          <p:cNvSpPr txBox="1"/>
          <p:nvPr/>
        </p:nvSpPr>
        <p:spPr>
          <a:xfrm>
            <a:off x="812800" y="4159250"/>
            <a:ext cx="5651500" cy="177800"/>
          </a:xfrm>
          <a:prstGeom prst="rect">
            <a:avLst/>
          </a:prstGeom>
          <a:noFill/>
        </p:spPr>
        <p:txBody>
          <a:bodyPr wrap="square" lIns="0" tIns="0" rIns="0" bIns="0" anchor="t">
            <a:noAutofit/>
          </a:bodyPr>
          <a:lstStyle/>
          <a:p>
            <a:pPr algn="l"/>
            <a:r>
              <a:rPr sz="900" b="0" i="0">
                <a:solidFill>
                  <a:srgbClr val="404040"/>
                </a:solidFill>
                <a:latin typeface="Arial"/>
              </a:rPr>
              <a:t>Función que planifica una misión. Fuente: Elaboración propia</a:t>
            </a:r>
          </a:p>
        </p:txBody>
      </p:sp>
      <p:sp>
        <p:nvSpPr>
          <p:cNvPr id="7" name="TextBox 6"/>
          <p:cNvSpPr txBox="1"/>
          <p:nvPr/>
        </p:nvSpPr>
        <p:spPr>
          <a:xfrm>
            <a:off x="6629400" y="1397000"/>
            <a:ext cx="4038600" cy="3175000"/>
          </a:xfrm>
          <a:prstGeom prst="rect">
            <a:avLst/>
          </a:prstGeom>
          <a:noFill/>
        </p:spPr>
        <p:txBody>
          <a:bodyPr wrap="square" lIns="0" tIns="0" rIns="0" bIns="0" anchor="t">
            <a:noAutofit/>
          </a:bodyPr>
          <a:lstStyle/>
          <a:p>
            <a:pPr algn="l" marL="139700" indent="-139700">
              <a:spcAft>
                <a:spcPts val="800"/>
              </a:spcAft>
              <a:buFont typeface="Arial"/>
              <a:buChar char="•"/>
            </a:pPr>
            <a:r>
              <a:rPr sz="1350" b="0" i="0">
                <a:solidFill>
                  <a:srgbClr val="000000"/>
                </a:solidFill>
                <a:latin typeface="Arial"/>
              </a:rPr>
              <a:t>Función pura, sin ROS 2: recibe el catálogo, el origen y el destino, y devuelve los tramos o un error con su motivo</a:t>
            </a:r>
          </a:p>
          <a:p>
            <a:pPr algn="l" marL="139700" indent="-139700">
              <a:spcAft>
                <a:spcPts val="800"/>
              </a:spcAft>
              <a:buFont typeface="Arial"/>
              <a:buChar char="•"/>
            </a:pPr>
            <a:r>
              <a:rPr sz="1350" b="0" i="0">
                <a:solidFill>
                  <a:srgbClr val="000000"/>
                </a:solidFill>
                <a:latin typeface="Arial"/>
              </a:rPr>
              <a:t>Mismo piso: dos tramos de un agente. Pisos distintos: cuatro tramos y un relevo</a:t>
            </a:r>
          </a:p>
          <a:p>
            <a:pPr algn="l" marL="139700" indent="-139700">
              <a:spcAft>
                <a:spcPts val="800"/>
              </a:spcAft>
              <a:buFont typeface="Arial"/>
              <a:buChar char="•"/>
            </a:pPr>
            <a:r>
              <a:rPr sz="1350" b="0" i="0">
                <a:solidFill>
                  <a:srgbClr val="000000"/>
                </a:solidFill>
                <a:latin typeface="Arial"/>
              </a:rPr>
              <a:t>Una prueba automática planifica las 930 solicitudes posibles (31 × 30 puntos) en milisegundos, sin simulador</a:t>
            </a:r>
          </a:p>
          <a:p>
            <a:pPr algn="l" marL="139700" indent="-139700">
              <a:spcAft>
                <a:spcPts val="800"/>
              </a:spcAft>
              <a:buFont typeface="Arial"/>
              <a:buChar char="•"/>
            </a:pPr>
            <a:r>
              <a:rPr sz="1350" b="0" i="0">
                <a:solidFill>
                  <a:srgbClr val="000000"/>
                </a:solidFill>
                <a:latin typeface="Arial"/>
              </a:rPr>
              <a:t>Un agente por nivel: la asignación es ST–SR–IA, y el método húngaro devolvería la misma tabla</a:t>
            </a:r>
          </a:p>
        </p:txBody>
      </p:sp>
      <p:sp>
        <p:nvSpPr>
          <p:cNvPr id="8" name="TextBox 7"/>
          <p:cNvSpPr txBox="1"/>
          <p:nvPr/>
        </p:nvSpPr>
        <p:spPr>
          <a:xfrm>
            <a:off x="812800" y="4445000"/>
            <a:ext cx="5080000" cy="228600"/>
          </a:xfrm>
          <a:prstGeom prst="rect">
            <a:avLst/>
          </a:prstGeom>
          <a:noFill/>
        </p:spPr>
        <p:txBody>
          <a:bodyPr wrap="square" lIns="0" tIns="0" rIns="0" bIns="0" anchor="t">
            <a:noAutofit/>
          </a:bodyPr>
          <a:lstStyle/>
          <a:p>
            <a:pPr algn="l"/>
            <a:r>
              <a:rPr sz="1100" b="0" i="0">
                <a:solidFill>
                  <a:srgbClr val="404040"/>
                </a:solidFill>
                <a:latin typeface="Arial"/>
              </a:rPr>
              <a:t>Etapas de una misión, como las publica el coordinador</a:t>
            </a:r>
          </a:p>
        </p:txBody>
      </p:sp>
      <p:sp>
        <p:nvSpPr>
          <p:cNvPr id="9" name="Pentagon 8"/>
          <p:cNvSpPr/>
          <p:nvPr/>
        </p:nvSpPr>
        <p:spPr>
          <a:xfrm>
            <a:off x="812800" y="4699000"/>
            <a:ext cx="1524000" cy="609600"/>
          </a:xfrm>
          <a:prstGeom prst="homePlate">
            <a:avLst/>
          </a:prstGeom>
          <a:solidFill>
            <a:srgbClr val="4472C4"/>
          </a:solidFill>
          <a:ln>
            <a:noFill/>
          </a:ln>
        </p:spPr>
        <p:txBody>
          <a:bodyPr rtlCol="0" anchor="ctr"/>
          <a:lstStyle/>
          <a:p>
            <a:pPr algn="ctr"/>
          </a:p>
        </p:txBody>
      </p:sp>
      <p:sp>
        <p:nvSpPr>
          <p:cNvPr id="10" name="TextBox 9"/>
          <p:cNvSpPr txBox="1"/>
          <p:nvPr/>
        </p:nvSpPr>
        <p:spPr>
          <a:xfrm>
            <a:off x="889000" y="4699000"/>
            <a:ext cx="1168400" cy="609600"/>
          </a:xfrm>
          <a:prstGeom prst="rect">
            <a:avLst/>
          </a:prstGeom>
          <a:noFill/>
        </p:spPr>
        <p:txBody>
          <a:bodyPr wrap="square" lIns="0" tIns="0" rIns="0" bIns="0" anchor="ctr">
            <a:noAutofit/>
          </a:bodyPr>
          <a:lstStyle/>
          <a:p>
            <a:pPr algn="ctr"/>
            <a:r>
              <a:rPr sz="1050" b="1" i="0">
                <a:solidFill>
                  <a:srgbClr val="FFFFFF"/>
                </a:solidFill>
                <a:latin typeface="Arial"/>
              </a:rPr>
              <a:t>Recibida</a:t>
            </a:r>
          </a:p>
        </p:txBody>
      </p:sp>
      <p:sp>
        <p:nvSpPr>
          <p:cNvPr id="11" name="Chevron 10"/>
          <p:cNvSpPr/>
          <p:nvPr/>
        </p:nvSpPr>
        <p:spPr>
          <a:xfrm>
            <a:off x="2235200" y="4699000"/>
            <a:ext cx="1524000" cy="609600"/>
          </a:xfrm>
          <a:prstGeom prst="chevron">
            <a:avLst/>
          </a:prstGeom>
          <a:solidFill>
            <a:srgbClr val="4472C4"/>
          </a:solidFill>
          <a:ln>
            <a:noFill/>
          </a:ln>
        </p:spPr>
        <p:txBody>
          <a:bodyPr rtlCol="0" anchor="ctr"/>
          <a:lstStyle/>
          <a:p>
            <a:pPr algn="ctr"/>
          </a:p>
        </p:txBody>
      </p:sp>
      <p:sp>
        <p:nvSpPr>
          <p:cNvPr id="12" name="TextBox 11"/>
          <p:cNvSpPr txBox="1"/>
          <p:nvPr/>
        </p:nvSpPr>
        <p:spPr>
          <a:xfrm>
            <a:off x="2489200" y="4699000"/>
            <a:ext cx="1092200" cy="609600"/>
          </a:xfrm>
          <a:prstGeom prst="rect">
            <a:avLst/>
          </a:prstGeom>
          <a:noFill/>
        </p:spPr>
        <p:txBody>
          <a:bodyPr wrap="square" lIns="0" tIns="0" rIns="0" bIns="0" anchor="ctr">
            <a:noAutofit/>
          </a:bodyPr>
          <a:lstStyle/>
          <a:p>
            <a:pPr algn="ctr"/>
            <a:r>
              <a:rPr sz="1050" b="1" i="0">
                <a:solidFill>
                  <a:srgbClr val="FFFFFF"/>
                </a:solidFill>
                <a:latin typeface="Arial"/>
              </a:rPr>
              <a:t>Primer tramo</a:t>
            </a:r>
          </a:p>
        </p:txBody>
      </p:sp>
      <p:sp>
        <p:nvSpPr>
          <p:cNvPr id="13" name="Chevron 12"/>
          <p:cNvSpPr/>
          <p:nvPr/>
        </p:nvSpPr>
        <p:spPr>
          <a:xfrm>
            <a:off x="3657600" y="4699000"/>
            <a:ext cx="1524000" cy="609600"/>
          </a:xfrm>
          <a:prstGeom prst="chevron">
            <a:avLst/>
          </a:prstGeom>
          <a:solidFill>
            <a:srgbClr val="4472C4"/>
          </a:solidFill>
          <a:ln>
            <a:noFill/>
          </a:ln>
        </p:spPr>
        <p:txBody>
          <a:bodyPr rtlCol="0" anchor="ctr"/>
          <a:lstStyle/>
          <a:p>
            <a:pPr algn="ctr"/>
          </a:p>
        </p:txBody>
      </p:sp>
      <p:sp>
        <p:nvSpPr>
          <p:cNvPr id="14" name="TextBox 13"/>
          <p:cNvSpPr txBox="1"/>
          <p:nvPr/>
        </p:nvSpPr>
        <p:spPr>
          <a:xfrm>
            <a:off x="3911600" y="4699000"/>
            <a:ext cx="1092200" cy="609600"/>
          </a:xfrm>
          <a:prstGeom prst="rect">
            <a:avLst/>
          </a:prstGeom>
          <a:noFill/>
        </p:spPr>
        <p:txBody>
          <a:bodyPr wrap="square" lIns="0" tIns="0" rIns="0" bIns="0" anchor="ctr">
            <a:noAutofit/>
          </a:bodyPr>
          <a:lstStyle/>
          <a:p>
            <a:pPr algn="ctr"/>
            <a:r>
              <a:rPr sz="1050" b="1" i="0">
                <a:solidFill>
                  <a:srgbClr val="FFFFFF"/>
                </a:solidFill>
                <a:latin typeface="Arial"/>
              </a:rPr>
              <a:t>Transferencia</a:t>
            </a:r>
          </a:p>
        </p:txBody>
      </p:sp>
      <p:sp>
        <p:nvSpPr>
          <p:cNvPr id="15" name="Chevron 14"/>
          <p:cNvSpPr/>
          <p:nvPr/>
        </p:nvSpPr>
        <p:spPr>
          <a:xfrm>
            <a:off x="5080000" y="4699000"/>
            <a:ext cx="1524000" cy="609600"/>
          </a:xfrm>
          <a:prstGeom prst="chevron">
            <a:avLst/>
          </a:prstGeom>
          <a:solidFill>
            <a:srgbClr val="4472C4"/>
          </a:solidFill>
          <a:ln>
            <a:noFill/>
          </a:ln>
        </p:spPr>
        <p:txBody>
          <a:bodyPr rtlCol="0" anchor="ctr"/>
          <a:lstStyle/>
          <a:p>
            <a:pPr algn="ctr"/>
          </a:p>
        </p:txBody>
      </p:sp>
      <p:sp>
        <p:nvSpPr>
          <p:cNvPr id="16" name="TextBox 15"/>
          <p:cNvSpPr txBox="1"/>
          <p:nvPr/>
        </p:nvSpPr>
        <p:spPr>
          <a:xfrm>
            <a:off x="5334000" y="4699000"/>
            <a:ext cx="1092200" cy="609600"/>
          </a:xfrm>
          <a:prstGeom prst="rect">
            <a:avLst/>
          </a:prstGeom>
          <a:noFill/>
        </p:spPr>
        <p:txBody>
          <a:bodyPr wrap="square" lIns="0" tIns="0" rIns="0" bIns="0" anchor="ctr">
            <a:noAutofit/>
          </a:bodyPr>
          <a:lstStyle/>
          <a:p>
            <a:pPr algn="ctr"/>
            <a:r>
              <a:rPr sz="1050" b="1" i="0">
                <a:solidFill>
                  <a:srgbClr val="FFFFFF"/>
                </a:solidFill>
                <a:latin typeface="Arial"/>
              </a:rPr>
              <a:t>Esperando confirmación</a:t>
            </a:r>
          </a:p>
        </p:txBody>
      </p:sp>
      <p:sp>
        <p:nvSpPr>
          <p:cNvPr id="17" name="Chevron 16"/>
          <p:cNvSpPr/>
          <p:nvPr/>
        </p:nvSpPr>
        <p:spPr>
          <a:xfrm>
            <a:off x="6502400" y="4699000"/>
            <a:ext cx="1524000" cy="609600"/>
          </a:xfrm>
          <a:prstGeom prst="chevron">
            <a:avLst/>
          </a:prstGeom>
          <a:solidFill>
            <a:srgbClr val="4472C4"/>
          </a:solidFill>
          <a:ln>
            <a:noFill/>
          </a:ln>
        </p:spPr>
        <p:txBody>
          <a:bodyPr rtlCol="0" anchor="ctr"/>
          <a:lstStyle/>
          <a:p>
            <a:pPr algn="ctr"/>
          </a:p>
        </p:txBody>
      </p:sp>
      <p:sp>
        <p:nvSpPr>
          <p:cNvPr id="18" name="TextBox 17"/>
          <p:cNvSpPr txBox="1"/>
          <p:nvPr/>
        </p:nvSpPr>
        <p:spPr>
          <a:xfrm>
            <a:off x="6756400" y="4699000"/>
            <a:ext cx="1092200" cy="609600"/>
          </a:xfrm>
          <a:prstGeom prst="rect">
            <a:avLst/>
          </a:prstGeom>
          <a:noFill/>
        </p:spPr>
        <p:txBody>
          <a:bodyPr wrap="square" lIns="0" tIns="0" rIns="0" bIns="0" anchor="ctr">
            <a:noAutofit/>
          </a:bodyPr>
          <a:lstStyle/>
          <a:p>
            <a:pPr algn="ctr"/>
            <a:r>
              <a:rPr sz="1050" b="1" i="0">
                <a:solidFill>
                  <a:srgbClr val="FFFFFF"/>
                </a:solidFill>
                <a:latin typeface="Arial"/>
              </a:rPr>
              <a:t>Segundo tramo</a:t>
            </a:r>
          </a:p>
        </p:txBody>
      </p:sp>
      <p:sp>
        <p:nvSpPr>
          <p:cNvPr id="19" name="Chevron 18"/>
          <p:cNvSpPr/>
          <p:nvPr/>
        </p:nvSpPr>
        <p:spPr>
          <a:xfrm>
            <a:off x="7924800" y="4699000"/>
            <a:ext cx="1524000" cy="609600"/>
          </a:xfrm>
          <a:prstGeom prst="chevron">
            <a:avLst/>
          </a:prstGeom>
          <a:solidFill>
            <a:srgbClr val="001F5F"/>
          </a:solidFill>
          <a:ln>
            <a:noFill/>
          </a:ln>
        </p:spPr>
        <p:txBody>
          <a:bodyPr rtlCol="0" anchor="ctr"/>
          <a:lstStyle/>
          <a:p>
            <a:pPr algn="ctr"/>
          </a:p>
        </p:txBody>
      </p:sp>
      <p:sp>
        <p:nvSpPr>
          <p:cNvPr id="20" name="TextBox 19"/>
          <p:cNvSpPr txBox="1"/>
          <p:nvPr/>
        </p:nvSpPr>
        <p:spPr>
          <a:xfrm>
            <a:off x="8178800" y="4699000"/>
            <a:ext cx="1092200" cy="609600"/>
          </a:xfrm>
          <a:prstGeom prst="rect">
            <a:avLst/>
          </a:prstGeom>
          <a:noFill/>
        </p:spPr>
        <p:txBody>
          <a:bodyPr wrap="square" lIns="0" tIns="0" rIns="0" bIns="0" anchor="ctr">
            <a:noAutofit/>
          </a:bodyPr>
          <a:lstStyle/>
          <a:p>
            <a:pPr algn="ctr"/>
            <a:r>
              <a:rPr sz="1050" b="1" i="0">
                <a:solidFill>
                  <a:srgbClr val="FFFFFF"/>
                </a:solidFill>
                <a:latin typeface="Arial"/>
              </a:rPr>
              <a:t>Completada</a:t>
            </a:r>
          </a:p>
        </p:txBody>
      </p:sp>
      <p:sp>
        <p:nvSpPr>
          <p:cNvPr id="21" name="TextBox 20"/>
          <p:cNvSpPr txBox="1"/>
          <p:nvPr/>
        </p:nvSpPr>
        <p:spPr>
          <a:xfrm>
            <a:off x="812800" y="5461000"/>
            <a:ext cx="8128000" cy="635000"/>
          </a:xfrm>
          <a:prstGeom prst="rect">
            <a:avLst/>
          </a:prstGeom>
          <a:noFill/>
        </p:spPr>
        <p:txBody>
          <a:bodyPr wrap="square" lIns="0" tIns="0" rIns="0" bIns="0" anchor="t">
            <a:noAutofit/>
          </a:bodyPr>
          <a:lstStyle/>
          <a:p>
            <a:pPr algn="l"/>
            <a:r>
              <a:rPr sz="1200" b="0" i="0">
                <a:solidFill>
                  <a:srgbClr val="404040"/>
                </a:solidFill>
                <a:latin typeface="Arial"/>
              </a:rPr>
              <a:t>Con esa prueba se encontró un defecto: con el origen en el punto de transferencia de su nivel, el plan mandaba al mismo agente dos veces a la misma pose, y Nav2 devuelve éxito al instante ante un desplazamiento de cero metros.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Plataforma robótica</a:t>
            </a:r>
          </a:p>
        </p:txBody>
      </p:sp>
      <p:pic>
        <p:nvPicPr>
          <p:cNvPr id="5" name="Picture 4" descr="foto_agente.jpg"/>
          <p:cNvPicPr>
            <a:picLocks noChangeAspect="1"/>
          </p:cNvPicPr>
          <p:nvPr/>
        </p:nvPicPr>
        <p:blipFill>
          <a:blip r:embed="rId4"/>
          <a:stretch>
            <a:fillRect/>
          </a:stretch>
        </p:blipFill>
        <p:spPr>
          <a:xfrm>
            <a:off x="838200" y="1346200"/>
            <a:ext cx="3619500" cy="2566712"/>
          </a:xfrm>
          <a:prstGeom prst="rect">
            <a:avLst/>
          </a:prstGeom>
        </p:spPr>
      </p:pic>
      <p:sp>
        <p:nvSpPr>
          <p:cNvPr id="6" name="TextBox 5"/>
          <p:cNvSpPr txBox="1"/>
          <p:nvPr/>
        </p:nvSpPr>
        <p:spPr>
          <a:xfrm>
            <a:off x="838200" y="3938312"/>
            <a:ext cx="3619500" cy="177800"/>
          </a:xfrm>
          <a:prstGeom prst="rect">
            <a:avLst/>
          </a:prstGeom>
          <a:noFill/>
        </p:spPr>
        <p:txBody>
          <a:bodyPr wrap="square" lIns="0" tIns="0" rIns="0" bIns="0" anchor="t">
            <a:noAutofit/>
          </a:bodyPr>
          <a:lstStyle/>
          <a:p>
            <a:pPr algn="l"/>
            <a:r>
              <a:rPr sz="900" b="0" i="0">
                <a:solidFill>
                  <a:srgbClr val="404040"/>
                </a:solidFill>
                <a:latin typeface="Arial"/>
              </a:rPr>
              <a:t>Agente del piso 4, 16 de octubre. Fuente: Elaboración propia</a:t>
            </a:r>
          </a:p>
        </p:txBody>
      </p:sp>
      <p:sp>
        <p:nvSpPr>
          <p:cNvPr id="7" name="TextBox 6"/>
          <p:cNvSpPr txBox="1"/>
          <p:nvPr/>
        </p:nvSpPr>
        <p:spPr>
          <a:xfrm>
            <a:off x="838200" y="4279900"/>
            <a:ext cx="3683000" cy="279400"/>
          </a:xfrm>
          <a:prstGeom prst="rect">
            <a:avLst/>
          </a:prstGeom>
          <a:noFill/>
        </p:spPr>
        <p:txBody>
          <a:bodyPr wrap="square" lIns="0" tIns="0" rIns="0" bIns="0" anchor="t">
            <a:noAutofit/>
          </a:bodyPr>
          <a:lstStyle/>
          <a:p>
            <a:pPr algn="l"/>
            <a:r>
              <a:rPr sz="1400" b="1" i="0">
                <a:solidFill>
                  <a:srgbClr val="001F5F"/>
                </a:solidFill>
                <a:latin typeface="Arial"/>
              </a:rPr>
              <a:t>Componentes de cada agente</a:t>
            </a:r>
          </a:p>
        </p:txBody>
      </p:sp>
      <p:sp>
        <p:nvSpPr>
          <p:cNvPr id="8" name="TextBox 7"/>
          <p:cNvSpPr txBox="1"/>
          <p:nvPr/>
        </p:nvSpPr>
        <p:spPr>
          <a:xfrm>
            <a:off x="838200" y="4584700"/>
            <a:ext cx="3683000" cy="1524000"/>
          </a:xfrm>
          <a:prstGeom prst="rect">
            <a:avLst/>
          </a:prstGeom>
          <a:noFill/>
        </p:spPr>
        <p:txBody>
          <a:bodyPr wrap="square" lIns="0" tIns="0" rIns="0" bIns="0" anchor="t">
            <a:noAutofit/>
          </a:bodyPr>
          <a:lstStyle/>
          <a:p>
            <a:pPr algn="l" marL="139700" indent="-139700">
              <a:spcAft>
                <a:spcPts val="200"/>
              </a:spcAft>
              <a:buFont typeface="Arial"/>
              <a:buChar char="•"/>
            </a:pPr>
            <a:r>
              <a:rPr sz="1200" b="0" i="0">
                <a:solidFill>
                  <a:srgbClr val="000000"/>
                </a:solidFill>
                <a:latin typeface="Arial"/>
              </a:rPr>
              <a:t>AWS DeepRacer, escala 1:18, dirección Ackermann</a:t>
            </a:r>
          </a:p>
          <a:p>
            <a:pPr algn="l" marL="139700" indent="-139700">
              <a:spcAft>
                <a:spcPts val="200"/>
              </a:spcAft>
              <a:buFont typeface="Arial"/>
              <a:buChar char="•"/>
            </a:pPr>
            <a:r>
              <a:rPr sz="1200" b="0" i="0">
                <a:solidFill>
                  <a:srgbClr val="000000"/>
                </a:solidFill>
                <a:latin typeface="Arial"/>
              </a:rPr>
              <a:t>Intel Atom E3930, 4 GB; Ubuntu 24.04 y ROS 2 Jazzy</a:t>
            </a:r>
          </a:p>
          <a:p>
            <a:pPr algn="l" marL="139700" indent="-139700">
              <a:spcAft>
                <a:spcPts val="200"/>
              </a:spcAft>
              <a:buFont typeface="Arial"/>
              <a:buChar char="•"/>
            </a:pPr>
            <a:r>
              <a:rPr sz="1200" b="0" i="0">
                <a:solidFill>
                  <a:srgbClr val="000000"/>
                </a:solidFill>
                <a:latin typeface="Arial"/>
              </a:rPr>
              <a:t>LiDAR RPLIDAR A1M8: 360°, de 0,15 a 12 m</a:t>
            </a:r>
          </a:p>
          <a:p>
            <a:pPr algn="l" marL="139700" indent="-139700">
              <a:spcAft>
                <a:spcPts val="200"/>
              </a:spcAft>
              <a:buFont typeface="Arial"/>
              <a:buChar char="•"/>
            </a:pPr>
            <a:r>
              <a:rPr sz="1200" b="0" i="0">
                <a:solidFill>
                  <a:srgbClr val="000000"/>
                </a:solidFill>
                <a:latin typeface="Arial"/>
              </a:rPr>
              <a:t>Unidad inercial Bosch BMI160 de la tarjeta</a:t>
            </a:r>
          </a:p>
          <a:p>
            <a:pPr algn="l" marL="139700" indent="-139700">
              <a:spcAft>
                <a:spcPts val="200"/>
              </a:spcAft>
              <a:buFont typeface="Arial"/>
              <a:buChar char="•"/>
            </a:pPr>
            <a:r>
              <a:rPr sz="1200" b="0" i="0">
                <a:solidFill>
                  <a:srgbClr val="000000"/>
                </a:solidFill>
                <a:latin typeface="Arial"/>
              </a:rPr>
              <a:t>Coordinador en el portátil, en un contenedor</a:t>
            </a:r>
          </a:p>
        </p:txBody>
      </p:sp>
      <p:sp>
        <p:nvSpPr>
          <p:cNvPr id="9" name="Rounded Rectangle 8"/>
          <p:cNvSpPr/>
          <p:nvPr/>
        </p:nvSpPr>
        <p:spPr>
          <a:xfrm>
            <a:off x="4724400" y="1346200"/>
            <a:ext cx="2794000" cy="1600200"/>
          </a:xfrm>
          <a:prstGeom prst="roundRect">
            <a:avLst>
              <a:gd name="adj" fmla="val 10000"/>
            </a:avLst>
          </a:prstGeom>
          <a:solidFill>
            <a:srgbClr val="FFFFFF"/>
          </a:solidFill>
          <a:ln w="9525">
            <a:solidFill>
              <a:srgbClr val="85A3D8"/>
            </a:solidFill>
          </a:ln>
        </p:spPr>
        <p:txBody>
          <a:bodyPr rtlCol="0" anchor="t" wrap="square" lIns="114300" tIns="88900" rIns="88900" bIns="63500">
            <a:noAutofit/>
          </a:bodyPr>
          <a:lstStyle/>
          <a:p>
            <a:pPr algn="l">
              <a:spcAft>
                <a:spcPts val="400"/>
              </a:spcAft>
            </a:pPr>
            <a:r>
              <a:rPr sz="1350" b="1" i="0">
                <a:solidFill>
                  <a:srgbClr val="001F5F"/>
                </a:solidFill>
                <a:latin typeface="Arial"/>
              </a:rPr>
              <a:t>Navegación tipo automóvil</a:t>
            </a:r>
          </a:p>
          <a:p>
            <a:pPr algn="l"/>
            <a:r>
              <a:rPr sz="1200" b="0" i="0">
                <a:solidFill>
                  <a:srgbClr val="000000"/>
                </a:solidFill>
                <a:latin typeface="Arial"/>
              </a:rPr>
              <a:t>Planificador Smac (A* híbrido, Reeds-Shepp) y Regulated Pure Pursuit, con marcha atrás; sin la recuperación que gira sobre el eje</a:t>
            </a:r>
          </a:p>
        </p:txBody>
      </p:sp>
      <p:sp>
        <p:nvSpPr>
          <p:cNvPr id="10" name="Rounded Rectangle 9"/>
          <p:cNvSpPr/>
          <p:nvPr/>
        </p:nvSpPr>
        <p:spPr>
          <a:xfrm>
            <a:off x="7645400" y="1346200"/>
            <a:ext cx="2794000" cy="1600200"/>
          </a:xfrm>
          <a:prstGeom prst="roundRect">
            <a:avLst>
              <a:gd name="adj" fmla="val 10000"/>
            </a:avLst>
          </a:prstGeom>
          <a:solidFill>
            <a:srgbClr val="FFFFFF"/>
          </a:solidFill>
          <a:ln w="9525">
            <a:solidFill>
              <a:srgbClr val="85A3D8"/>
            </a:solidFill>
          </a:ln>
        </p:spPr>
        <p:txBody>
          <a:bodyPr rtlCol="0" anchor="t" wrap="square" lIns="114300" tIns="88900" rIns="88900" bIns="63500">
            <a:noAutofit/>
          </a:bodyPr>
          <a:lstStyle/>
          <a:p>
            <a:pPr algn="l">
              <a:spcAft>
                <a:spcPts val="400"/>
              </a:spcAft>
            </a:pPr>
            <a:r>
              <a:rPr sz="1350" b="1" i="0">
                <a:solidFill>
                  <a:srgbClr val="001F5F"/>
                </a:solidFill>
                <a:latin typeface="Arial"/>
              </a:rPr>
              <a:t>Banda muerta de tracción</a:t>
            </a:r>
          </a:p>
          <a:p>
            <a:pPr algn="l"/>
            <a:r>
              <a:rPr sz="1200" b="0" i="0">
                <a:solidFill>
                  <a:srgbClr val="000000"/>
                </a:solidFill>
                <a:latin typeface="Arial"/>
              </a:rPr>
              <a:t>El agente no avanza por debajo de 0,40 m/s; la tolerancia de llegada se fijó en 0,5 m</a:t>
            </a:r>
          </a:p>
        </p:txBody>
      </p:sp>
      <p:sp>
        <p:nvSpPr>
          <p:cNvPr id="11" name="Rounded Rectangle 10"/>
          <p:cNvSpPr/>
          <p:nvPr/>
        </p:nvSpPr>
        <p:spPr>
          <a:xfrm>
            <a:off x="4724400" y="3073400"/>
            <a:ext cx="2794000" cy="1600200"/>
          </a:xfrm>
          <a:prstGeom prst="roundRect">
            <a:avLst>
              <a:gd name="adj" fmla="val 10000"/>
            </a:avLst>
          </a:prstGeom>
          <a:solidFill>
            <a:srgbClr val="FFFFFF"/>
          </a:solidFill>
          <a:ln w="9525">
            <a:solidFill>
              <a:srgbClr val="85A3D8"/>
            </a:solidFill>
          </a:ln>
        </p:spPr>
        <p:txBody>
          <a:bodyPr rtlCol="0" anchor="t" wrap="square" lIns="114300" tIns="88900" rIns="88900" bIns="63500">
            <a:noAutofit/>
          </a:bodyPr>
          <a:lstStyle/>
          <a:p>
            <a:pPr algn="l">
              <a:spcAft>
                <a:spcPts val="400"/>
              </a:spcAft>
            </a:pPr>
            <a:r>
              <a:rPr sz="1350" b="1" i="0">
                <a:solidFill>
                  <a:srgbClr val="001F5F"/>
                </a:solidFill>
                <a:latin typeface="Arial"/>
              </a:rPr>
              <a:t>Rumbo con la unidad inercial</a:t>
            </a:r>
          </a:p>
          <a:p>
            <a:pPr algn="l"/>
            <a:r>
              <a:rPr sz="1200" b="0" i="0">
                <a:solidFill>
                  <a:srgbClr val="000000"/>
                </a:solidFill>
                <a:latin typeface="Arial"/>
              </a:rPr>
              <a:t>Filtro de Kalman extendido: un giro de 90° se midió como 90,17° y 88,38°, con deriva de 0,3° por minuto o menos</a:t>
            </a:r>
          </a:p>
        </p:txBody>
      </p:sp>
      <p:sp>
        <p:nvSpPr>
          <p:cNvPr id="12" name="Rounded Rectangle 11"/>
          <p:cNvSpPr/>
          <p:nvPr/>
        </p:nvSpPr>
        <p:spPr>
          <a:xfrm>
            <a:off x="7645400" y="3073400"/>
            <a:ext cx="2794000" cy="1600200"/>
          </a:xfrm>
          <a:prstGeom prst="roundRect">
            <a:avLst>
              <a:gd name="adj" fmla="val 10000"/>
            </a:avLst>
          </a:prstGeom>
          <a:solidFill>
            <a:srgbClr val="FFFFFF"/>
          </a:solidFill>
          <a:ln w="9525">
            <a:solidFill>
              <a:srgbClr val="85A3D8"/>
            </a:solidFill>
          </a:ln>
        </p:spPr>
        <p:txBody>
          <a:bodyPr rtlCol="0" anchor="t" wrap="square" lIns="114300" tIns="88900" rIns="88900" bIns="63500">
            <a:noAutofit/>
          </a:bodyPr>
          <a:lstStyle/>
          <a:p>
            <a:pPr algn="l">
              <a:spcAft>
                <a:spcPts val="400"/>
              </a:spcAft>
            </a:pPr>
            <a:r>
              <a:rPr sz="1350" b="1" i="0">
                <a:solidFill>
                  <a:srgbClr val="001F5F"/>
                </a:solidFill>
                <a:latin typeface="Arial"/>
              </a:rPr>
              <a:t>Media vuelta en varios tiempos</a:t>
            </a:r>
          </a:p>
          <a:p>
            <a:pPr algn="l"/>
            <a:r>
              <a:rPr sz="1200" b="0" i="0">
                <a:solidFill>
                  <a:srgbClr val="000000"/>
                </a:solidFill>
                <a:latin typeface="Arial"/>
              </a:rPr>
              <a:t>Maniobra propia, vigilada con el láser y el mapa; 24 medias vueltas en la campaña física</a:t>
            </a:r>
          </a:p>
        </p:txBody>
      </p:sp>
      <p:sp>
        <p:nvSpPr>
          <p:cNvPr id="13" name="TextBox 12"/>
          <p:cNvSpPr txBox="1"/>
          <p:nvPr/>
        </p:nvSpPr>
        <p:spPr>
          <a:xfrm>
            <a:off x="4724400" y="4876800"/>
            <a:ext cx="4826000" cy="762000"/>
          </a:xfrm>
          <a:prstGeom prst="rect">
            <a:avLst/>
          </a:prstGeom>
          <a:noFill/>
        </p:spPr>
        <p:txBody>
          <a:bodyPr wrap="square" lIns="0" tIns="0" rIns="0" bIns="0" anchor="t">
            <a:noAutofit/>
          </a:bodyPr>
          <a:lstStyle/>
          <a:p>
            <a:pPr algn="l"/>
            <a:r>
              <a:rPr sz="1250" b="0" i="0">
                <a:solidFill>
                  <a:srgbClr val="404040"/>
                </a:solidFill>
                <a:latin typeface="Arial"/>
              </a:rPr>
              <a:t>Red: un punto de acceso de 5 GHz por piso; tiempo de ida y vuelta entre los agentes de 5,99 ms de mediana, frente al límite de 100 ms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Interfaz de interacción</a:t>
            </a:r>
          </a:p>
        </p:txBody>
      </p:sp>
      <p:pic>
        <p:nvPicPr>
          <p:cNvPr id="5" name="Picture 4" descr="hri_seguimiento.png"/>
          <p:cNvPicPr>
            <a:picLocks noChangeAspect="1"/>
          </p:cNvPicPr>
          <p:nvPr/>
        </p:nvPicPr>
        <p:blipFill>
          <a:blip r:embed="rId4"/>
          <a:stretch>
            <a:fillRect/>
          </a:stretch>
        </p:blipFill>
        <p:spPr>
          <a:xfrm>
            <a:off x="838200" y="1346200"/>
            <a:ext cx="3820469" cy="4191000"/>
          </a:xfrm>
          <a:prstGeom prst="rect">
            <a:avLst/>
          </a:prstGeom>
        </p:spPr>
      </p:pic>
      <p:pic>
        <p:nvPicPr>
          <p:cNvPr id="6" name="Picture 5" descr="hri_confirmacion_piso.png"/>
          <p:cNvPicPr>
            <a:picLocks noChangeAspect="1"/>
          </p:cNvPicPr>
          <p:nvPr/>
        </p:nvPicPr>
        <p:blipFill>
          <a:blip r:embed="rId5"/>
          <a:stretch>
            <a:fillRect/>
          </a:stretch>
        </p:blipFill>
        <p:spPr>
          <a:xfrm>
            <a:off x="4811069" y="1346200"/>
            <a:ext cx="2877957" cy="4191000"/>
          </a:xfrm>
          <a:prstGeom prst="rect">
            <a:avLst/>
          </a:prstGeom>
        </p:spPr>
      </p:pic>
      <p:sp>
        <p:nvSpPr>
          <p:cNvPr id="7" name="TextBox 6"/>
          <p:cNvSpPr txBox="1"/>
          <p:nvPr/>
        </p:nvSpPr>
        <p:spPr>
          <a:xfrm>
            <a:off x="838200" y="5588000"/>
            <a:ext cx="6850827" cy="177800"/>
          </a:xfrm>
          <a:prstGeom prst="rect">
            <a:avLst/>
          </a:prstGeom>
          <a:noFill/>
        </p:spPr>
        <p:txBody>
          <a:bodyPr wrap="square" lIns="0" tIns="0" rIns="0" bIns="0" anchor="t">
            <a:noAutofit/>
          </a:bodyPr>
          <a:lstStyle/>
          <a:p>
            <a:pPr algn="l"/>
            <a:r>
              <a:rPr sz="900" b="0" i="0">
                <a:solidFill>
                  <a:srgbClr val="404040"/>
                </a:solidFill>
                <a:latin typeface="Arial"/>
              </a:rPr>
              <a:t>Izquierda: seguimiento de una misión en simulación. Derecha: espera de la confirmación de cambio de piso. Fuente: Elaboración propia</a:t>
            </a:r>
          </a:p>
        </p:txBody>
      </p:sp>
      <p:sp>
        <p:nvSpPr>
          <p:cNvPr id="8" name="TextBox 7"/>
          <p:cNvSpPr txBox="1"/>
          <p:nvPr/>
        </p:nvSpPr>
        <p:spPr>
          <a:xfrm>
            <a:off x="7917627" y="1422400"/>
            <a:ext cx="2877372" cy="3048000"/>
          </a:xfrm>
          <a:prstGeom prst="rect">
            <a:avLst/>
          </a:prstGeom>
          <a:noFill/>
        </p:spPr>
        <p:txBody>
          <a:bodyPr wrap="square" lIns="0" tIns="0" rIns="0" bIns="0" anchor="t">
            <a:noAutofit/>
          </a:bodyPr>
          <a:lstStyle/>
          <a:p>
            <a:pPr algn="l" marL="139700" indent="-139700">
              <a:spcAft>
                <a:spcPts val="900"/>
              </a:spcAft>
              <a:buFont typeface="Arial"/>
              <a:buChar char="•"/>
            </a:pPr>
            <a:r>
              <a:rPr sz="1300" b="0" i="0">
                <a:solidFill>
                  <a:srgbClr val="000000"/>
                </a:solidFill>
                <a:latin typeface="Arial"/>
              </a:rPr>
              <a:t>Página web servida por el portátil: cualquier teléfono, sin instalar nada y sin internet</a:t>
            </a:r>
          </a:p>
          <a:p>
            <a:pPr algn="l" marL="139700" indent="-139700">
              <a:spcAft>
                <a:spcPts val="900"/>
              </a:spcAft>
              <a:buFont typeface="Arial"/>
              <a:buChar char="•"/>
            </a:pPr>
            <a:r>
              <a:rPr sz="1300" b="0" i="0">
                <a:solidFill>
                  <a:srgbClr val="000000"/>
                </a:solidFill>
                <a:latin typeface="Arial"/>
              </a:rPr>
              <a:t>El usuario elige origen y destino, y sigue la misión con el texto del coordinador</a:t>
            </a:r>
          </a:p>
          <a:p>
            <a:pPr algn="l" marL="139700" indent="-139700">
              <a:spcAft>
                <a:spcPts val="900"/>
              </a:spcAft>
              <a:buFont typeface="Arial"/>
              <a:buChar char="•"/>
            </a:pPr>
            <a:r>
              <a:rPr sz="1300" b="0" i="0">
                <a:solidFill>
                  <a:srgbClr val="000000"/>
                </a:solidFill>
                <a:latin typeface="Arial"/>
              </a:rPr>
              <a:t>Confirmación de cambio de piso: aviso a los 60 s y misión fallida a los 120 s</a:t>
            </a:r>
          </a:p>
          <a:p>
            <a:pPr algn="l" marL="139700" indent="-139700">
              <a:spcAft>
                <a:spcPts val="900"/>
              </a:spcAft>
              <a:buFont typeface="Arial"/>
              <a:buChar char="•"/>
            </a:pPr>
            <a:r>
              <a:rPr sz="1300" b="0" i="0">
                <a:solidFill>
                  <a:srgbClr val="000000"/>
                </a:solidFill>
                <a:latin typeface="Arial"/>
              </a:rPr>
              <a:t>Cancelación: el agente vuelve a su escalera; en seis pruebas quedó a entre 0,07 y 0,34 m de su punto</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Protocolo experimental</a:t>
            </a:r>
          </a:p>
        </p:txBody>
      </p:sp>
      <p:graphicFrame>
        <p:nvGraphicFramePr>
          <p:cNvPr id="5" name="Table 4"/>
          <p:cNvGraphicFramePr>
            <a:graphicFrameLocks noGrp="1"/>
          </p:cNvGraphicFramePr>
          <p:nvPr/>
        </p:nvGraphicFramePr>
        <p:xfrm>
          <a:off x="838200" y="1371600"/>
          <a:ext cx="9080500" cy="2108200"/>
        </p:xfrm>
        <a:graphic>
          <a:graphicData uri="http://schemas.openxmlformats.org/drawingml/2006/table">
            <a:tbl>
              <a:tblPr firstRow="1">
                <a:tableStyleId>{5C22544A-7EE6-4342-B048-85BDC9FD1C3A}</a:tableStyleId>
              </a:tblPr>
              <a:tblGrid>
                <a:gridCol w="2032000"/>
                <a:gridCol w="3238500"/>
                <a:gridCol w="3810000"/>
              </a:tblGrid>
              <a:tr h="304800">
                <a:tc>
                  <a:txBody>
                    <a:bodyPr wrap="square"/>
                    <a:lstStyle/>
                    <a:p>
                      <a:pPr algn="l"/>
                      <a:r>
                        <a:rPr sz="1200" b="1" i="0">
                          <a:solidFill>
                            <a:srgbClr val="FFFFFF"/>
                          </a:solidFill>
                          <a:latin typeface="Arial"/>
                        </a:rPr>
                        <a:t>Métrica</a:t>
                      </a:r>
                    </a:p>
                  </a:txBody>
                  <a:tcPr marL="63500" marR="63500" marT="25400" marB="25400" anchor="ctr">
                    <a:solidFill>
                      <a:srgbClr val="4472C4"/>
                    </a:solidFill>
                  </a:tcPr>
                </a:tc>
                <a:tc>
                  <a:txBody>
                    <a:bodyPr wrap="square"/>
                    <a:lstStyle/>
                    <a:p>
                      <a:pPr algn="l"/>
                      <a:r>
                        <a:rPr sz="1200" b="1" i="0">
                          <a:solidFill>
                            <a:srgbClr val="FFFFFF"/>
                          </a:solidFill>
                          <a:latin typeface="Arial"/>
                        </a:rPr>
                        <a:t>Inicio</a:t>
                      </a:r>
                    </a:p>
                  </a:txBody>
                  <a:tcPr marL="63500" marR="63500" marT="25400" marB="25400" anchor="ctr">
                    <a:solidFill>
                      <a:srgbClr val="4472C4"/>
                    </a:solidFill>
                  </a:tcPr>
                </a:tc>
                <a:tc>
                  <a:txBody>
                    <a:bodyPr wrap="square"/>
                    <a:lstStyle/>
                    <a:p>
                      <a:pPr algn="l"/>
                      <a:r>
                        <a:rPr sz="1200" b="1" i="0">
                          <a:solidFill>
                            <a:srgbClr val="FFFFFF"/>
                          </a:solidFill>
                          <a:latin typeface="Arial"/>
                        </a:rPr>
                        <a:t>Fin</a:t>
                      </a:r>
                    </a:p>
                  </a:txBody>
                  <a:tcPr marL="63500" marR="63500" marT="25400" marB="25400" anchor="ctr">
                    <a:solidFill>
                      <a:srgbClr val="4472C4"/>
                    </a:solidFill>
                  </a:tcPr>
                </a:tc>
              </a:tr>
              <a:tr h="482600">
                <a:tc>
                  <a:txBody>
                    <a:bodyPr wrap="square"/>
                    <a:lstStyle/>
                    <a:p>
                      <a:pPr algn="l"/>
                      <a:r>
                        <a:rPr sz="1200" b="0" i="0">
                          <a:solidFill>
                            <a:srgbClr val="000000"/>
                          </a:solidFill>
                          <a:latin typeface="Arial"/>
                        </a:rPr>
                        <a:t>Tiempo de respuesta</a:t>
                      </a:r>
                    </a:p>
                  </a:txBody>
                  <a:tcPr marL="63500" marR="63500" marT="25400" marB="25400" anchor="ctr">
                    <a:solidFill>
                      <a:srgbClr val="FFFFFF"/>
                    </a:solidFill>
                  </a:tcPr>
                </a:tc>
                <a:tc>
                  <a:txBody>
                    <a:bodyPr wrap="square"/>
                    <a:lstStyle/>
                    <a:p>
                      <a:pPr algn="l"/>
                      <a:r>
                        <a:rPr sz="1200" b="0" i="0">
                          <a:solidFill>
                            <a:srgbClr val="000000"/>
                          </a:solidFill>
                          <a:latin typeface="Arial"/>
                        </a:rPr>
                        <a:t>El coordinador acepta la solicitud</a:t>
                      </a:r>
                    </a:p>
                  </a:txBody>
                  <a:tcPr marL="63500" marR="63500" marT="25400" marB="25400" anchor="ctr">
                    <a:solidFill>
                      <a:srgbClr val="FFFFFF"/>
                    </a:solidFill>
                  </a:tcPr>
                </a:tc>
                <a:tc>
                  <a:txBody>
                    <a:bodyPr wrap="square"/>
                    <a:lstStyle/>
                    <a:p>
                      <a:pPr algn="l"/>
                      <a:r>
                        <a:rPr sz="1200" b="0" i="0">
                          <a:solidFill>
                            <a:srgbClr val="000000"/>
                          </a:solidFill>
                          <a:latin typeface="Arial"/>
                        </a:rPr>
                        <a:t>Primer movimiento del agente asignado: tres muestras de odometría a 0,02 m/s o más</a:t>
                      </a:r>
                    </a:p>
                  </a:txBody>
                  <a:tcPr marL="63500" marR="63500" marT="25400" marB="25400" anchor="ctr">
                    <a:solidFill>
                      <a:srgbClr val="FFFFFF"/>
                    </a:solidFill>
                  </a:tcPr>
                </a:tc>
              </a:tr>
              <a:tr h="482600">
                <a:tc>
                  <a:txBody>
                    <a:bodyPr wrap="square"/>
                    <a:lstStyle/>
                    <a:p>
                      <a:pPr algn="l"/>
                      <a:r>
                        <a:rPr sz="1200" b="0" i="0">
                          <a:solidFill>
                            <a:srgbClr val="000000"/>
                          </a:solidFill>
                          <a:latin typeface="Arial"/>
                        </a:rPr>
                        <a:t>Tiempo de asignación</a:t>
                      </a:r>
                    </a:p>
                  </a:txBody>
                  <a:tcPr marL="63500" marR="63500" marT="25400" marB="25400" anchor="ctr">
                    <a:solidFill>
                      <a:srgbClr val="E7EDF7"/>
                    </a:solidFill>
                  </a:tcPr>
                </a:tc>
                <a:tc>
                  <a:txBody>
                    <a:bodyPr wrap="square"/>
                    <a:lstStyle/>
                    <a:p>
                      <a:pPr algn="l"/>
                      <a:r>
                        <a:rPr sz="1200" b="0" i="0">
                          <a:solidFill>
                            <a:srgbClr val="000000"/>
                          </a:solidFill>
                          <a:latin typeface="Arial"/>
                        </a:rPr>
                        <a:t>Primera publicación de la etapa recibida</a:t>
                      </a:r>
                    </a:p>
                  </a:txBody>
                  <a:tcPr marL="63500" marR="63500" marT="25400" marB="25400" anchor="ctr">
                    <a:solidFill>
                      <a:srgbClr val="E7EDF7"/>
                    </a:solidFill>
                  </a:tcPr>
                </a:tc>
                <a:tc>
                  <a:txBody>
                    <a:bodyPr wrap="square"/>
                    <a:lstStyle/>
                    <a:p>
                      <a:pPr algn="l"/>
                      <a:r>
                        <a:rPr sz="1200" b="0" i="0">
                          <a:solidFill>
                            <a:srgbClr val="000000"/>
                          </a:solidFill>
                          <a:latin typeface="Arial"/>
                        </a:rPr>
                        <a:t>Primera publicación del primer tramo, con el agente asignado</a:t>
                      </a:r>
                    </a:p>
                  </a:txBody>
                  <a:tcPr marL="63500" marR="63500" marT="25400" marB="25400" anchor="ctr">
                    <a:solidFill>
                      <a:srgbClr val="E7EDF7"/>
                    </a:solidFill>
                  </a:tcPr>
                </a:tc>
              </a:tr>
              <a:tr h="355600">
                <a:tc>
                  <a:txBody>
                    <a:bodyPr wrap="square"/>
                    <a:lstStyle/>
                    <a:p>
                      <a:pPr algn="l"/>
                      <a:r>
                        <a:rPr sz="1200" b="0" i="0">
                          <a:solidFill>
                            <a:srgbClr val="000000"/>
                          </a:solidFill>
                          <a:latin typeface="Arial"/>
                        </a:rPr>
                        <a:t>Tasa de éxito</a:t>
                      </a:r>
                    </a:p>
                  </a:txBody>
                  <a:tcPr marL="63500" marR="63500" marT="25400" marB="25400" anchor="ctr">
                    <a:solidFill>
                      <a:srgbClr val="FFFFFF"/>
                    </a:solidFill>
                  </a:tcPr>
                </a:tc>
                <a:tc gridSpan="2">
                  <a:txBody>
                    <a:bodyPr wrap="square"/>
                    <a:lstStyle/>
                    <a:p>
                      <a:pPr algn="l"/>
                      <a:r>
                        <a:rPr sz="1200" b="0" i="0">
                          <a:solidFill>
                            <a:srgbClr val="000000"/>
                          </a:solidFill>
                          <a:latin typeface="Arial"/>
                        </a:rPr>
                        <a:t>Proporción de misiones exitosas sobre las corridas válidas</a:t>
                      </a:r>
                    </a:p>
                  </a:txBody>
                  <a:tcPr marL="63500" marR="63500" marT="25400" marB="25400" anchor="ctr">
                    <a:solidFill>
                      <a:srgbClr val="FFFFFF"/>
                    </a:solidFill>
                  </a:tcPr>
                </a:tc>
                <a:tc hMerge="1">
                  <a:txBody>
                    <a:bodyPr/>
                    <a:lstStyle/>
                    <a:p/>
                  </a:txBody>
                  <a:tcPr/>
                </a:tc>
              </a:tr>
              <a:tr h="482600">
                <a:tc>
                  <a:txBody>
                    <a:bodyPr wrap="square"/>
                    <a:lstStyle/>
                    <a:p>
                      <a:pPr algn="l"/>
                      <a:r>
                        <a:rPr sz="1200" b="0" i="0">
                          <a:solidFill>
                            <a:srgbClr val="000000"/>
                          </a:solidFill>
                          <a:latin typeface="Arial"/>
                        </a:rPr>
                        <a:t>Continuidad entre niveles</a:t>
                      </a:r>
                    </a:p>
                  </a:txBody>
                  <a:tcPr marL="63500" marR="63500" marT="25400" marB="25400" anchor="ctr">
                    <a:solidFill>
                      <a:srgbClr val="E7EDF7"/>
                    </a:solidFill>
                  </a:tcPr>
                </a:tc>
                <a:tc>
                  <a:txBody>
                    <a:bodyPr wrap="square"/>
                    <a:lstStyle/>
                    <a:p>
                      <a:pPr algn="l"/>
                      <a:r>
                        <a:rPr sz="1200" b="0" i="0">
                          <a:solidFill>
                            <a:srgbClr val="000000"/>
                          </a:solidFill>
                          <a:latin typeface="Arial"/>
                        </a:rPr>
                        <a:t>El primer agente alcanza su punto de transferencia</a:t>
                      </a:r>
                    </a:p>
                  </a:txBody>
                  <a:tcPr marL="63500" marR="63500" marT="25400" marB="25400" anchor="ctr">
                    <a:solidFill>
                      <a:srgbClr val="E7EDF7"/>
                    </a:solidFill>
                  </a:tcPr>
                </a:tc>
                <a:tc>
                  <a:txBody>
                    <a:bodyPr wrap="square"/>
                    <a:lstStyle/>
                    <a:p>
                      <a:pPr algn="l"/>
                      <a:r>
                        <a:rPr sz="1200" b="0" i="0">
                          <a:solidFill>
                            <a:srgbClr val="000000"/>
                          </a:solidFill>
                          <a:latin typeface="Arial"/>
                        </a:rPr>
                        <a:t>Primer movimiento del segundo agente</a:t>
                      </a:r>
                    </a:p>
                  </a:txBody>
                  <a:tcPr marL="63500" marR="63500" marT="25400" marB="25400" anchor="ctr">
                    <a:solidFill>
                      <a:srgbClr val="E7EDF7"/>
                    </a:solidFill>
                  </a:tcPr>
                </a:tc>
              </a:tr>
            </a:tbl>
          </a:graphicData>
        </a:graphic>
      </p:graphicFrame>
      <p:sp>
        <p:nvSpPr>
          <p:cNvPr id="6" name="Rounded Rectangle 5"/>
          <p:cNvSpPr/>
          <p:nvPr/>
        </p:nvSpPr>
        <p:spPr>
          <a:xfrm>
            <a:off x="838200" y="3810000"/>
            <a:ext cx="4318000" cy="1905000"/>
          </a:xfrm>
          <a:prstGeom prst="roundRect">
            <a:avLst>
              <a:gd name="adj" fmla="val 8000"/>
            </a:avLst>
          </a:prstGeom>
          <a:solidFill>
            <a:srgbClr val="FFFFFF"/>
          </a:solidFill>
          <a:ln w="9525">
            <a:solidFill>
              <a:srgbClr val="85A3D8"/>
            </a:solidFill>
          </a:ln>
        </p:spPr>
        <p:txBody>
          <a:bodyPr rtlCol="0" anchor="t" wrap="square" lIns="127000" tIns="88900" rIns="101600" bIns="50800">
            <a:noAutofit/>
          </a:bodyPr>
          <a:lstStyle/>
          <a:p>
            <a:pPr algn="l">
              <a:spcAft>
                <a:spcPts val="400"/>
              </a:spcAft>
            </a:pPr>
            <a:r>
              <a:rPr sz="1400" b="1" i="0">
                <a:solidFill>
                  <a:srgbClr val="001F5F"/>
                </a:solidFill>
                <a:latin typeface="Arial"/>
              </a:rPr>
              <a:t>Criterio de éxito</a:t>
            </a:r>
          </a:p>
          <a:p>
            <a:pPr algn="l" marL="139700" indent="-139700">
              <a:spcAft>
                <a:spcPts val="300"/>
              </a:spcAft>
              <a:buFont typeface="Arial"/>
              <a:buChar char="•"/>
            </a:pPr>
            <a:r>
              <a:rPr sz="1200" b="0" i="0">
                <a:solidFill>
                  <a:srgbClr val="000000"/>
                </a:solidFill>
                <a:latin typeface="Arial"/>
              </a:rPr>
              <a:t>Pose final a 0,25 m o menos del destino en simulación, y a 0,5 m o menos con los agentes físicos</a:t>
            </a:r>
          </a:p>
          <a:p>
            <a:pPr algn="l" marL="139700" indent="-139700">
              <a:spcAft>
                <a:spcPts val="300"/>
              </a:spcAft>
              <a:buFont typeface="Arial"/>
              <a:buChar char="•"/>
            </a:pPr>
            <a:r>
              <a:rPr sz="1200" b="0" i="0">
                <a:solidFill>
                  <a:srgbClr val="000000"/>
                </a:solidFill>
                <a:latin typeface="Arial"/>
              </a:rPr>
              <a:t>Medida con la odometría del agente, nunca con el resultado de Nav2</a:t>
            </a:r>
          </a:p>
          <a:p>
            <a:pPr algn="l" marL="139700" indent="-139700">
              <a:spcAft>
                <a:spcPts val="300"/>
              </a:spcAft>
              <a:buFont typeface="Arial"/>
              <a:buChar char="•"/>
            </a:pPr>
            <a:r>
              <a:rPr sz="1200" b="0" i="0">
                <a:solidFill>
                  <a:srgbClr val="000000"/>
                </a:solidFill>
                <a:latin typeface="Arial"/>
              </a:rPr>
              <a:t>Etapa completada sin pasar por fallida y, entre pisos, con relevo</a:t>
            </a:r>
          </a:p>
        </p:txBody>
      </p:sp>
      <p:sp>
        <p:nvSpPr>
          <p:cNvPr id="7" name="Rounded Rectangle 6"/>
          <p:cNvSpPr/>
          <p:nvPr/>
        </p:nvSpPr>
        <p:spPr>
          <a:xfrm>
            <a:off x="5334000" y="3810000"/>
            <a:ext cx="4318000" cy="1905000"/>
          </a:xfrm>
          <a:prstGeom prst="roundRect">
            <a:avLst>
              <a:gd name="adj" fmla="val 8000"/>
            </a:avLst>
          </a:prstGeom>
          <a:solidFill>
            <a:srgbClr val="FFFFFF"/>
          </a:solidFill>
          <a:ln w="9525">
            <a:solidFill>
              <a:srgbClr val="85A3D8"/>
            </a:solidFill>
          </a:ln>
        </p:spPr>
        <p:txBody>
          <a:bodyPr rtlCol="0" anchor="t" wrap="square" lIns="127000" tIns="88900" rIns="101600" bIns="50800">
            <a:noAutofit/>
          </a:bodyPr>
          <a:lstStyle/>
          <a:p>
            <a:pPr algn="l">
              <a:spcAft>
                <a:spcPts val="400"/>
              </a:spcAft>
            </a:pPr>
            <a:r>
              <a:rPr sz="1400" b="1" i="0">
                <a:solidFill>
                  <a:srgbClr val="001F5F"/>
                </a:solidFill>
                <a:latin typeface="Arial"/>
              </a:rPr>
              <a:t>Diseño de las campañas</a:t>
            </a:r>
          </a:p>
          <a:p>
            <a:pPr algn="l" marL="139700" indent="-139700">
              <a:spcAft>
                <a:spcPts val="300"/>
              </a:spcAft>
              <a:buFont typeface="Arial"/>
              <a:buChar char="•"/>
            </a:pPr>
            <a:r>
              <a:rPr sz="1200" b="0" i="0">
                <a:solidFill>
                  <a:srgbClr val="000000"/>
                </a:solidFill>
                <a:latin typeface="Arial"/>
              </a:rPr>
              <a:t>Simulación: 30 misiones sorteadas, 15 en un piso y 15 entre pisos</a:t>
            </a:r>
          </a:p>
          <a:p>
            <a:pPr algn="l" marL="139700" indent="-139700">
              <a:spcAft>
                <a:spcPts val="300"/>
              </a:spcAft>
              <a:buFont typeface="Arial"/>
              <a:buChar char="•"/>
            </a:pPr>
            <a:r>
              <a:rPr sz="1200" b="0" i="0">
                <a:solidFill>
                  <a:srgbClr val="000000"/>
                </a:solidFill>
                <a:latin typeface="Arial"/>
              </a:rPr>
              <a:t>Agentes físicos: 10 misiones sorteadas entre los pisos 3 y 4</a:t>
            </a:r>
          </a:p>
          <a:p>
            <a:pPr algn="l" marL="139700" indent="-139700">
              <a:spcAft>
                <a:spcPts val="300"/>
              </a:spcAft>
              <a:buFont typeface="Arial"/>
              <a:buChar char="•"/>
            </a:pPr>
            <a:r>
              <a:rPr sz="1200" b="0" i="0">
                <a:solidFill>
                  <a:srgbClr val="000000"/>
                </a:solidFill>
                <a:latin typeface="Arial"/>
              </a:rPr>
              <a:t>Descartes solo por causas de una lista cerrada; si superan el 20 %, la campaña no vale</a:t>
            </a:r>
          </a:p>
        </p:txBody>
      </p:sp>
      <p:sp>
        <p:nvSpPr>
          <p:cNvPr id="8" name="TextBox 7"/>
          <p:cNvSpPr txBox="1"/>
          <p:nvPr/>
        </p:nvSpPr>
        <p:spPr>
          <a:xfrm>
            <a:off x="838200" y="5842000"/>
            <a:ext cx="8128000" cy="508000"/>
          </a:xfrm>
          <a:prstGeom prst="rect">
            <a:avLst/>
          </a:prstGeom>
          <a:noFill/>
        </p:spPr>
        <p:txBody>
          <a:bodyPr wrap="square" lIns="0" tIns="0" rIns="0" bIns="0" anchor="t">
            <a:noAutofit/>
          </a:bodyPr>
          <a:lstStyle/>
          <a:p>
            <a:pPr algn="l"/>
            <a:r>
              <a:rPr sz="1200" b="0" i="0">
                <a:solidFill>
                  <a:srgbClr val="404040"/>
                </a:solidFill>
                <a:latin typeface="Arial"/>
              </a:rPr>
              <a:t>Instrumentación: grabación de ROS de cada misión, registro validado contra un esquema y un analizador que calcula las métricas con sus intervalos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RESULTADOS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Evaluación en simulación</a:t>
            </a:r>
          </a:p>
        </p:txBody>
      </p:sp>
      <p:graphicFrame>
        <p:nvGraphicFramePr>
          <p:cNvPr id="5" name="Table 4"/>
          <p:cNvGraphicFramePr>
            <a:graphicFrameLocks noGrp="1"/>
          </p:cNvGraphicFramePr>
          <p:nvPr/>
        </p:nvGraphicFramePr>
        <p:xfrm>
          <a:off x="838200" y="1371600"/>
          <a:ext cx="5943600" cy="1320800"/>
        </p:xfrm>
        <a:graphic>
          <a:graphicData uri="http://schemas.openxmlformats.org/drawingml/2006/table">
            <a:tbl>
              <a:tblPr firstRow="1">
                <a:tableStyleId>{5C22544A-7EE6-4342-B048-85BDC9FD1C3A}</a:tableStyleId>
              </a:tblPr>
              <a:tblGrid>
                <a:gridCol w="2222500"/>
                <a:gridCol w="508000"/>
                <a:gridCol w="736600"/>
                <a:gridCol w="889000"/>
                <a:gridCol w="1587500"/>
              </a:tblGrid>
              <a:tr h="330200">
                <a:tc>
                  <a:txBody>
                    <a:bodyPr wrap="square"/>
                    <a:lstStyle/>
                    <a:p>
                      <a:pPr algn="l"/>
                      <a:r>
                        <a:rPr sz="1250" b="1" i="0">
                          <a:solidFill>
                            <a:srgbClr val="FFFFFF"/>
                          </a:solidFill>
                          <a:latin typeface="Arial"/>
                        </a:rPr>
                        <a:t>Misiones</a:t>
                      </a:r>
                    </a:p>
                  </a:txBody>
                  <a:tcPr marL="63500" marR="63500" marT="25400" marB="25400" anchor="ctr">
                    <a:solidFill>
                      <a:srgbClr val="4472C4"/>
                    </a:solidFill>
                  </a:tcPr>
                </a:tc>
                <a:tc>
                  <a:txBody>
                    <a:bodyPr wrap="square"/>
                    <a:lstStyle/>
                    <a:p>
                      <a:pPr algn="l"/>
                      <a:r>
                        <a:rPr sz="1250" b="1" i="0">
                          <a:solidFill>
                            <a:srgbClr val="FFFFFF"/>
                          </a:solidFill>
                          <a:latin typeface="Arial"/>
                        </a:rPr>
                        <a:t>n</a:t>
                      </a:r>
                    </a:p>
                  </a:txBody>
                  <a:tcPr marL="63500" marR="63500" marT="25400" marB="25400" anchor="ctr">
                    <a:solidFill>
                      <a:srgbClr val="4472C4"/>
                    </a:solidFill>
                  </a:tcPr>
                </a:tc>
                <a:tc>
                  <a:txBody>
                    <a:bodyPr wrap="square"/>
                    <a:lstStyle/>
                    <a:p>
                      <a:pPr algn="l"/>
                      <a:r>
                        <a:rPr sz="1250" b="1" i="0">
                          <a:solidFill>
                            <a:srgbClr val="FFFFFF"/>
                          </a:solidFill>
                          <a:latin typeface="Arial"/>
                        </a:rPr>
                        <a:t>Éxitos</a:t>
                      </a:r>
                    </a:p>
                  </a:txBody>
                  <a:tcPr marL="63500" marR="63500" marT="25400" marB="25400" anchor="ctr">
                    <a:solidFill>
                      <a:srgbClr val="4472C4"/>
                    </a:solidFill>
                  </a:tcPr>
                </a:tc>
                <a:tc>
                  <a:txBody>
                    <a:bodyPr wrap="square"/>
                    <a:lstStyle/>
                    <a:p>
                      <a:pPr algn="l"/>
                      <a:r>
                        <a:rPr sz="1250" b="1" i="0">
                          <a:solidFill>
                            <a:srgbClr val="FFFFFF"/>
                          </a:solidFill>
                          <a:latin typeface="Arial"/>
                        </a:rPr>
                        <a:t>Tasa</a:t>
                      </a:r>
                    </a:p>
                  </a:txBody>
                  <a:tcPr marL="63500" marR="63500" marT="25400" marB="25400" anchor="ctr">
                    <a:solidFill>
                      <a:srgbClr val="4472C4"/>
                    </a:solidFill>
                  </a:tcPr>
                </a:tc>
                <a:tc>
                  <a:txBody>
                    <a:bodyPr wrap="square"/>
                    <a:lstStyle/>
                    <a:p>
                      <a:pPr algn="l"/>
                      <a:r>
                        <a:rPr sz="1250" b="1" i="0">
                          <a:solidFill>
                            <a:srgbClr val="FFFFFF"/>
                          </a:solidFill>
                          <a:latin typeface="Arial"/>
                        </a:rPr>
                        <a:t>Intervalo al 95 %</a:t>
                      </a:r>
                    </a:p>
                  </a:txBody>
                  <a:tcPr marL="63500" marR="63500" marT="25400" marB="25400" anchor="ctr">
                    <a:solidFill>
                      <a:srgbClr val="4472C4"/>
                    </a:solidFill>
                  </a:tcPr>
                </a:tc>
              </a:tr>
              <a:tr h="330200">
                <a:tc>
                  <a:txBody>
                    <a:bodyPr wrap="square"/>
                    <a:lstStyle/>
                    <a:p>
                      <a:pPr algn="l"/>
                      <a:r>
                        <a:rPr sz="1250" b="0" i="0">
                          <a:solidFill>
                            <a:srgbClr val="000000"/>
                          </a:solidFill>
                          <a:latin typeface="Arial"/>
                        </a:rPr>
                        <a:t>Campaña completa</a:t>
                      </a:r>
                    </a:p>
                  </a:txBody>
                  <a:tcPr marL="63500" marR="63500" marT="25400" marB="25400" anchor="ctr">
                    <a:solidFill>
                      <a:srgbClr val="FFFFFF"/>
                    </a:solidFill>
                  </a:tcPr>
                </a:tc>
                <a:tc>
                  <a:txBody>
                    <a:bodyPr wrap="square"/>
                    <a:lstStyle/>
                    <a:p>
                      <a:pPr algn="l"/>
                      <a:r>
                        <a:rPr sz="1250" b="0" i="0">
                          <a:solidFill>
                            <a:srgbClr val="000000"/>
                          </a:solidFill>
                          <a:latin typeface="Arial"/>
                        </a:rPr>
                        <a:t>30</a:t>
                      </a:r>
                    </a:p>
                  </a:txBody>
                  <a:tcPr marL="63500" marR="63500" marT="25400" marB="25400" anchor="ctr">
                    <a:solidFill>
                      <a:srgbClr val="FFFFFF"/>
                    </a:solidFill>
                  </a:tcPr>
                </a:tc>
                <a:tc>
                  <a:txBody>
                    <a:bodyPr wrap="square"/>
                    <a:lstStyle/>
                    <a:p>
                      <a:pPr algn="l"/>
                      <a:r>
                        <a:rPr sz="1250" b="0" i="0">
                          <a:solidFill>
                            <a:srgbClr val="000000"/>
                          </a:solidFill>
                          <a:latin typeface="Arial"/>
                        </a:rPr>
                        <a:t>26</a:t>
                      </a:r>
                    </a:p>
                  </a:txBody>
                  <a:tcPr marL="63500" marR="63500" marT="25400" marB="25400" anchor="ctr">
                    <a:solidFill>
                      <a:srgbClr val="FFFFFF"/>
                    </a:solidFill>
                  </a:tcPr>
                </a:tc>
                <a:tc>
                  <a:txBody>
                    <a:bodyPr wrap="square"/>
                    <a:lstStyle/>
                    <a:p>
                      <a:pPr algn="l"/>
                      <a:r>
                        <a:rPr sz="1250" b="0" i="0">
                          <a:solidFill>
                            <a:srgbClr val="000000"/>
                          </a:solidFill>
                          <a:latin typeface="Arial"/>
                        </a:rPr>
                        <a:t>86,7 %</a:t>
                      </a:r>
                    </a:p>
                  </a:txBody>
                  <a:tcPr marL="63500" marR="63500" marT="25400" marB="25400" anchor="ctr">
                    <a:solidFill>
                      <a:srgbClr val="FFFFFF"/>
                    </a:solidFill>
                  </a:tcPr>
                </a:tc>
                <a:tc>
                  <a:txBody>
                    <a:bodyPr wrap="square"/>
                    <a:lstStyle/>
                    <a:p>
                      <a:pPr algn="l"/>
                      <a:r>
                        <a:rPr sz="1250" b="0" i="0">
                          <a:solidFill>
                            <a:srgbClr val="000000"/>
                          </a:solidFill>
                          <a:latin typeface="Arial"/>
                        </a:rPr>
                        <a:t>70,3 a 94,7 %</a:t>
                      </a:r>
                    </a:p>
                  </a:txBody>
                  <a:tcPr marL="63500" marR="63500" marT="25400" marB="25400" anchor="ctr">
                    <a:solidFill>
                      <a:srgbClr val="FFFFFF"/>
                    </a:solidFill>
                  </a:tcPr>
                </a:tc>
              </a:tr>
              <a:tr h="330200">
                <a:tc>
                  <a:txBody>
                    <a:bodyPr wrap="square"/>
                    <a:lstStyle/>
                    <a:p>
                      <a:pPr algn="l"/>
                      <a:r>
                        <a:rPr sz="1250" b="0" i="0">
                          <a:solidFill>
                            <a:srgbClr val="000000"/>
                          </a:solidFill>
                          <a:latin typeface="Arial"/>
                        </a:rPr>
                        <a:t>Mismo piso, sin relevo</a:t>
                      </a:r>
                    </a:p>
                  </a:txBody>
                  <a:tcPr marL="63500" marR="63500" marT="25400" marB="25400" anchor="ctr">
                    <a:solidFill>
                      <a:srgbClr val="E7EDF7"/>
                    </a:solidFill>
                  </a:tcPr>
                </a:tc>
                <a:tc>
                  <a:txBody>
                    <a:bodyPr wrap="square"/>
                    <a:lstStyle/>
                    <a:p>
                      <a:pPr algn="l"/>
                      <a:r>
                        <a:rPr sz="1250" b="0" i="0">
                          <a:solidFill>
                            <a:srgbClr val="000000"/>
                          </a:solidFill>
                          <a:latin typeface="Arial"/>
                        </a:rPr>
                        <a:t>15</a:t>
                      </a:r>
                    </a:p>
                  </a:txBody>
                  <a:tcPr marL="63500" marR="63500" marT="25400" marB="25400" anchor="ctr">
                    <a:solidFill>
                      <a:srgbClr val="E7EDF7"/>
                    </a:solidFill>
                  </a:tcPr>
                </a:tc>
                <a:tc>
                  <a:txBody>
                    <a:bodyPr wrap="square"/>
                    <a:lstStyle/>
                    <a:p>
                      <a:pPr algn="l"/>
                      <a:r>
                        <a:rPr sz="1250" b="0" i="0">
                          <a:solidFill>
                            <a:srgbClr val="000000"/>
                          </a:solidFill>
                          <a:latin typeface="Arial"/>
                        </a:rPr>
                        <a:t>12</a:t>
                      </a:r>
                    </a:p>
                  </a:txBody>
                  <a:tcPr marL="63500" marR="63500" marT="25400" marB="25400" anchor="ctr">
                    <a:solidFill>
                      <a:srgbClr val="E7EDF7"/>
                    </a:solidFill>
                  </a:tcPr>
                </a:tc>
                <a:tc>
                  <a:txBody>
                    <a:bodyPr wrap="square"/>
                    <a:lstStyle/>
                    <a:p>
                      <a:pPr algn="l"/>
                      <a:r>
                        <a:rPr sz="1250" b="0" i="0">
                          <a:solidFill>
                            <a:srgbClr val="000000"/>
                          </a:solidFill>
                          <a:latin typeface="Arial"/>
                        </a:rPr>
                        <a:t>80,0 %</a:t>
                      </a:r>
                    </a:p>
                  </a:txBody>
                  <a:tcPr marL="63500" marR="63500" marT="25400" marB="25400" anchor="ctr">
                    <a:solidFill>
                      <a:srgbClr val="E7EDF7"/>
                    </a:solidFill>
                  </a:tcPr>
                </a:tc>
                <a:tc>
                  <a:txBody>
                    <a:bodyPr wrap="square"/>
                    <a:lstStyle/>
                    <a:p>
                      <a:pPr algn="l"/>
                      <a:r>
                        <a:rPr sz="1250" b="0" i="0">
                          <a:solidFill>
                            <a:srgbClr val="000000"/>
                          </a:solidFill>
                          <a:latin typeface="Arial"/>
                        </a:rPr>
                        <a:t>54,8 a 93,0 %</a:t>
                      </a:r>
                    </a:p>
                  </a:txBody>
                  <a:tcPr marL="63500" marR="63500" marT="25400" marB="25400" anchor="ctr">
                    <a:solidFill>
                      <a:srgbClr val="E7EDF7"/>
                    </a:solidFill>
                  </a:tcPr>
                </a:tc>
              </a:tr>
              <a:tr h="330200">
                <a:tc>
                  <a:txBody>
                    <a:bodyPr wrap="square"/>
                    <a:lstStyle/>
                    <a:p>
                      <a:pPr algn="l"/>
                      <a:r>
                        <a:rPr sz="1250" b="0" i="0">
                          <a:solidFill>
                            <a:srgbClr val="000000"/>
                          </a:solidFill>
                          <a:latin typeface="Arial"/>
                        </a:rPr>
                        <a:t>Entre pisos, con relevo</a:t>
                      </a:r>
                    </a:p>
                  </a:txBody>
                  <a:tcPr marL="63500" marR="63500" marT="25400" marB="25400" anchor="ctr">
                    <a:solidFill>
                      <a:srgbClr val="FFFFFF"/>
                    </a:solidFill>
                  </a:tcPr>
                </a:tc>
                <a:tc>
                  <a:txBody>
                    <a:bodyPr wrap="square"/>
                    <a:lstStyle/>
                    <a:p>
                      <a:pPr algn="l"/>
                      <a:r>
                        <a:rPr sz="1250" b="0" i="0">
                          <a:solidFill>
                            <a:srgbClr val="000000"/>
                          </a:solidFill>
                          <a:latin typeface="Arial"/>
                        </a:rPr>
                        <a:t>15</a:t>
                      </a:r>
                    </a:p>
                  </a:txBody>
                  <a:tcPr marL="63500" marR="63500" marT="25400" marB="25400" anchor="ctr">
                    <a:solidFill>
                      <a:srgbClr val="FFFFFF"/>
                    </a:solidFill>
                  </a:tcPr>
                </a:tc>
                <a:tc>
                  <a:txBody>
                    <a:bodyPr wrap="square"/>
                    <a:lstStyle/>
                    <a:p>
                      <a:pPr algn="l"/>
                      <a:r>
                        <a:rPr sz="1250" b="0" i="0">
                          <a:solidFill>
                            <a:srgbClr val="000000"/>
                          </a:solidFill>
                          <a:latin typeface="Arial"/>
                        </a:rPr>
                        <a:t>14</a:t>
                      </a:r>
                    </a:p>
                  </a:txBody>
                  <a:tcPr marL="63500" marR="63500" marT="25400" marB="25400" anchor="ctr">
                    <a:solidFill>
                      <a:srgbClr val="FFFFFF"/>
                    </a:solidFill>
                  </a:tcPr>
                </a:tc>
                <a:tc>
                  <a:txBody>
                    <a:bodyPr wrap="square"/>
                    <a:lstStyle/>
                    <a:p>
                      <a:pPr algn="l"/>
                      <a:r>
                        <a:rPr sz="1250" b="0" i="0">
                          <a:solidFill>
                            <a:srgbClr val="000000"/>
                          </a:solidFill>
                          <a:latin typeface="Arial"/>
                        </a:rPr>
                        <a:t>93,3 %</a:t>
                      </a:r>
                    </a:p>
                  </a:txBody>
                  <a:tcPr marL="63500" marR="63500" marT="25400" marB="25400" anchor="ctr">
                    <a:solidFill>
                      <a:srgbClr val="FFFFFF"/>
                    </a:solidFill>
                  </a:tcPr>
                </a:tc>
                <a:tc>
                  <a:txBody>
                    <a:bodyPr wrap="square"/>
                    <a:lstStyle/>
                    <a:p>
                      <a:pPr algn="l"/>
                      <a:r>
                        <a:rPr sz="1250" b="0" i="0">
                          <a:solidFill>
                            <a:srgbClr val="000000"/>
                          </a:solidFill>
                          <a:latin typeface="Arial"/>
                        </a:rPr>
                        <a:t>70,2 a 98,8 %</a:t>
                      </a:r>
                    </a:p>
                  </a:txBody>
                  <a:tcPr marL="63500" marR="63500" marT="25400" marB="25400" anchor="ctr">
                    <a:solidFill>
                      <a:srgbClr val="FFFFFF"/>
                    </a:solidFill>
                  </a:tcPr>
                </a:tc>
              </a:tr>
            </a:tbl>
          </a:graphicData>
        </a:graphic>
      </p:graphicFrame>
      <p:sp>
        <p:nvSpPr>
          <p:cNvPr id="6" name="Rounded Rectangle 5"/>
          <p:cNvSpPr/>
          <p:nvPr/>
        </p:nvSpPr>
        <p:spPr>
          <a:xfrm>
            <a:off x="7010400" y="1371600"/>
            <a:ext cx="3619500" cy="1320800"/>
          </a:xfrm>
          <a:prstGeom prst="roundRect">
            <a:avLst>
              <a:gd name="adj" fmla="val 16000"/>
            </a:avLst>
          </a:prstGeom>
          <a:solidFill>
            <a:srgbClr val="F6B79D"/>
          </a:solidFill>
          <a:ln w="9525">
            <a:solidFill>
              <a:srgbClr val="F5B195"/>
            </a:solidFill>
          </a:ln>
        </p:spPr>
        <p:txBody>
          <a:bodyPr rtlCol="0" anchor="ctr" wrap="square" lIns="152400" tIns="50800" rIns="127000" bIns="50800">
            <a:noAutofit/>
          </a:bodyPr>
          <a:lstStyle/>
          <a:p>
            <a:pPr algn="l">
              <a:spcAft>
                <a:spcPts val="400"/>
              </a:spcAft>
            </a:pPr>
            <a:r>
              <a:rPr sz="1600" b="1" i="0">
                <a:solidFill>
                  <a:srgbClr val="000000"/>
                </a:solidFill>
                <a:latin typeface="Arial"/>
              </a:rPr>
              <a:t>Con 95 % de confianza, la tasa de éxito supera el 70 %</a:t>
            </a:r>
          </a:p>
          <a:p>
            <a:pPr algn="l"/>
            <a:r>
              <a:rPr sz="1150" b="0" i="0">
                <a:solidFill>
                  <a:srgbClr val="000000"/>
                </a:solidFill>
                <a:latin typeface="Arial"/>
              </a:rPr>
              <a:t>Intervalo de Wilson; los dos grupos se solapan y no se comparan</a:t>
            </a:r>
          </a:p>
        </p:txBody>
      </p:sp>
      <p:pic>
        <p:nvPicPr>
          <p:cNvPr id="7" name="Picture 6" descr="llegada_simulacion.png"/>
          <p:cNvPicPr>
            <a:picLocks noChangeAspect="1"/>
          </p:cNvPicPr>
          <p:nvPr/>
        </p:nvPicPr>
        <p:blipFill>
          <a:blip r:embed="rId4"/>
          <a:stretch>
            <a:fillRect/>
          </a:stretch>
        </p:blipFill>
        <p:spPr>
          <a:xfrm>
            <a:off x="812800" y="2819400"/>
            <a:ext cx="7302500" cy="2134576"/>
          </a:xfrm>
          <a:prstGeom prst="rect">
            <a:avLst/>
          </a:prstGeom>
        </p:spPr>
      </p:pic>
      <p:sp>
        <p:nvSpPr>
          <p:cNvPr id="8" name="TextBox 7"/>
          <p:cNvSpPr txBox="1"/>
          <p:nvPr/>
        </p:nvSpPr>
        <p:spPr>
          <a:xfrm>
            <a:off x="812800" y="4966676"/>
            <a:ext cx="7302500" cy="177800"/>
          </a:xfrm>
          <a:prstGeom prst="rect">
            <a:avLst/>
          </a:prstGeom>
          <a:noFill/>
        </p:spPr>
        <p:txBody>
          <a:bodyPr wrap="square" lIns="0" tIns="0" rIns="0" bIns="0" anchor="t">
            <a:noAutofit/>
          </a:bodyPr>
          <a:lstStyle/>
          <a:p>
            <a:pPr algn="l"/>
            <a:r>
              <a:rPr sz="900" b="0" i="0">
                <a:solidFill>
                  <a:srgbClr val="404040"/>
                </a:solidFill>
                <a:latin typeface="Arial"/>
              </a:rPr>
              <a:t>Error de llegada de las 30 misiones; en naranja, las cuatro fuera de la tolerancia de 0,25 m. Fuente: Elaboración propia</a:t>
            </a:r>
          </a:p>
        </p:txBody>
      </p:sp>
      <p:sp>
        <p:nvSpPr>
          <p:cNvPr id="9" name="TextBox 8"/>
          <p:cNvSpPr txBox="1"/>
          <p:nvPr/>
        </p:nvSpPr>
        <p:spPr>
          <a:xfrm>
            <a:off x="8255000" y="2997200"/>
            <a:ext cx="1905000" cy="1905000"/>
          </a:xfrm>
          <a:prstGeom prst="rect">
            <a:avLst/>
          </a:prstGeom>
          <a:noFill/>
        </p:spPr>
        <p:txBody>
          <a:bodyPr wrap="square" lIns="0" tIns="0" rIns="0" bIns="0" anchor="t">
            <a:noAutofit/>
          </a:bodyPr>
          <a:lstStyle/>
          <a:p>
            <a:pPr algn="l"/>
            <a:r>
              <a:rPr sz="1250" b="0" i="0">
                <a:solidFill>
                  <a:srgbClr val="000000"/>
                </a:solidFill>
                <a:latin typeface="Arial"/>
              </a:rPr>
              <a:t>Los cuatro fallos quedaron cortos, a entre 0,284 y 0,347 m: precisión de llegada de la navegación, sin ningún fallo de coordinación</a:t>
            </a:r>
          </a:p>
        </p:txBody>
      </p:sp>
      <p:sp>
        <p:nvSpPr>
          <p:cNvPr id="10" name="Rounded Rectangle 9"/>
          <p:cNvSpPr/>
          <p:nvPr/>
        </p:nvSpPr>
        <p:spPr>
          <a:xfrm>
            <a:off x="812800" y="5334000"/>
            <a:ext cx="2540000" cy="9906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1900" b="0" i="0">
                <a:solidFill>
                  <a:srgbClr val="001F5F"/>
                </a:solidFill>
                <a:latin typeface="Arial Black"/>
              </a:rPr>
              <a:t>0,1 a 0,4 s</a:t>
            </a:r>
          </a:p>
          <a:p>
            <a:pPr algn="ctr"/>
            <a:r>
              <a:rPr sz="1050" b="0" i="0">
                <a:solidFill>
                  <a:srgbClr val="404040"/>
                </a:solidFill>
                <a:latin typeface="Arial"/>
              </a:rPr>
              <a:t>Tiempo de respuesta, en pasos de 100 ms del reloj de la simulación</a:t>
            </a:r>
          </a:p>
        </p:txBody>
      </p:sp>
      <p:sp>
        <p:nvSpPr>
          <p:cNvPr id="11" name="Rounded Rectangle 10"/>
          <p:cNvSpPr/>
          <p:nvPr/>
        </p:nvSpPr>
        <p:spPr>
          <a:xfrm>
            <a:off x="3505200" y="5334000"/>
            <a:ext cx="2540000" cy="9906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1900" b="0" i="0">
                <a:solidFill>
                  <a:srgbClr val="001F5F"/>
                </a:solidFill>
                <a:latin typeface="Arial Black"/>
              </a:rPr>
              <a:t>&lt; 100 ms</a:t>
            </a:r>
          </a:p>
          <a:p>
            <a:pPr algn="ctr"/>
            <a:r>
              <a:rPr sz="1050" b="0" i="0">
                <a:solidFill>
                  <a:srgbClr val="404040"/>
                </a:solidFill>
                <a:latin typeface="Arial"/>
              </a:rPr>
              <a:t>Tiempo de asignación; en banco de pruebas, mediana de 154 a 175 µs</a:t>
            </a:r>
          </a:p>
        </p:txBody>
      </p:sp>
      <p:sp>
        <p:nvSpPr>
          <p:cNvPr id="12" name="Rounded Rectangle 11"/>
          <p:cNvSpPr/>
          <p:nvPr/>
        </p:nvSpPr>
        <p:spPr>
          <a:xfrm>
            <a:off x="6197600" y="5334000"/>
            <a:ext cx="2540000" cy="9906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1900" b="0" i="0">
                <a:solidFill>
                  <a:srgbClr val="001F5F"/>
                </a:solidFill>
                <a:latin typeface="Arial Black"/>
              </a:rPr>
              <a:t>0,1 a 0,2 s</a:t>
            </a:r>
          </a:p>
          <a:p>
            <a:pPr algn="ctr"/>
            <a:r>
              <a:rPr sz="1050" b="0" i="0">
                <a:solidFill>
                  <a:srgbClr val="404040"/>
                </a:solidFill>
                <a:latin typeface="Arial"/>
              </a:rPr>
              <a:t>Intervalo del relevo en las 15 misiones entre pisos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Odometría del agente</a:t>
            </a:r>
          </a:p>
        </p:txBody>
      </p:sp>
      <p:sp>
        <p:nvSpPr>
          <p:cNvPr id="5" name="Rectangle 4"/>
          <p:cNvSpPr/>
          <p:nvPr/>
        </p:nvSpPr>
        <p:spPr>
          <a:xfrm>
            <a:off x="6532117" y="1676400"/>
            <a:ext cx="603504" cy="4089400"/>
          </a:xfrm>
          <a:prstGeom prst="rect">
            <a:avLst/>
          </a:prstGeom>
          <a:solidFill>
            <a:srgbClr val="E2E2E2"/>
          </a:solidFill>
          <a:ln>
            <a:noFill/>
          </a:ln>
        </p:spPr>
        <p:txBody>
          <a:bodyPr rtlCol="0" anchor="ctr"/>
          <a:lstStyle/>
          <a:p>
            <a:pPr algn="ctr"/>
          </a:p>
        </p:txBody>
      </p:sp>
      <p:sp>
        <p:nvSpPr>
          <p:cNvPr id="6" name="TextBox 5"/>
          <p:cNvSpPr txBox="1"/>
          <p:nvPr/>
        </p:nvSpPr>
        <p:spPr>
          <a:xfrm>
            <a:off x="6151117" y="1422400"/>
            <a:ext cx="1365504" cy="203200"/>
          </a:xfrm>
          <a:prstGeom prst="rect">
            <a:avLst/>
          </a:prstGeom>
          <a:noFill/>
        </p:spPr>
        <p:txBody>
          <a:bodyPr wrap="square" lIns="0" tIns="0" rIns="0" bIns="0" anchor="t">
            <a:noAutofit/>
          </a:bodyPr>
          <a:lstStyle/>
          <a:p>
            <a:pPr algn="ctr"/>
            <a:r>
              <a:rPr sz="1000" b="0" i="0">
                <a:solidFill>
                  <a:srgbClr val="404040"/>
                </a:solidFill>
                <a:latin typeface="Arial"/>
              </a:rPr>
              <a:t>criterio: 90 a 110 %</a:t>
            </a:r>
          </a:p>
        </p:txBody>
      </p:sp>
      <p:graphicFrame>
        <p:nvGraphicFramePr>
          <p:cNvPr id="7" name="Chart 6"/>
          <p:cNvGraphicFramePr>
            <a:graphicFrameLocks noGrp="1"/>
          </p:cNvGraphicFramePr>
          <p:nvPr/>
        </p:nvGraphicFramePr>
        <p:xfrm>
          <a:off x="812800" y="1625600"/>
          <a:ext cx="6985000" cy="4191000"/>
        </p:xfrm>
        <a:graphic>
          <a:graphicData uri="http://schemas.openxmlformats.org/drawingml/2006/chart">
            <c:chart xmlns:c="http://schemas.openxmlformats.org/drawingml/2006/chart" r:id="rId4"/>
          </a:graphicData>
        </a:graphic>
      </p:graphicFrame>
      <p:sp>
        <p:nvSpPr>
          <p:cNvPr id="8" name="TextBox 7"/>
          <p:cNvSpPr txBox="1"/>
          <p:nvPr/>
        </p:nvSpPr>
        <p:spPr>
          <a:xfrm>
            <a:off x="812800" y="5867400"/>
            <a:ext cx="6985000" cy="177800"/>
          </a:xfrm>
          <a:prstGeom prst="rect">
            <a:avLst/>
          </a:prstGeom>
          <a:noFill/>
        </p:spPr>
        <p:txBody>
          <a:bodyPr wrap="square" lIns="0" tIns="0" rIns="0" bIns="0" anchor="t">
            <a:noAutofit/>
          </a:bodyPr>
          <a:lstStyle/>
          <a:p>
            <a:pPr algn="l"/>
            <a:r>
              <a:rPr sz="900" b="0" i="0">
                <a:solidFill>
                  <a:srgbClr val="404040"/>
                </a:solidFill>
                <a:latin typeface="Arial"/>
              </a:rPr>
              <a:t>Fracción del avance real, medido con flexómetro, que registra la odometría del láser. Fuente: Elaboración propia</a:t>
            </a:r>
          </a:p>
        </p:txBody>
      </p:sp>
      <p:sp>
        <p:nvSpPr>
          <p:cNvPr id="9" name="TextBox 8"/>
          <p:cNvSpPr txBox="1"/>
          <p:nvPr/>
        </p:nvSpPr>
        <p:spPr>
          <a:xfrm>
            <a:off x="7975600" y="1498600"/>
            <a:ext cx="2603500" cy="3302000"/>
          </a:xfrm>
          <a:prstGeom prst="rect">
            <a:avLst/>
          </a:prstGeom>
          <a:noFill/>
        </p:spPr>
        <p:txBody>
          <a:bodyPr wrap="square" lIns="0" tIns="0" rIns="0" bIns="0" anchor="t">
            <a:noAutofit/>
          </a:bodyPr>
          <a:lstStyle/>
          <a:p>
            <a:pPr algn="l" marL="139700" indent="-139700">
              <a:spcAft>
                <a:spcPts val="800"/>
              </a:spcAft>
              <a:buFont typeface="Arial"/>
              <a:buChar char="•"/>
            </a:pPr>
            <a:r>
              <a:rPr sz="1250" b="0" i="0">
                <a:solidFill>
                  <a:srgbClr val="000000"/>
                </a:solidFill>
                <a:latin typeface="Arial"/>
              </a:rPr>
              <a:t>El mismo estimador en todas las barras: cambió el entorno</a:t>
            </a:r>
          </a:p>
          <a:p>
            <a:pPr algn="l" marL="139700" indent="-139700">
              <a:spcAft>
                <a:spcPts val="800"/>
              </a:spcAft>
              <a:buFont typeface="Arial"/>
              <a:buChar char="•"/>
            </a:pPr>
            <a:r>
              <a:rPr sz="1250" b="0" i="0">
                <a:solidFill>
                  <a:srgbClr val="000000"/>
                </a:solidFill>
                <a:latin typeface="Arial"/>
              </a:rPr>
              <a:t>En los pasillos uniformes de Gregorio el avance no está en la señal del láser</a:t>
            </a:r>
          </a:p>
          <a:p>
            <a:pPr algn="l" marL="139700" indent="-139700">
              <a:spcAft>
                <a:spcPts val="800"/>
              </a:spcAft>
              <a:buFont typeface="Arial"/>
              <a:buChar char="•"/>
            </a:pPr>
            <a:r>
              <a:rPr sz="1250" b="0" i="0">
                <a:solidFill>
                  <a:srgbClr val="000000"/>
                </a:solidFill>
                <a:latin typeface="Arial"/>
              </a:rPr>
              <a:t>En Catalayud, ocho cambios de perfil en 25 m: error dentro del 5 % sin cambiar un parámetro</a:t>
            </a:r>
          </a:p>
          <a:p>
            <a:pPr algn="l" marL="139700" indent="-139700">
              <a:spcAft>
                <a:spcPts val="800"/>
              </a:spcAft>
              <a:buFont typeface="Arial"/>
              <a:buChar char="•"/>
            </a:pPr>
            <a:r>
              <a:rPr sz="1250" b="0" i="0">
                <a:solidFill>
                  <a:srgbClr val="000000"/>
                </a:solidFill>
                <a:latin typeface="Arial"/>
              </a:rPr>
              <a:t>Criterio de la prueba: error de 10 % o menos en un recorrido de 5 m o más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Precisión de llegada</a:t>
            </a:r>
          </a:p>
        </p:txBody>
      </p:sp>
      <p:pic>
        <p:nvPicPr>
          <p:cNvPr id="5" name="Picture 4" descr="cadena_piso4.png"/>
          <p:cNvPicPr>
            <a:picLocks noChangeAspect="1"/>
          </p:cNvPicPr>
          <p:nvPr/>
        </p:nvPicPr>
        <p:blipFill>
          <a:blip r:embed="rId4"/>
          <a:stretch>
            <a:fillRect/>
          </a:stretch>
        </p:blipFill>
        <p:spPr>
          <a:xfrm>
            <a:off x="812800" y="1371600"/>
            <a:ext cx="9334500" cy="2558344"/>
          </a:xfrm>
          <a:prstGeom prst="rect">
            <a:avLst/>
          </a:prstGeom>
        </p:spPr>
      </p:pic>
      <p:sp>
        <p:nvSpPr>
          <p:cNvPr id="6" name="TextBox 5"/>
          <p:cNvSpPr txBox="1"/>
          <p:nvPr/>
        </p:nvSpPr>
        <p:spPr>
          <a:xfrm>
            <a:off x="812800" y="3942644"/>
            <a:ext cx="9334500" cy="177800"/>
          </a:xfrm>
          <a:prstGeom prst="rect">
            <a:avLst/>
          </a:prstGeom>
          <a:noFill/>
        </p:spPr>
        <p:txBody>
          <a:bodyPr wrap="square" lIns="0" tIns="0" rIns="0" bIns="0" anchor="t">
            <a:noAutofit/>
          </a:bodyPr>
          <a:lstStyle/>
          <a:p>
            <a:pPr algn="l"/>
            <a:r>
              <a:rPr sz="900" b="0" i="0">
                <a:solidFill>
                  <a:srgbClr val="404040"/>
                </a:solidFill>
                <a:latin typeface="Arial"/>
              </a:rPr>
              <a:t>Cadena de tres tramos en el piso 4 y regreso a la salida, 7 de octubre. Fuente: Elaboración propia</a:t>
            </a:r>
          </a:p>
        </p:txBody>
      </p:sp>
      <p:graphicFrame>
        <p:nvGraphicFramePr>
          <p:cNvPr id="7" name="Table 6"/>
          <p:cNvGraphicFramePr>
            <a:graphicFrameLocks noGrp="1"/>
          </p:cNvGraphicFramePr>
          <p:nvPr/>
        </p:nvGraphicFramePr>
        <p:xfrm>
          <a:off x="812800" y="4254500"/>
          <a:ext cx="5880100" cy="1651000"/>
        </p:xfrm>
        <a:graphic>
          <a:graphicData uri="http://schemas.openxmlformats.org/drawingml/2006/table">
            <a:tbl>
              <a:tblPr firstRow="1">
                <a:tableStyleId>{5C22544A-7EE6-4342-B048-85BDC9FD1C3A}</a:tableStyleId>
              </a:tblPr>
              <a:tblGrid>
                <a:gridCol w="787400"/>
                <a:gridCol w="1041400"/>
                <a:gridCol w="787400"/>
                <a:gridCol w="1333500"/>
                <a:gridCol w="914400"/>
                <a:gridCol w="1016000"/>
              </a:tblGrid>
              <a:tr h="330200">
                <a:tc>
                  <a:txBody>
                    <a:bodyPr wrap="square"/>
                    <a:lstStyle/>
                    <a:p>
                      <a:pPr algn="l"/>
                      <a:r>
                        <a:rPr sz="1200" b="1" i="0">
                          <a:solidFill>
                            <a:srgbClr val="FFFFFF"/>
                          </a:solidFill>
                          <a:latin typeface="Arial"/>
                        </a:rPr>
                        <a:t>Tramo</a:t>
                      </a:r>
                    </a:p>
                  </a:txBody>
                  <a:tcPr marL="63500" marR="63500" marT="25400" marB="25400" anchor="ctr">
                    <a:solidFill>
                      <a:srgbClr val="4472C4"/>
                    </a:solidFill>
                  </a:tcPr>
                </a:tc>
                <a:tc>
                  <a:txBody>
                    <a:bodyPr wrap="square"/>
                    <a:lstStyle/>
                    <a:p>
                      <a:pPr algn="l"/>
                      <a:r>
                        <a:rPr sz="1200" b="1" i="0">
                          <a:solidFill>
                            <a:srgbClr val="FFFFFF"/>
                          </a:solidFill>
                          <a:latin typeface="Arial"/>
                        </a:rPr>
                        <a:t>Destino</a:t>
                      </a:r>
                    </a:p>
                  </a:txBody>
                  <a:tcPr marL="63500" marR="63500" marT="25400" marB="25400" anchor="ctr">
                    <a:solidFill>
                      <a:srgbClr val="4472C4"/>
                    </a:solidFill>
                  </a:tcPr>
                </a:tc>
                <a:tc>
                  <a:txBody>
                    <a:bodyPr wrap="square"/>
                    <a:lstStyle/>
                    <a:p>
                      <a:pPr algn="l"/>
                      <a:r>
                        <a:rPr sz="1200" b="1" i="0">
                          <a:solidFill>
                            <a:srgbClr val="FFFFFF"/>
                          </a:solidFill>
                          <a:latin typeface="Arial"/>
                        </a:rPr>
                        <a:t>Tiempo</a:t>
                      </a:r>
                    </a:p>
                  </a:txBody>
                  <a:tcPr marL="63500" marR="63500" marT="25400" marB="25400" anchor="ctr">
                    <a:solidFill>
                      <a:srgbClr val="4472C4"/>
                    </a:solidFill>
                  </a:tcPr>
                </a:tc>
                <a:tc>
                  <a:txBody>
                    <a:bodyPr wrap="square"/>
                    <a:lstStyle/>
                    <a:p>
                      <a:pPr algn="l"/>
                      <a:r>
                        <a:rPr sz="1200" b="1" i="0">
                          <a:solidFill>
                            <a:srgbClr val="FFFFFF"/>
                          </a:solidFill>
                          <a:latin typeface="Arial"/>
                        </a:rPr>
                        <a:t>Recuperaciones</a:t>
                      </a:r>
                    </a:p>
                  </a:txBody>
                  <a:tcPr marL="63500" marR="63500" marT="25400" marB="25400" anchor="ctr">
                    <a:solidFill>
                      <a:srgbClr val="4472C4"/>
                    </a:solidFill>
                  </a:tcPr>
                </a:tc>
                <a:tc>
                  <a:txBody>
                    <a:bodyPr wrap="square"/>
                    <a:lstStyle/>
                    <a:p>
                      <a:pPr algn="l"/>
                      <a:r>
                        <a:rPr sz="1200" b="1" i="0">
                          <a:solidFill>
                            <a:srgbClr val="FFFFFF"/>
                          </a:solidFill>
                          <a:latin typeface="Arial"/>
                        </a:rPr>
                        <a:t>A la meta</a:t>
                      </a:r>
                    </a:p>
                  </a:txBody>
                  <a:tcPr marL="63500" marR="63500" marT="25400" marB="25400" anchor="ctr">
                    <a:solidFill>
                      <a:srgbClr val="4472C4"/>
                    </a:solidFill>
                  </a:tcPr>
                </a:tc>
                <a:tc>
                  <a:txBody>
                    <a:bodyPr wrap="square"/>
                    <a:lstStyle/>
                    <a:p>
                      <a:pPr algn="l"/>
                      <a:r>
                        <a:rPr sz="1200" b="1" i="0">
                          <a:solidFill>
                            <a:srgbClr val="FFFFFF"/>
                          </a:solidFill>
                          <a:latin typeface="Arial"/>
                        </a:rPr>
                        <a:t>Medida</a:t>
                      </a:r>
                    </a:p>
                  </a:txBody>
                  <a:tcPr marL="63500" marR="63500" marT="25400" marB="25400" anchor="ctr">
                    <a:solidFill>
                      <a:srgbClr val="4472C4"/>
                    </a:solidFill>
                  </a:tcPr>
                </a:tc>
              </a:tr>
              <a:tr h="330200">
                <a:tc>
                  <a:txBody>
                    <a:bodyPr wrap="square"/>
                    <a:lstStyle/>
                    <a:p>
                      <a:pPr algn="l"/>
                      <a:r>
                        <a:rPr sz="1200" b="0" i="0">
                          <a:solidFill>
                            <a:srgbClr val="000000"/>
                          </a:solidFill>
                          <a:latin typeface="Arial"/>
                        </a:rPr>
                        <a:t>1</a:t>
                      </a:r>
                    </a:p>
                  </a:txBody>
                  <a:tcPr marL="63500" marR="63500" marT="25400" marB="25400" anchor="ctr">
                    <a:solidFill>
                      <a:srgbClr val="FFFFFF"/>
                    </a:solidFill>
                  </a:tcPr>
                </a:tc>
                <a:tc>
                  <a:txBody>
                    <a:bodyPr wrap="square"/>
                    <a:lstStyle/>
                    <a:p>
                      <a:pPr algn="l"/>
                      <a:r>
                        <a:rPr sz="1200" b="0" i="0">
                          <a:solidFill>
                            <a:srgbClr val="000000"/>
                          </a:solidFill>
                          <a:latin typeface="Arial"/>
                        </a:rPr>
                        <a:t>Salón 403</a:t>
                      </a:r>
                    </a:p>
                  </a:txBody>
                  <a:tcPr marL="63500" marR="63500" marT="25400" marB="25400" anchor="ctr">
                    <a:solidFill>
                      <a:srgbClr val="FFFFFF"/>
                    </a:solidFill>
                  </a:tcPr>
                </a:tc>
                <a:tc>
                  <a:txBody>
                    <a:bodyPr wrap="square"/>
                    <a:lstStyle/>
                    <a:p>
                      <a:pPr algn="l"/>
                      <a:r>
                        <a:rPr sz="1200" b="0" i="0">
                          <a:solidFill>
                            <a:srgbClr val="000000"/>
                          </a:solidFill>
                          <a:latin typeface="Arial"/>
                        </a:rPr>
                        <a:t>13,5 s</a:t>
                      </a:r>
                    </a:p>
                  </a:txBody>
                  <a:tcPr marL="63500" marR="63500" marT="25400" marB="25400" anchor="ctr">
                    <a:solidFill>
                      <a:srgbClr val="FFFFFF"/>
                    </a:solidFill>
                  </a:tcPr>
                </a:tc>
                <a:tc>
                  <a:txBody>
                    <a:bodyPr wrap="square"/>
                    <a:lstStyle/>
                    <a:p>
                      <a:pPr algn="l"/>
                      <a:r>
                        <a:rPr sz="1200" b="0" i="0">
                          <a:solidFill>
                            <a:srgbClr val="000000"/>
                          </a:solidFill>
                          <a:latin typeface="Arial"/>
                        </a:rPr>
                        <a:t>1</a:t>
                      </a:r>
                    </a:p>
                  </a:txBody>
                  <a:tcPr marL="63500" marR="63500" marT="25400" marB="25400" anchor="ctr">
                    <a:solidFill>
                      <a:srgbClr val="FFFFFF"/>
                    </a:solidFill>
                  </a:tcPr>
                </a:tc>
                <a:tc>
                  <a:txBody>
                    <a:bodyPr wrap="square"/>
                    <a:lstStyle/>
                    <a:p>
                      <a:pPr algn="l"/>
                      <a:r>
                        <a:rPr sz="1200" b="0" i="0">
                          <a:solidFill>
                            <a:srgbClr val="000000"/>
                          </a:solidFill>
                          <a:latin typeface="Arial"/>
                        </a:rPr>
                        <a:t>0,26 m</a:t>
                      </a:r>
                    </a:p>
                  </a:txBody>
                  <a:tcPr marL="63500" marR="63500" marT="25400" marB="25400" anchor="ctr">
                    <a:solidFill>
                      <a:srgbClr val="FFFFFF"/>
                    </a:solidFill>
                  </a:tcPr>
                </a:tc>
                <a:tc>
                  <a:txBody>
                    <a:bodyPr wrap="square"/>
                    <a:lstStyle/>
                    <a:p>
                      <a:pPr algn="l"/>
                      <a:r>
                        <a:rPr sz="1200" b="0" i="0">
                          <a:solidFill>
                            <a:srgbClr val="000000"/>
                          </a:solidFill>
                          <a:latin typeface="Arial"/>
                        </a:rPr>
                        <a:t>estimada</a:t>
                      </a:r>
                    </a:p>
                  </a:txBody>
                  <a:tcPr marL="63500" marR="63500" marT="25400" marB="25400" anchor="ctr">
                    <a:solidFill>
                      <a:srgbClr val="FFFFFF"/>
                    </a:solidFill>
                  </a:tcPr>
                </a:tc>
              </a:tr>
              <a:tr h="330200">
                <a:tc>
                  <a:txBody>
                    <a:bodyPr wrap="square"/>
                    <a:lstStyle/>
                    <a:p>
                      <a:pPr algn="l"/>
                      <a:r>
                        <a:rPr sz="1200" b="0" i="0">
                          <a:solidFill>
                            <a:srgbClr val="000000"/>
                          </a:solidFill>
                          <a:latin typeface="Arial"/>
                        </a:rPr>
                        <a:t>2</a:t>
                      </a:r>
                    </a:p>
                  </a:txBody>
                  <a:tcPr marL="63500" marR="63500" marT="25400" marB="25400" anchor="ctr">
                    <a:solidFill>
                      <a:srgbClr val="E7EDF7"/>
                    </a:solidFill>
                  </a:tcPr>
                </a:tc>
                <a:tc>
                  <a:txBody>
                    <a:bodyPr wrap="square"/>
                    <a:lstStyle/>
                    <a:p>
                      <a:pPr algn="l"/>
                      <a:r>
                        <a:rPr sz="1200" b="0" i="0">
                          <a:solidFill>
                            <a:srgbClr val="000000"/>
                          </a:solidFill>
                          <a:latin typeface="Arial"/>
                        </a:rPr>
                        <a:t>Salón 402</a:t>
                      </a:r>
                    </a:p>
                  </a:txBody>
                  <a:tcPr marL="63500" marR="63500" marT="25400" marB="25400" anchor="ctr">
                    <a:solidFill>
                      <a:srgbClr val="E7EDF7"/>
                    </a:solidFill>
                  </a:tcPr>
                </a:tc>
                <a:tc>
                  <a:txBody>
                    <a:bodyPr wrap="square"/>
                    <a:lstStyle/>
                    <a:p>
                      <a:pPr algn="l"/>
                      <a:r>
                        <a:rPr sz="1200" b="0" i="0">
                          <a:solidFill>
                            <a:srgbClr val="000000"/>
                          </a:solidFill>
                          <a:latin typeface="Arial"/>
                        </a:rPr>
                        <a:t>27,8 s</a:t>
                      </a:r>
                    </a:p>
                  </a:txBody>
                  <a:tcPr marL="63500" marR="63500" marT="25400" marB="25400" anchor="ctr">
                    <a:solidFill>
                      <a:srgbClr val="E7EDF7"/>
                    </a:solidFill>
                  </a:tcPr>
                </a:tc>
                <a:tc>
                  <a:txBody>
                    <a:bodyPr wrap="square"/>
                    <a:lstStyle/>
                    <a:p>
                      <a:pPr algn="l"/>
                      <a:r>
                        <a:rPr sz="1200" b="0" i="0">
                          <a:solidFill>
                            <a:srgbClr val="000000"/>
                          </a:solidFill>
                          <a:latin typeface="Arial"/>
                        </a:rPr>
                        <a:t>1</a:t>
                      </a:r>
                    </a:p>
                  </a:txBody>
                  <a:tcPr marL="63500" marR="63500" marT="25400" marB="25400" anchor="ctr">
                    <a:solidFill>
                      <a:srgbClr val="E7EDF7"/>
                    </a:solidFill>
                  </a:tcPr>
                </a:tc>
                <a:tc>
                  <a:txBody>
                    <a:bodyPr wrap="square"/>
                    <a:lstStyle/>
                    <a:p>
                      <a:pPr algn="l"/>
                      <a:r>
                        <a:rPr sz="1200" b="0" i="0">
                          <a:solidFill>
                            <a:srgbClr val="000000"/>
                          </a:solidFill>
                          <a:latin typeface="Arial"/>
                        </a:rPr>
                        <a:t>0,45 m</a:t>
                      </a:r>
                    </a:p>
                  </a:txBody>
                  <a:tcPr marL="63500" marR="63500" marT="25400" marB="25400" anchor="ctr">
                    <a:solidFill>
                      <a:srgbClr val="E7EDF7"/>
                    </a:solidFill>
                  </a:tcPr>
                </a:tc>
                <a:tc>
                  <a:txBody>
                    <a:bodyPr wrap="square"/>
                    <a:lstStyle/>
                    <a:p>
                      <a:pPr algn="l"/>
                      <a:r>
                        <a:rPr sz="1200" b="0" i="0">
                          <a:solidFill>
                            <a:srgbClr val="000000"/>
                          </a:solidFill>
                          <a:latin typeface="Arial"/>
                        </a:rPr>
                        <a:t>flexómetro</a:t>
                      </a:r>
                    </a:p>
                  </a:txBody>
                  <a:tcPr marL="63500" marR="63500" marT="25400" marB="25400" anchor="ctr">
                    <a:solidFill>
                      <a:srgbClr val="E7EDF7"/>
                    </a:solidFill>
                  </a:tcPr>
                </a:tc>
              </a:tr>
              <a:tr h="330200">
                <a:tc>
                  <a:txBody>
                    <a:bodyPr wrap="square"/>
                    <a:lstStyle/>
                    <a:p>
                      <a:pPr algn="l"/>
                      <a:r>
                        <a:rPr sz="1200" b="0" i="0">
                          <a:solidFill>
                            <a:srgbClr val="000000"/>
                          </a:solidFill>
                          <a:latin typeface="Arial"/>
                        </a:rPr>
                        <a:t>3</a:t>
                      </a:r>
                    </a:p>
                  </a:txBody>
                  <a:tcPr marL="63500" marR="63500" marT="25400" marB="25400" anchor="ctr">
                    <a:solidFill>
                      <a:srgbClr val="FFFFFF"/>
                    </a:solidFill>
                  </a:tcPr>
                </a:tc>
                <a:tc>
                  <a:txBody>
                    <a:bodyPr wrap="square"/>
                    <a:lstStyle/>
                    <a:p>
                      <a:pPr algn="l"/>
                      <a:r>
                        <a:rPr sz="1200" b="0" i="0">
                          <a:solidFill>
                            <a:srgbClr val="000000"/>
                          </a:solidFill>
                          <a:latin typeface="Arial"/>
                        </a:rPr>
                        <a:t>Salón 401</a:t>
                      </a:r>
                    </a:p>
                  </a:txBody>
                  <a:tcPr marL="63500" marR="63500" marT="25400" marB="25400" anchor="ctr">
                    <a:solidFill>
                      <a:srgbClr val="FFFFFF"/>
                    </a:solidFill>
                  </a:tcPr>
                </a:tc>
                <a:tc>
                  <a:txBody>
                    <a:bodyPr wrap="square"/>
                    <a:lstStyle/>
                    <a:p>
                      <a:pPr algn="l"/>
                      <a:r>
                        <a:rPr sz="1200" b="0" i="0">
                          <a:solidFill>
                            <a:srgbClr val="000000"/>
                          </a:solidFill>
                          <a:latin typeface="Arial"/>
                        </a:rPr>
                        <a:t>5,2 s</a:t>
                      </a:r>
                    </a:p>
                  </a:txBody>
                  <a:tcPr marL="63500" marR="63500" marT="25400" marB="25400" anchor="ctr">
                    <a:solidFill>
                      <a:srgbClr val="FFFFFF"/>
                    </a:solidFill>
                  </a:tcPr>
                </a:tc>
                <a:tc>
                  <a:txBody>
                    <a:bodyPr wrap="square"/>
                    <a:lstStyle/>
                    <a:p>
                      <a:pPr algn="l"/>
                      <a:r>
                        <a:rPr sz="1200" b="0" i="0">
                          <a:solidFill>
                            <a:srgbClr val="000000"/>
                          </a:solidFill>
                          <a:latin typeface="Arial"/>
                        </a:rPr>
                        <a:t>0</a:t>
                      </a:r>
                    </a:p>
                  </a:txBody>
                  <a:tcPr marL="63500" marR="63500" marT="25400" marB="25400" anchor="ctr">
                    <a:solidFill>
                      <a:srgbClr val="FFFFFF"/>
                    </a:solidFill>
                  </a:tcPr>
                </a:tc>
                <a:tc>
                  <a:txBody>
                    <a:bodyPr wrap="square"/>
                    <a:lstStyle/>
                    <a:p>
                      <a:pPr algn="l"/>
                      <a:r>
                        <a:rPr sz="1200" b="0" i="0">
                          <a:solidFill>
                            <a:srgbClr val="000000"/>
                          </a:solidFill>
                          <a:latin typeface="Arial"/>
                        </a:rPr>
                        <a:t>0,06 m</a:t>
                      </a:r>
                    </a:p>
                  </a:txBody>
                  <a:tcPr marL="63500" marR="63500" marT="25400" marB="25400" anchor="ctr">
                    <a:solidFill>
                      <a:srgbClr val="FFFFFF"/>
                    </a:solidFill>
                  </a:tcPr>
                </a:tc>
                <a:tc>
                  <a:txBody>
                    <a:bodyPr wrap="square"/>
                    <a:lstStyle/>
                    <a:p>
                      <a:pPr algn="l"/>
                      <a:r>
                        <a:rPr sz="1200" b="0" i="0">
                          <a:solidFill>
                            <a:srgbClr val="000000"/>
                          </a:solidFill>
                          <a:latin typeface="Arial"/>
                        </a:rPr>
                        <a:t>flexómetro</a:t>
                      </a:r>
                    </a:p>
                  </a:txBody>
                  <a:tcPr marL="63500" marR="63500" marT="25400" marB="25400" anchor="ctr">
                    <a:solidFill>
                      <a:srgbClr val="FFFFFF"/>
                    </a:solidFill>
                  </a:tcPr>
                </a:tc>
              </a:tr>
              <a:tr h="330200">
                <a:tc>
                  <a:txBody>
                    <a:bodyPr wrap="square"/>
                    <a:lstStyle/>
                    <a:p>
                      <a:pPr algn="l"/>
                      <a:r>
                        <a:rPr sz="1200" b="0" i="0">
                          <a:solidFill>
                            <a:srgbClr val="000000"/>
                          </a:solidFill>
                          <a:latin typeface="Arial"/>
                        </a:rPr>
                        <a:t>Regreso</a:t>
                      </a:r>
                    </a:p>
                  </a:txBody>
                  <a:tcPr marL="63500" marR="63500" marT="25400" marB="25400" anchor="ctr">
                    <a:solidFill>
                      <a:srgbClr val="E7EDF7"/>
                    </a:solidFill>
                  </a:tcPr>
                </a:tc>
                <a:tc>
                  <a:txBody>
                    <a:bodyPr wrap="square"/>
                    <a:lstStyle/>
                    <a:p>
                      <a:pPr algn="l"/>
                      <a:r>
                        <a:rPr sz="1200" b="0" i="0">
                          <a:solidFill>
                            <a:srgbClr val="000000"/>
                          </a:solidFill>
                          <a:latin typeface="Arial"/>
                        </a:rPr>
                        <a:t>Salida</a:t>
                      </a:r>
                    </a:p>
                  </a:txBody>
                  <a:tcPr marL="63500" marR="63500" marT="25400" marB="25400" anchor="ctr">
                    <a:solidFill>
                      <a:srgbClr val="E7EDF7"/>
                    </a:solidFill>
                  </a:tcPr>
                </a:tc>
                <a:tc>
                  <a:txBody>
                    <a:bodyPr wrap="square"/>
                    <a:lstStyle/>
                    <a:p>
                      <a:pPr algn="l"/>
                      <a:r>
                        <a:rPr sz="1200" b="0" i="0">
                          <a:solidFill>
                            <a:srgbClr val="000000"/>
                          </a:solidFill>
                          <a:latin typeface="Arial"/>
                        </a:rPr>
                        <a:t>62,8 s</a:t>
                      </a:r>
                    </a:p>
                  </a:txBody>
                  <a:tcPr marL="63500" marR="63500" marT="25400" marB="25400" anchor="ctr">
                    <a:solidFill>
                      <a:srgbClr val="E7EDF7"/>
                    </a:solidFill>
                  </a:tcPr>
                </a:tc>
                <a:tc>
                  <a:txBody>
                    <a:bodyPr wrap="square"/>
                    <a:lstStyle/>
                    <a:p>
                      <a:pPr algn="l"/>
                      <a:r>
                        <a:rPr sz="1200" b="0" i="0">
                          <a:solidFill>
                            <a:srgbClr val="000000"/>
                          </a:solidFill>
                          <a:latin typeface="Arial"/>
                        </a:rPr>
                        <a:t>6</a:t>
                      </a:r>
                    </a:p>
                  </a:txBody>
                  <a:tcPr marL="63500" marR="63500" marT="25400" marB="25400" anchor="ctr">
                    <a:solidFill>
                      <a:srgbClr val="E7EDF7"/>
                    </a:solidFill>
                  </a:tcPr>
                </a:tc>
                <a:tc>
                  <a:txBody>
                    <a:bodyPr wrap="square"/>
                    <a:lstStyle/>
                    <a:p>
                      <a:pPr algn="l"/>
                      <a:r>
                        <a:rPr sz="1200" b="0" i="0">
                          <a:solidFill>
                            <a:srgbClr val="000000"/>
                          </a:solidFill>
                          <a:latin typeface="Arial"/>
                        </a:rPr>
                        <a:t>0,34 m</a:t>
                      </a:r>
                    </a:p>
                  </a:txBody>
                  <a:tcPr marL="63500" marR="63500" marT="25400" marB="25400" anchor="ctr">
                    <a:solidFill>
                      <a:srgbClr val="E7EDF7"/>
                    </a:solidFill>
                  </a:tcPr>
                </a:tc>
                <a:tc>
                  <a:txBody>
                    <a:bodyPr wrap="square"/>
                    <a:lstStyle/>
                    <a:p>
                      <a:pPr algn="l"/>
                      <a:r>
                        <a:rPr sz="1200" b="0" i="0">
                          <a:solidFill>
                            <a:srgbClr val="000000"/>
                          </a:solidFill>
                          <a:latin typeface="Arial"/>
                        </a:rPr>
                        <a:t>flexómetro</a:t>
                      </a:r>
                    </a:p>
                  </a:txBody>
                  <a:tcPr marL="63500" marR="63500" marT="25400" marB="25400" anchor="ctr">
                    <a:solidFill>
                      <a:srgbClr val="E7EDF7"/>
                    </a:solidFill>
                  </a:tcPr>
                </a:tc>
              </a:tr>
            </a:tbl>
          </a:graphicData>
        </a:graphic>
      </p:graphicFrame>
      <p:sp>
        <p:nvSpPr>
          <p:cNvPr id="8" name="TextBox 7"/>
          <p:cNvSpPr txBox="1"/>
          <p:nvPr/>
        </p:nvSpPr>
        <p:spPr>
          <a:xfrm>
            <a:off x="6858000" y="4292600"/>
            <a:ext cx="2540000" cy="1778000"/>
          </a:xfrm>
          <a:prstGeom prst="rect">
            <a:avLst/>
          </a:prstGeom>
          <a:noFill/>
        </p:spPr>
        <p:txBody>
          <a:bodyPr wrap="square" lIns="0" tIns="0" rIns="0" bIns="0" anchor="t">
            <a:noAutofit/>
          </a:bodyPr>
          <a:lstStyle/>
          <a:p>
            <a:pPr algn="l" marL="139700" indent="-139700">
              <a:spcAft>
                <a:spcPts val="800"/>
              </a:spcAft>
              <a:buFont typeface="Arial"/>
              <a:buChar char="•"/>
            </a:pPr>
            <a:r>
              <a:rPr sz="1250" b="0" i="0">
                <a:solidFill>
                  <a:srgbClr val="000000"/>
                </a:solidFill>
                <a:latin typeface="Arial"/>
              </a:rPr>
              <a:t>Las llegadas medidas quedaron dentro de 0,5 m</a:t>
            </a:r>
          </a:p>
          <a:p>
            <a:pPr algn="l" marL="139700" indent="-139700">
              <a:buFont typeface="Arial"/>
              <a:buChar char="•"/>
            </a:pPr>
            <a:r>
              <a:rPr sz="1250" b="0" i="0">
                <a:solidFill>
                  <a:srgbClr val="000000"/>
                </a:solidFill>
                <a:latin typeface="Arial"/>
              </a:rPr>
              <a:t>Piso 3, 8 de octubre: cinco tramos con dos medias vueltas, sin recuperaciones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3494" b="0" i="0">
                <a:solidFill>
                  <a:srgbClr val="001F5F"/>
                </a:solidFill>
                <a:latin typeface="Arial Black"/>
              </a:rPr>
              <a:t>Campaña con los agentes físicos</a:t>
            </a:r>
          </a:p>
        </p:txBody>
      </p:sp>
      <p:sp>
        <p:nvSpPr>
          <p:cNvPr id="5" name="Rounded Rectangle 4"/>
          <p:cNvSpPr/>
          <p:nvPr/>
        </p:nvSpPr>
        <p:spPr>
          <a:xfrm>
            <a:off x="838200" y="1346200"/>
            <a:ext cx="2184400" cy="10160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2200" b="0" i="0">
                <a:solidFill>
                  <a:srgbClr val="001F5F"/>
                </a:solidFill>
                <a:latin typeface="Arial Black"/>
              </a:rPr>
              <a:t>9 de 9</a:t>
            </a:r>
          </a:p>
          <a:p>
            <a:pPr algn="ctr"/>
            <a:r>
              <a:rPr sz="1050" b="0" i="0">
                <a:solidFill>
                  <a:srgbClr val="404040"/>
                </a:solidFill>
                <a:latin typeface="Arial"/>
              </a:rPr>
              <a:t>misiones sorteadas completadas, todas con relevo</a:t>
            </a:r>
          </a:p>
        </p:txBody>
      </p:sp>
      <p:sp>
        <p:nvSpPr>
          <p:cNvPr id="6" name="Rounded Rectangle 5"/>
          <p:cNvSpPr/>
          <p:nvPr/>
        </p:nvSpPr>
        <p:spPr>
          <a:xfrm>
            <a:off x="3149600" y="1346200"/>
            <a:ext cx="2184400" cy="10160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2200" b="0" i="0">
                <a:solidFill>
                  <a:srgbClr val="001F5F"/>
                </a:solidFill>
                <a:latin typeface="Arial Black"/>
              </a:rPr>
              <a:t>87,6 s</a:t>
            </a:r>
          </a:p>
          <a:p>
            <a:pPr algn="ctr"/>
            <a:r>
              <a:rPr sz="1050" b="0" i="0">
                <a:solidFill>
                  <a:srgbClr val="404040"/>
                </a:solidFill>
                <a:latin typeface="Arial"/>
              </a:rPr>
              <a:t>tiempo total, mediana (52,3 a 105,4 s)</a:t>
            </a:r>
          </a:p>
        </p:txBody>
      </p:sp>
      <p:sp>
        <p:nvSpPr>
          <p:cNvPr id="7" name="Rounded Rectangle 6"/>
          <p:cNvSpPr/>
          <p:nvPr/>
        </p:nvSpPr>
        <p:spPr>
          <a:xfrm>
            <a:off x="5461000" y="1346200"/>
            <a:ext cx="2184400" cy="10160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2200" b="0" i="0">
                <a:solidFill>
                  <a:srgbClr val="001F5F"/>
                </a:solidFill>
                <a:latin typeface="Arial Black"/>
              </a:rPr>
              <a:t>0,87 s</a:t>
            </a:r>
          </a:p>
          <a:p>
            <a:pPr algn="ctr"/>
            <a:r>
              <a:rPr sz="1050" b="0" i="0">
                <a:solidFill>
                  <a:srgbClr val="404040"/>
                </a:solidFill>
                <a:latin typeface="Arial"/>
              </a:rPr>
              <a:t>tiempo de respuesta, mediana</a:t>
            </a:r>
          </a:p>
        </p:txBody>
      </p:sp>
      <p:sp>
        <p:nvSpPr>
          <p:cNvPr id="8" name="Rounded Rectangle 7"/>
          <p:cNvSpPr/>
          <p:nvPr/>
        </p:nvSpPr>
        <p:spPr>
          <a:xfrm>
            <a:off x="7772400" y="1346200"/>
            <a:ext cx="2184400" cy="1016000"/>
          </a:xfrm>
          <a:prstGeom prst="roundRect">
            <a:avLst>
              <a:gd name="adj" fmla="val 12000"/>
            </a:avLst>
          </a:prstGeom>
          <a:solidFill>
            <a:srgbClr val="FFFFFF"/>
          </a:solidFill>
          <a:ln w="9525">
            <a:solidFill>
              <a:srgbClr val="85A3D8"/>
            </a:solidFill>
          </a:ln>
        </p:spPr>
        <p:txBody>
          <a:bodyPr rtlCol="0" anchor="ctr" wrap="square" lIns="76200" tIns="25400" rIns="76200" bIns="25400">
            <a:noAutofit/>
          </a:bodyPr>
          <a:lstStyle/>
          <a:p>
            <a:pPr algn="ctr"/>
            <a:r>
              <a:rPr sz="2200" b="0" i="0">
                <a:solidFill>
                  <a:srgbClr val="001F5F"/>
                </a:solidFill>
                <a:latin typeface="Arial Black"/>
              </a:rPr>
              <a:t>0,234 m</a:t>
            </a:r>
          </a:p>
          <a:p>
            <a:pPr algn="ctr"/>
            <a:r>
              <a:rPr sz="1050" b="0" i="0">
                <a:solidFill>
                  <a:srgbClr val="404040"/>
                </a:solidFill>
                <a:latin typeface="Arial"/>
              </a:rPr>
              <a:t>llegada según la localización, mediana (0,143 a 0,435 m)</a:t>
            </a:r>
          </a:p>
        </p:txBody>
      </p:sp>
      <p:pic>
        <p:nvPicPr>
          <p:cNvPr id="9" name="Picture 8" descr="campana_vehiculos_etapas.png"/>
          <p:cNvPicPr>
            <a:picLocks noChangeAspect="1"/>
          </p:cNvPicPr>
          <p:nvPr/>
        </p:nvPicPr>
        <p:blipFill>
          <a:blip r:embed="rId4"/>
          <a:stretch>
            <a:fillRect/>
          </a:stretch>
        </p:blipFill>
        <p:spPr>
          <a:xfrm>
            <a:off x="812800" y="2514600"/>
            <a:ext cx="6465253" cy="3454400"/>
          </a:xfrm>
          <a:prstGeom prst="rect">
            <a:avLst/>
          </a:prstGeom>
        </p:spPr>
      </p:pic>
      <p:sp>
        <p:nvSpPr>
          <p:cNvPr id="10" name="TextBox 9"/>
          <p:cNvSpPr txBox="1"/>
          <p:nvPr/>
        </p:nvSpPr>
        <p:spPr>
          <a:xfrm>
            <a:off x="812800" y="5981700"/>
            <a:ext cx="6465253" cy="177800"/>
          </a:xfrm>
          <a:prstGeom prst="rect">
            <a:avLst/>
          </a:prstGeom>
          <a:noFill/>
        </p:spPr>
        <p:txBody>
          <a:bodyPr wrap="square" lIns="0" tIns="0" rIns="0" bIns="0" anchor="t">
            <a:noAutofit/>
          </a:bodyPr>
          <a:lstStyle/>
          <a:p>
            <a:pPr algn="l"/>
            <a:r>
              <a:rPr sz="900" b="0" i="0">
                <a:solidFill>
                  <a:srgbClr val="404040"/>
                </a:solidFill>
                <a:latin typeface="Arial"/>
              </a:rPr>
              <a:t>Duración de cada etapa en las nueve misiones. Fuente: Elaboración propia</a:t>
            </a:r>
          </a:p>
        </p:txBody>
      </p:sp>
      <p:sp>
        <p:nvSpPr>
          <p:cNvPr id="11" name="TextBox 10"/>
          <p:cNvSpPr txBox="1"/>
          <p:nvPr/>
        </p:nvSpPr>
        <p:spPr>
          <a:xfrm>
            <a:off x="7455853" y="2590800"/>
            <a:ext cx="2577146" cy="2921000"/>
          </a:xfrm>
          <a:prstGeom prst="rect">
            <a:avLst/>
          </a:prstGeom>
          <a:noFill/>
        </p:spPr>
        <p:txBody>
          <a:bodyPr wrap="square" lIns="0" tIns="0" rIns="0" bIns="0" anchor="t">
            <a:noAutofit/>
          </a:bodyPr>
          <a:lstStyle/>
          <a:p>
            <a:pPr algn="l" marL="139700" indent="-139700">
              <a:spcAft>
                <a:spcPts val="700"/>
              </a:spcAft>
              <a:buFont typeface="Arial"/>
              <a:buChar char="•"/>
            </a:pPr>
            <a:r>
              <a:rPr sz="1200" b="0" i="0">
                <a:solidFill>
                  <a:srgbClr val="000000"/>
                </a:solidFill>
                <a:latin typeface="Arial"/>
              </a:rPr>
              <a:t>Intervalo de Wilson al 95 %: de 70,1 a 100 %</a:t>
            </a:r>
          </a:p>
          <a:p>
            <a:pPr algn="l" marL="139700" indent="-139700">
              <a:spcAft>
                <a:spcPts val="700"/>
              </a:spcAft>
              <a:buFont typeface="Arial"/>
              <a:buChar char="•"/>
            </a:pPr>
            <a:r>
              <a:rPr sz="1200" b="0" i="0">
                <a:solidFill>
                  <a:srgbClr val="000000"/>
                </a:solidFill>
                <a:latin typeface="Arial"/>
              </a:rPr>
              <a:t>ASTM F3244-21: nueve repeticiones sin fallo demuestran una fiabilidad mínima de 0,81 con 85 % de confianza</a:t>
            </a:r>
          </a:p>
          <a:p>
            <a:pPr algn="l" marL="139700" indent="-139700">
              <a:spcAft>
                <a:spcPts val="700"/>
              </a:spcAft>
              <a:buFont typeface="Arial"/>
              <a:buChar char="•"/>
            </a:pPr>
            <a:r>
              <a:rPr sz="1200" b="0" i="0">
                <a:solidFill>
                  <a:srgbClr val="000000"/>
                </a:solidFill>
                <a:latin typeface="Arial"/>
              </a:rPr>
              <a:t>Tiempo de asignación de 0,3 ms; 24 medias vueltas de 160 a 171°</a:t>
            </a:r>
          </a:p>
          <a:p>
            <a:pPr algn="l" marL="139700" indent="-139700">
              <a:spcAft>
                <a:spcPts val="700"/>
              </a:spcAft>
              <a:buFont typeface="Arial"/>
              <a:buChar char="•"/>
            </a:pPr>
            <a:r>
              <a:rPr sz="1200" b="0" i="0">
                <a:solidFill>
                  <a:srgbClr val="000000"/>
                </a:solidFill>
                <a:latin typeface="Arial"/>
              </a:rPr>
              <a:t>La décima misión quedó interrumpida: el portátil se quedó sin batería</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Relevo y limitaciones</a:t>
            </a:r>
          </a:p>
        </p:txBody>
      </p:sp>
      <p:pic>
        <p:nvPicPr>
          <p:cNvPr id="5" name="Picture 4" descr="foto_relevo.jpg"/>
          <p:cNvPicPr>
            <a:picLocks noChangeAspect="1"/>
          </p:cNvPicPr>
          <p:nvPr/>
        </p:nvPicPr>
        <p:blipFill>
          <a:blip r:embed="rId4"/>
          <a:stretch>
            <a:fillRect/>
          </a:stretch>
        </p:blipFill>
        <p:spPr>
          <a:xfrm>
            <a:off x="838200" y="1346200"/>
            <a:ext cx="5016500" cy="1766164"/>
          </a:xfrm>
          <a:prstGeom prst="rect">
            <a:avLst/>
          </a:prstGeom>
        </p:spPr>
      </p:pic>
      <p:sp>
        <p:nvSpPr>
          <p:cNvPr id="6" name="TextBox 5"/>
          <p:cNvSpPr txBox="1"/>
          <p:nvPr/>
        </p:nvSpPr>
        <p:spPr>
          <a:xfrm>
            <a:off x="838200" y="3137764"/>
            <a:ext cx="5016500" cy="177800"/>
          </a:xfrm>
          <a:prstGeom prst="rect">
            <a:avLst/>
          </a:prstGeom>
          <a:noFill/>
        </p:spPr>
        <p:txBody>
          <a:bodyPr wrap="square" lIns="0" tIns="0" rIns="0" bIns="0" anchor="t">
            <a:noAutofit/>
          </a:bodyPr>
          <a:lstStyle/>
          <a:p>
            <a:pPr algn="l"/>
            <a:r>
              <a:rPr sz="900" b="0" i="0">
                <a:solidFill>
                  <a:srgbClr val="404040"/>
                </a:solidFill>
                <a:latin typeface="Arial"/>
              </a:rPr>
              <a:t>Misión 5: la persona baja del piso 4 y el agente del piso 3 la espera en su escalera. Fuente: Elaboración propia</a:t>
            </a:r>
          </a:p>
        </p:txBody>
      </p:sp>
      <p:sp>
        <p:nvSpPr>
          <p:cNvPr id="7" name="Rounded Rectangle 6"/>
          <p:cNvSpPr/>
          <p:nvPr/>
        </p:nvSpPr>
        <p:spPr>
          <a:xfrm>
            <a:off x="838200" y="3606800"/>
            <a:ext cx="5016500" cy="1168400"/>
          </a:xfrm>
          <a:prstGeom prst="roundRect">
            <a:avLst>
              <a:gd name="adj" fmla="val 12000"/>
            </a:avLst>
          </a:prstGeom>
          <a:solidFill>
            <a:srgbClr val="FFFFFF"/>
          </a:solidFill>
          <a:ln w="9525">
            <a:solidFill>
              <a:srgbClr val="85A3D8"/>
            </a:solidFill>
          </a:ln>
        </p:spPr>
        <p:txBody>
          <a:bodyPr rtlCol="0" anchor="ctr" wrap="square" lIns="127000" tIns="25400" rIns="127000" bIns="25400">
            <a:noAutofit/>
          </a:bodyPr>
          <a:lstStyle/>
          <a:p>
            <a:pPr algn="ctr"/>
            <a:r>
              <a:rPr sz="2400" b="0" i="0">
                <a:solidFill>
                  <a:srgbClr val="001F5F"/>
                </a:solidFill>
                <a:latin typeface="Arial Black"/>
              </a:rPr>
              <a:t>24,8 s</a:t>
            </a:r>
          </a:p>
          <a:p>
            <a:pPr algn="ctr"/>
            <a:r>
              <a:rPr sz="1150" b="0" i="0">
                <a:solidFill>
                  <a:srgbClr val="404040"/>
                </a:solidFill>
                <a:latin typeface="Arial"/>
              </a:rPr>
              <a:t>mediana, de 18,0 a 29,5 s, desde que la persona llega a la escalera hasta que arranca el guiado en el otro piso</a:t>
            </a:r>
          </a:p>
        </p:txBody>
      </p:sp>
      <p:sp>
        <p:nvSpPr>
          <p:cNvPr id="8" name="TextBox 7"/>
          <p:cNvSpPr txBox="1"/>
          <p:nvPr/>
        </p:nvSpPr>
        <p:spPr>
          <a:xfrm>
            <a:off x="838200" y="4902200"/>
            <a:ext cx="5016500" cy="1016000"/>
          </a:xfrm>
          <a:prstGeom prst="rect">
            <a:avLst/>
          </a:prstGeom>
          <a:noFill/>
        </p:spPr>
        <p:txBody>
          <a:bodyPr wrap="square" lIns="0" tIns="0" rIns="0" bIns="0" anchor="t">
            <a:noAutofit/>
          </a:bodyPr>
          <a:lstStyle/>
          <a:p>
            <a:pPr algn="l" marL="139700" indent="-139700">
              <a:spcAft>
                <a:spcPts val="400"/>
              </a:spcAft>
              <a:buFont typeface="Arial"/>
              <a:buChar char="•"/>
            </a:pPr>
            <a:r>
              <a:rPr sz="1250" b="0" i="0">
                <a:solidFill>
                  <a:srgbClr val="000000"/>
                </a:solidFill>
                <a:latin typeface="Arial"/>
              </a:rPr>
              <a:t>La confirmación tomó de 2,3 a 24,7 s; el aviso de los 60 s no apareció en ninguna misión</a:t>
            </a:r>
          </a:p>
          <a:p>
            <a:pPr algn="l" marL="139700" indent="-139700">
              <a:buFont typeface="Arial"/>
              <a:buChar char="•"/>
            </a:pPr>
            <a:r>
              <a:rPr sz="1250" b="0" i="0">
                <a:solidFill>
                  <a:srgbClr val="000000"/>
                </a:solidFill>
                <a:latin typeface="Arial"/>
              </a:rPr>
              <a:t>Ninguna misión quedó sin agente asignado</a:t>
            </a:r>
          </a:p>
        </p:txBody>
      </p:sp>
      <p:sp>
        <p:nvSpPr>
          <p:cNvPr id="9" name="TextBox 8"/>
          <p:cNvSpPr txBox="1"/>
          <p:nvPr/>
        </p:nvSpPr>
        <p:spPr>
          <a:xfrm>
            <a:off x="6070600" y="1371600"/>
            <a:ext cx="4191000" cy="304800"/>
          </a:xfrm>
          <a:prstGeom prst="rect">
            <a:avLst/>
          </a:prstGeom>
          <a:noFill/>
        </p:spPr>
        <p:txBody>
          <a:bodyPr wrap="square" lIns="0" tIns="0" rIns="0" bIns="0" anchor="t">
            <a:noAutofit/>
          </a:bodyPr>
          <a:lstStyle/>
          <a:p>
            <a:pPr algn="l"/>
            <a:r>
              <a:rPr sz="1600" b="1" i="0">
                <a:solidFill>
                  <a:srgbClr val="001F5F"/>
                </a:solidFill>
                <a:latin typeface="Arial"/>
              </a:rPr>
              <a:t>Limitaciones de la medición</a:t>
            </a:r>
          </a:p>
        </p:txBody>
      </p:sp>
      <p:sp>
        <p:nvSpPr>
          <p:cNvPr id="10" name="TextBox 9"/>
          <p:cNvSpPr txBox="1"/>
          <p:nvPr/>
        </p:nvSpPr>
        <p:spPr>
          <a:xfrm>
            <a:off x="6070600" y="1752600"/>
            <a:ext cx="4127500" cy="3302000"/>
          </a:xfrm>
          <a:prstGeom prst="rect">
            <a:avLst/>
          </a:prstGeom>
          <a:noFill/>
        </p:spPr>
        <p:txBody>
          <a:bodyPr wrap="square" lIns="0" tIns="0" rIns="0" bIns="0" anchor="t">
            <a:noAutofit/>
          </a:bodyPr>
          <a:lstStyle/>
          <a:p>
            <a:pPr algn="l">
              <a:spcAft>
                <a:spcPts val="1000"/>
              </a:spcAft>
            </a:pPr>
            <a:r>
              <a:rPr sz="1300" b="0" i="0">
                <a:solidFill>
                  <a:srgbClr val="000000"/>
                </a:solidFill>
                <a:latin typeface="Arial"/>
              </a:rPr>
              <a:t>1. La continuidad entre niveles, como criterio binario, no puede fallar por construcción: se informa el intervalo del relevo</a:t>
            </a:r>
          </a:p>
          <a:p>
            <a:pPr algn="l">
              <a:spcAft>
                <a:spcPts val="1000"/>
              </a:spcAft>
            </a:pPr>
            <a:r>
              <a:rPr sz="1300" b="0" i="0">
                <a:solidFill>
                  <a:srgbClr val="000000"/>
                </a:solidFill>
                <a:latin typeface="Arial"/>
              </a:rPr>
              <a:t>2. En el mapa de la simulación, 10 908 celdas desconocidas, el 14,5 % del mapa, se cargaron como libres; el umbral se corrigió el 25 de septiembre</a:t>
            </a:r>
          </a:p>
          <a:p>
            <a:pPr algn="l">
              <a:spcAft>
                <a:spcPts val="1000"/>
              </a:spcAft>
            </a:pPr>
            <a:r>
              <a:rPr sz="1300" b="0" i="0">
                <a:solidFill>
                  <a:srgbClr val="000000"/>
                </a:solidFill>
                <a:latin typeface="Arial"/>
              </a:rPr>
              <a:t>3. Con los agentes físicos, la llegada se midió con la localización de cada agente y no con flexómetro</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CONCLUSIONES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Conclusiones</a:t>
            </a:r>
          </a:p>
        </p:txBody>
      </p:sp>
      <p:sp>
        <p:nvSpPr>
          <p:cNvPr id="5" name="Rounded Rectangle 4"/>
          <p:cNvSpPr/>
          <p:nvPr/>
        </p:nvSpPr>
        <p:spPr>
          <a:xfrm>
            <a:off x="1498600" y="1422400"/>
            <a:ext cx="8407400" cy="1041400"/>
          </a:xfrm>
          <a:prstGeom prst="roundRect">
            <a:avLst>
              <a:gd name="adj" fmla="val 10000"/>
            </a:avLst>
          </a:prstGeom>
          <a:solidFill>
            <a:srgbClr val="FFFFFF"/>
          </a:solidFill>
          <a:ln w="9525">
            <a:solidFill>
              <a:srgbClr val="4472C4"/>
            </a:solidFill>
          </a:ln>
        </p:spPr>
        <p:txBody>
          <a:bodyPr rtlCol="0" anchor="ctr" wrap="square" lIns="457200" tIns="50800" rIns="127000" bIns="50800">
            <a:noAutofit/>
          </a:bodyPr>
          <a:lstStyle/>
          <a:p>
            <a:pPr algn="just"/>
            <a:r>
              <a:rPr sz="1350" b="0" i="0">
                <a:solidFill>
                  <a:srgbClr val="000000"/>
                </a:solidFill>
                <a:latin typeface="Arial"/>
              </a:rPr>
              <a:t>Un coordinador central con un agente por nivel convierte el cambio de piso en un problema de coordinación. La asignación es trivial por la estructura del problema; la dificultad está en coordinar dos agendas que dependen una de otra durante el relevo.</a:t>
            </a:r>
          </a:p>
        </p:txBody>
      </p:sp>
      <p:sp>
        <p:nvSpPr>
          <p:cNvPr id="6" name="Oval 5"/>
          <p:cNvSpPr/>
          <p:nvPr/>
        </p:nvSpPr>
        <p:spPr>
          <a:xfrm>
            <a:off x="787400" y="1473200"/>
            <a:ext cx="939800" cy="939800"/>
          </a:xfrm>
          <a:prstGeom prst="ellipse">
            <a:avLst/>
          </a:prstGeom>
          <a:solidFill>
            <a:srgbClr val="FFFFFF"/>
          </a:solidFill>
          <a:ln w="12700">
            <a:solidFill>
              <a:srgbClr val="4472C4"/>
            </a:solidFill>
          </a:ln>
        </p:spPr>
        <p:txBody>
          <a:bodyPr rtlCol="0" anchor="ctr" wrap="square" lIns="0" tIns="0" rIns="0" bIns="0">
            <a:noAutofit/>
          </a:bodyPr>
          <a:lstStyle/>
          <a:p>
            <a:pPr algn="ctr"/>
            <a:r>
              <a:rPr sz="2800" b="0" i="0">
                <a:solidFill>
                  <a:srgbClr val="001F5F"/>
                </a:solidFill>
                <a:latin typeface="Arial Black"/>
              </a:rPr>
              <a:t>1</a:t>
            </a:r>
          </a:p>
        </p:txBody>
      </p:sp>
      <p:sp>
        <p:nvSpPr>
          <p:cNvPr id="7" name="Rounded Rectangle 6"/>
          <p:cNvSpPr/>
          <p:nvPr/>
        </p:nvSpPr>
        <p:spPr>
          <a:xfrm>
            <a:off x="1498600" y="2590800"/>
            <a:ext cx="8407400" cy="1041400"/>
          </a:xfrm>
          <a:prstGeom prst="roundRect">
            <a:avLst>
              <a:gd name="adj" fmla="val 10000"/>
            </a:avLst>
          </a:prstGeom>
          <a:solidFill>
            <a:srgbClr val="FFFFFF"/>
          </a:solidFill>
          <a:ln w="9525">
            <a:solidFill>
              <a:srgbClr val="4472C4"/>
            </a:solidFill>
          </a:ln>
        </p:spPr>
        <p:txBody>
          <a:bodyPr rtlCol="0" anchor="ctr" wrap="square" lIns="457200" tIns="50800" rIns="127000" bIns="50800">
            <a:noAutofit/>
          </a:bodyPr>
          <a:lstStyle/>
          <a:p>
            <a:pPr algn="just"/>
            <a:r>
              <a:rPr sz="1350" b="0" i="0">
                <a:solidFill>
                  <a:srgbClr val="000000"/>
                </a:solidFill>
                <a:latin typeface="Arial"/>
              </a:rPr>
              <a:t>El AWS DeepRacer sirve como agente con tres condiciones: su odometría depende del entorno, su tracción no responde por debajo de 0,40 m/s y su tarjeta obliga a coordinar desde un computador aparte.</a:t>
            </a:r>
          </a:p>
        </p:txBody>
      </p:sp>
      <p:sp>
        <p:nvSpPr>
          <p:cNvPr id="8" name="Oval 7"/>
          <p:cNvSpPr/>
          <p:nvPr/>
        </p:nvSpPr>
        <p:spPr>
          <a:xfrm>
            <a:off x="787400" y="2641600"/>
            <a:ext cx="939800" cy="939800"/>
          </a:xfrm>
          <a:prstGeom prst="ellipse">
            <a:avLst/>
          </a:prstGeom>
          <a:solidFill>
            <a:srgbClr val="FFFFFF"/>
          </a:solidFill>
          <a:ln w="12700">
            <a:solidFill>
              <a:srgbClr val="4472C4"/>
            </a:solidFill>
          </a:ln>
        </p:spPr>
        <p:txBody>
          <a:bodyPr rtlCol="0" anchor="ctr" wrap="square" lIns="0" tIns="0" rIns="0" bIns="0">
            <a:noAutofit/>
          </a:bodyPr>
          <a:lstStyle/>
          <a:p>
            <a:pPr algn="ctr"/>
            <a:r>
              <a:rPr sz="2800" b="0" i="0">
                <a:solidFill>
                  <a:srgbClr val="001F5F"/>
                </a:solidFill>
                <a:latin typeface="Arial Black"/>
              </a:rPr>
              <a:t>2</a:t>
            </a:r>
          </a:p>
        </p:txBody>
      </p:sp>
      <p:sp>
        <p:nvSpPr>
          <p:cNvPr id="9" name="Rounded Rectangle 8"/>
          <p:cNvSpPr/>
          <p:nvPr/>
        </p:nvSpPr>
        <p:spPr>
          <a:xfrm>
            <a:off x="1498600" y="3759200"/>
            <a:ext cx="8407400" cy="1041400"/>
          </a:xfrm>
          <a:prstGeom prst="roundRect">
            <a:avLst>
              <a:gd name="adj" fmla="val 10000"/>
            </a:avLst>
          </a:prstGeom>
          <a:solidFill>
            <a:srgbClr val="FFFFFF"/>
          </a:solidFill>
          <a:ln w="9525">
            <a:solidFill>
              <a:srgbClr val="4472C4"/>
            </a:solidFill>
          </a:ln>
        </p:spPr>
        <p:txBody>
          <a:bodyPr rtlCol="0" anchor="ctr" wrap="square" lIns="457200" tIns="50800" rIns="127000" bIns="50800">
            <a:noAutofit/>
          </a:bodyPr>
          <a:lstStyle/>
          <a:p>
            <a:pPr algn="just"/>
            <a:r>
              <a:rPr sz="1350" b="0" i="0">
                <a:solidFill>
                  <a:srgbClr val="000000"/>
                </a:solidFill>
                <a:latin typeface="Arial"/>
              </a:rPr>
              <a:t>Una página web servida en la red local basta para pedir, seguir, confirmar y cancelar una misión desde cualquier teléfono, sin instalación y sin internet.</a:t>
            </a:r>
          </a:p>
        </p:txBody>
      </p:sp>
      <p:sp>
        <p:nvSpPr>
          <p:cNvPr id="10" name="Oval 9"/>
          <p:cNvSpPr/>
          <p:nvPr/>
        </p:nvSpPr>
        <p:spPr>
          <a:xfrm>
            <a:off x="787400" y="3810000"/>
            <a:ext cx="939800" cy="939800"/>
          </a:xfrm>
          <a:prstGeom prst="ellipse">
            <a:avLst/>
          </a:prstGeom>
          <a:solidFill>
            <a:srgbClr val="FFFFFF"/>
          </a:solidFill>
          <a:ln w="12700">
            <a:solidFill>
              <a:srgbClr val="4472C4"/>
            </a:solidFill>
          </a:ln>
        </p:spPr>
        <p:txBody>
          <a:bodyPr rtlCol="0" anchor="ctr" wrap="square" lIns="0" tIns="0" rIns="0" bIns="0">
            <a:noAutofit/>
          </a:bodyPr>
          <a:lstStyle/>
          <a:p>
            <a:pPr algn="ctr"/>
            <a:r>
              <a:rPr sz="2800" b="0" i="0">
                <a:solidFill>
                  <a:srgbClr val="001F5F"/>
                </a:solidFill>
                <a:latin typeface="Arial Black"/>
              </a:rPr>
              <a:t>3</a:t>
            </a:r>
          </a:p>
        </p:txBody>
      </p:sp>
      <p:sp>
        <p:nvSpPr>
          <p:cNvPr id="11" name="Rounded Rectangle 10"/>
          <p:cNvSpPr/>
          <p:nvPr/>
        </p:nvSpPr>
        <p:spPr>
          <a:xfrm>
            <a:off x="1498600" y="4927600"/>
            <a:ext cx="7899400" cy="1041400"/>
          </a:xfrm>
          <a:prstGeom prst="roundRect">
            <a:avLst>
              <a:gd name="adj" fmla="val 10000"/>
            </a:avLst>
          </a:prstGeom>
          <a:solidFill>
            <a:srgbClr val="FFFFFF"/>
          </a:solidFill>
          <a:ln w="9525">
            <a:solidFill>
              <a:srgbClr val="4472C4"/>
            </a:solidFill>
          </a:ln>
        </p:spPr>
        <p:txBody>
          <a:bodyPr rtlCol="0" anchor="ctr" wrap="square" lIns="457200" tIns="50800" rIns="127000" bIns="50800">
            <a:noAutofit/>
          </a:bodyPr>
          <a:lstStyle/>
          <a:p>
            <a:pPr algn="just"/>
            <a:r>
              <a:rPr sz="1350" b="0" i="0">
                <a:solidFill>
                  <a:srgbClr val="000000"/>
                </a:solidFill>
                <a:latin typeface="Arial"/>
              </a:rPr>
              <a:t>Con 95 % de confianza, la tasa de éxito supera el 70 % en simulación, y la campaña física muestra la misma cota en un edificio real. Los fallos estuvieron en la precisión de llegada, no en la coordinación.</a:t>
            </a:r>
          </a:p>
        </p:txBody>
      </p:sp>
      <p:sp>
        <p:nvSpPr>
          <p:cNvPr id="12" name="Oval 11"/>
          <p:cNvSpPr/>
          <p:nvPr/>
        </p:nvSpPr>
        <p:spPr>
          <a:xfrm>
            <a:off x="787400" y="4978400"/>
            <a:ext cx="939800" cy="939800"/>
          </a:xfrm>
          <a:prstGeom prst="ellipse">
            <a:avLst/>
          </a:prstGeom>
          <a:solidFill>
            <a:srgbClr val="FFFFFF"/>
          </a:solidFill>
          <a:ln w="12700">
            <a:solidFill>
              <a:srgbClr val="4472C4"/>
            </a:solidFill>
          </a:ln>
        </p:spPr>
        <p:txBody>
          <a:bodyPr rtlCol="0" anchor="ctr" wrap="square" lIns="0" tIns="0" rIns="0" bIns="0">
            <a:noAutofit/>
          </a:bodyPr>
          <a:lstStyle/>
          <a:p>
            <a:pPr algn="ctr"/>
            <a:r>
              <a:rPr sz="2800" b="0" i="0">
                <a:solidFill>
                  <a:srgbClr val="001F5F"/>
                </a:solidFill>
                <a:latin typeface="Arial Black"/>
              </a:rPr>
              <a:t>4</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Respuesta a la pregunta</a:t>
            </a:r>
          </a:p>
        </p:txBody>
      </p:sp>
      <p:sp>
        <p:nvSpPr>
          <p:cNvPr id="5" name="Rounded Rectangle 4"/>
          <p:cNvSpPr/>
          <p:nvPr/>
        </p:nvSpPr>
        <p:spPr>
          <a:xfrm>
            <a:off x="838200" y="1651000"/>
            <a:ext cx="3886200" cy="1905000"/>
          </a:xfrm>
          <a:prstGeom prst="roundRect">
            <a:avLst>
              <a:gd name="adj" fmla="val 16000"/>
            </a:avLst>
          </a:prstGeom>
          <a:solidFill>
            <a:srgbClr val="F6B79D"/>
          </a:solidFill>
          <a:ln w="9525">
            <a:solidFill>
              <a:srgbClr val="F5B195"/>
            </a:solidFill>
          </a:ln>
        </p:spPr>
        <p:txBody>
          <a:bodyPr rtlCol="0" anchor="ctr" wrap="square" lIns="177800" tIns="76200" rIns="152400" bIns="76200">
            <a:noAutofit/>
          </a:bodyPr>
          <a:lstStyle/>
          <a:p>
            <a:pPr algn="l"/>
            <a:r>
              <a:rPr sz="1800" b="1" i="0">
                <a:solidFill>
                  <a:srgbClr val="000000"/>
                </a:solidFill>
                <a:latin typeface="Arial"/>
              </a:rPr>
              <a:t>¿Cómo asistir la orientación de usuarios dentro de entornos interiores con múltiples pisos utilizando sistemas robóticos?</a:t>
            </a:r>
          </a:p>
        </p:txBody>
      </p:sp>
      <p:sp>
        <p:nvSpPr>
          <p:cNvPr id="6" name="Right Arrow 5"/>
          <p:cNvSpPr/>
          <p:nvPr/>
        </p:nvSpPr>
        <p:spPr>
          <a:xfrm>
            <a:off x="4851400" y="2362200"/>
            <a:ext cx="711200" cy="508000"/>
          </a:xfrm>
          <a:prstGeom prst="rightArrow">
            <a:avLst/>
          </a:prstGeom>
          <a:solidFill>
            <a:srgbClr val="4472C4"/>
          </a:solidFill>
          <a:ln>
            <a:noFill/>
          </a:ln>
        </p:spPr>
        <p:txBody>
          <a:bodyPr rtlCol="0" anchor="ctr"/>
          <a:lstStyle/>
          <a:p>
            <a:pPr algn="ctr"/>
          </a:p>
        </p:txBody>
      </p:sp>
      <p:sp>
        <p:nvSpPr>
          <p:cNvPr id="7" name="Rounded Rectangle 6"/>
          <p:cNvSpPr/>
          <p:nvPr/>
        </p:nvSpPr>
        <p:spPr>
          <a:xfrm>
            <a:off x="5715000" y="1422400"/>
            <a:ext cx="4572000" cy="2362200"/>
          </a:xfrm>
          <a:prstGeom prst="roundRect">
            <a:avLst>
              <a:gd name="adj" fmla="val 10000"/>
            </a:avLst>
          </a:prstGeom>
          <a:solidFill>
            <a:srgbClr val="FFFFFF"/>
          </a:solidFill>
          <a:ln w="15875">
            <a:solidFill>
              <a:srgbClr val="85A3D8"/>
            </a:solidFill>
          </a:ln>
        </p:spPr>
        <p:txBody>
          <a:bodyPr rtlCol="0" anchor="ctr" wrap="square" lIns="177800" tIns="76200" rIns="152400" bIns="76200">
            <a:noAutofit/>
          </a:bodyPr>
          <a:lstStyle/>
          <a:p>
            <a:pPr algn="l"/>
            <a:r>
              <a:rPr sz="1500" b="0" i="0">
                <a:solidFill>
                  <a:srgbClr val="000000"/>
                </a:solidFill>
                <a:latin typeface="Arial"/>
              </a:rPr>
              <a:t>Un esquema de relevo entre dos agentes, uno por nivel, es una respuesta viable: los agentes se reparten el guiado de una persona que cambia de piso sin que ninguno atraviese la zona de transición y sin modificar el edificio.</a:t>
            </a:r>
          </a:p>
        </p:txBody>
      </p:sp>
      <p:sp>
        <p:nvSpPr>
          <p:cNvPr id="8" name="TextBox 7"/>
          <p:cNvSpPr txBox="1"/>
          <p:nvPr/>
        </p:nvSpPr>
        <p:spPr>
          <a:xfrm>
            <a:off x="838200" y="4038600"/>
            <a:ext cx="8128000" cy="1778000"/>
          </a:xfrm>
          <a:prstGeom prst="rect">
            <a:avLst/>
          </a:prstGeom>
          <a:noFill/>
        </p:spPr>
        <p:txBody>
          <a:bodyPr wrap="square" lIns="0" tIns="0" rIns="0" bIns="0" anchor="t">
            <a:noAutofit/>
          </a:bodyPr>
          <a:lstStyle/>
          <a:p>
            <a:pPr algn="l" marL="139700" indent="-139700">
              <a:spcAft>
                <a:spcPts val="1000"/>
              </a:spcAft>
              <a:buFont typeface="Arial"/>
              <a:buChar char="•"/>
            </a:pPr>
            <a:r>
              <a:rPr sz="1400" b="0" i="0">
                <a:solidFill>
                  <a:srgbClr val="000000"/>
                </a:solidFill>
                <a:latin typeface="Arial"/>
              </a:rPr>
              <a:t>Decidir qué mide cada criterio fue más difícil que construir el sistema. Un criterio que no puede fallar, un reloj sin resolución para la magnitud que mide o un modelo del edificio sin verificar producen resultados que parecen evidencia y no lo son.</a:t>
            </a:r>
          </a:p>
          <a:p>
            <a:pPr algn="l" marL="139700" indent="-139700">
              <a:buFont typeface="Arial"/>
              <a:buChar char="•"/>
            </a:pPr>
            <a:r>
              <a:rPr sz="1400" b="0" i="0">
                <a:solidFill>
                  <a:srgbClr val="000000"/>
                </a:solidFill>
                <a:latin typeface="Arial"/>
              </a:rPr>
              <a:t>Queda sin medir la experiencia de la persona guiada, que corresponde a un estudio con usuarios.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TRABAJOS FUTUROS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Trabajos futuros</a:t>
            </a:r>
          </a:p>
        </p:txBody>
      </p:sp>
      <p:sp>
        <p:nvSpPr>
          <p:cNvPr id="5" name="Rectangle 4"/>
          <p:cNvSpPr/>
          <p:nvPr/>
        </p:nvSpPr>
        <p:spPr>
          <a:xfrm>
            <a:off x="812800" y="1676400"/>
            <a:ext cx="3810000" cy="381000"/>
          </a:xfrm>
          <a:prstGeom prst="rect">
            <a:avLst/>
          </a:prstGeom>
          <a:noFill/>
          <a:ln w="9525">
            <a:solidFill>
              <a:srgbClr val="4472C4"/>
            </a:solidFill>
          </a:ln>
        </p:spPr>
        <p:txBody>
          <a:bodyPr rtlCol="0" anchor="ctr"/>
          <a:lstStyle/>
          <a:p>
            <a:pPr algn="ctr"/>
          </a:p>
        </p:txBody>
      </p:sp>
      <p:sp>
        <p:nvSpPr>
          <p:cNvPr id="6" name="Rounded Rectangle 5"/>
          <p:cNvSpPr/>
          <p:nvPr/>
        </p:nvSpPr>
        <p:spPr>
          <a:xfrm>
            <a:off x="1117600" y="1473200"/>
            <a:ext cx="3327400" cy="419100"/>
          </a:xfrm>
          <a:prstGeom prst="roundRect">
            <a:avLst>
              <a:gd name="adj" fmla="val 12000"/>
            </a:avLst>
          </a:prstGeom>
          <a:solidFill>
            <a:srgbClr val="4472C4"/>
          </a:solidFill>
          <a:ln>
            <a:noFill/>
          </a:ln>
        </p:spPr>
        <p:txBody>
          <a:bodyPr rtlCol="0" anchor="ctr" wrap="square" lIns="177800" tIns="0" rIns="76200" bIns="0">
            <a:noAutofit/>
          </a:bodyPr>
          <a:lstStyle/>
          <a:p>
            <a:pPr algn="l"/>
            <a:r>
              <a:rPr sz="1500" b="1" i="0">
                <a:solidFill>
                  <a:srgbClr val="FFFFFF"/>
                </a:solidFill>
                <a:latin typeface="Arial"/>
              </a:rPr>
              <a:t>Navegación más precisa</a:t>
            </a:r>
          </a:p>
        </p:txBody>
      </p:sp>
      <p:sp>
        <p:nvSpPr>
          <p:cNvPr id="7" name="TextBox 6"/>
          <p:cNvSpPr txBox="1"/>
          <p:nvPr/>
        </p:nvSpPr>
        <p:spPr>
          <a:xfrm>
            <a:off x="4826000" y="1447800"/>
            <a:ext cx="5207000" cy="660400"/>
          </a:xfrm>
          <a:prstGeom prst="rect">
            <a:avLst/>
          </a:prstGeom>
          <a:noFill/>
        </p:spPr>
        <p:txBody>
          <a:bodyPr wrap="square" lIns="0" tIns="0" rIns="0" bIns="0" anchor="ctr">
            <a:noAutofit/>
          </a:bodyPr>
          <a:lstStyle/>
          <a:p>
            <a:pPr algn="l"/>
            <a:r>
              <a:rPr sz="1300" b="0" i="0">
                <a:solidFill>
                  <a:srgbClr val="000000"/>
                </a:solidFill>
                <a:latin typeface="Arial"/>
              </a:rPr>
              <a:t>Calibrar la tracción o cambiar la transmisión, y medir el avance con codificadores u odometría visual, para volver a 0,25 m</a:t>
            </a:r>
          </a:p>
        </p:txBody>
      </p:sp>
      <p:sp>
        <p:nvSpPr>
          <p:cNvPr id="8" name="Rectangle 7"/>
          <p:cNvSpPr/>
          <p:nvPr/>
        </p:nvSpPr>
        <p:spPr>
          <a:xfrm>
            <a:off x="812800" y="2565400"/>
            <a:ext cx="3810000" cy="381000"/>
          </a:xfrm>
          <a:prstGeom prst="rect">
            <a:avLst/>
          </a:prstGeom>
          <a:noFill/>
          <a:ln w="9525">
            <a:solidFill>
              <a:srgbClr val="4472C4"/>
            </a:solidFill>
          </a:ln>
        </p:spPr>
        <p:txBody>
          <a:bodyPr rtlCol="0" anchor="ctr"/>
          <a:lstStyle/>
          <a:p>
            <a:pPr algn="ctr"/>
          </a:p>
        </p:txBody>
      </p:sp>
      <p:sp>
        <p:nvSpPr>
          <p:cNvPr id="9" name="Rounded Rectangle 8"/>
          <p:cNvSpPr/>
          <p:nvPr/>
        </p:nvSpPr>
        <p:spPr>
          <a:xfrm>
            <a:off x="1117600" y="2362200"/>
            <a:ext cx="3327400" cy="419100"/>
          </a:xfrm>
          <a:prstGeom prst="roundRect">
            <a:avLst>
              <a:gd name="adj" fmla="val 12000"/>
            </a:avLst>
          </a:prstGeom>
          <a:solidFill>
            <a:srgbClr val="4472C4"/>
          </a:solidFill>
          <a:ln>
            <a:noFill/>
          </a:ln>
        </p:spPr>
        <p:txBody>
          <a:bodyPr rtlCol="0" anchor="ctr" wrap="square" lIns="177800" tIns="0" rIns="76200" bIns="0">
            <a:noAutofit/>
          </a:bodyPr>
          <a:lstStyle/>
          <a:p>
            <a:pPr algn="l"/>
            <a:r>
              <a:rPr sz="1500" b="1" i="0">
                <a:solidFill>
                  <a:srgbClr val="FFFFFF"/>
                </a:solidFill>
                <a:latin typeface="Arial"/>
              </a:rPr>
              <a:t>Más capacidad de cómputo</a:t>
            </a:r>
          </a:p>
        </p:txBody>
      </p:sp>
      <p:sp>
        <p:nvSpPr>
          <p:cNvPr id="10" name="TextBox 9"/>
          <p:cNvSpPr txBox="1"/>
          <p:nvPr/>
        </p:nvSpPr>
        <p:spPr>
          <a:xfrm>
            <a:off x="4826000" y="2336800"/>
            <a:ext cx="5207000" cy="660400"/>
          </a:xfrm>
          <a:prstGeom prst="rect">
            <a:avLst/>
          </a:prstGeom>
          <a:noFill/>
        </p:spPr>
        <p:txBody>
          <a:bodyPr wrap="square" lIns="0" tIns="0" rIns="0" bIns="0" anchor="ctr">
            <a:noAutofit/>
          </a:bodyPr>
          <a:lstStyle/>
          <a:p>
            <a:pPr algn="l"/>
            <a:r>
              <a:rPr sz="1300" b="0" i="0">
                <a:solidFill>
                  <a:srgbClr val="000000"/>
                </a:solidFill>
                <a:latin typeface="Arial"/>
              </a:rPr>
              <a:t>Llevar el agente a una Raspberry Pi 4 o 5, de cuatro núcleos; la comunidad del DeepRacer ya publica el software para la Pi 4</a:t>
            </a:r>
          </a:p>
        </p:txBody>
      </p:sp>
      <p:sp>
        <p:nvSpPr>
          <p:cNvPr id="11" name="Rectangle 10"/>
          <p:cNvSpPr/>
          <p:nvPr/>
        </p:nvSpPr>
        <p:spPr>
          <a:xfrm>
            <a:off x="812800" y="3454400"/>
            <a:ext cx="3810000" cy="381000"/>
          </a:xfrm>
          <a:prstGeom prst="rect">
            <a:avLst/>
          </a:prstGeom>
          <a:noFill/>
          <a:ln w="9525">
            <a:solidFill>
              <a:srgbClr val="4472C4"/>
            </a:solidFill>
          </a:ln>
        </p:spPr>
        <p:txBody>
          <a:bodyPr rtlCol="0" anchor="ctr"/>
          <a:lstStyle/>
          <a:p>
            <a:pPr algn="ctr"/>
          </a:p>
        </p:txBody>
      </p:sp>
      <p:sp>
        <p:nvSpPr>
          <p:cNvPr id="12" name="Rounded Rectangle 11"/>
          <p:cNvSpPr/>
          <p:nvPr/>
        </p:nvSpPr>
        <p:spPr>
          <a:xfrm>
            <a:off x="1117600" y="3251200"/>
            <a:ext cx="3327400" cy="419100"/>
          </a:xfrm>
          <a:prstGeom prst="roundRect">
            <a:avLst>
              <a:gd name="adj" fmla="val 12000"/>
            </a:avLst>
          </a:prstGeom>
          <a:solidFill>
            <a:srgbClr val="4472C4"/>
          </a:solidFill>
          <a:ln>
            <a:noFill/>
          </a:ln>
        </p:spPr>
        <p:txBody>
          <a:bodyPr rtlCol="0" anchor="ctr" wrap="square" lIns="177800" tIns="0" rIns="76200" bIns="0">
            <a:noAutofit/>
          </a:bodyPr>
          <a:lstStyle/>
          <a:p>
            <a:pPr algn="l"/>
            <a:r>
              <a:rPr sz="1500" b="1" i="0">
                <a:solidFill>
                  <a:srgbClr val="FFFFFF"/>
                </a:solidFill>
                <a:latin typeface="Arial"/>
              </a:rPr>
              <a:t>Evasión de obstáculos</a:t>
            </a:r>
          </a:p>
        </p:txBody>
      </p:sp>
      <p:sp>
        <p:nvSpPr>
          <p:cNvPr id="13" name="TextBox 12"/>
          <p:cNvSpPr txBox="1"/>
          <p:nvPr/>
        </p:nvSpPr>
        <p:spPr>
          <a:xfrm>
            <a:off x="4826000" y="3225800"/>
            <a:ext cx="5207000" cy="660400"/>
          </a:xfrm>
          <a:prstGeom prst="rect">
            <a:avLst/>
          </a:prstGeom>
          <a:noFill/>
        </p:spPr>
        <p:txBody>
          <a:bodyPr wrap="square" lIns="0" tIns="0" rIns="0" bIns="0" anchor="ctr">
            <a:noAutofit/>
          </a:bodyPr>
          <a:lstStyle/>
          <a:p>
            <a:pPr algn="l"/>
            <a:r>
              <a:rPr sz="1300" b="0" i="0">
                <a:solidFill>
                  <a:srgbClr val="000000"/>
                </a:solidFill>
                <a:latin typeface="Arial"/>
              </a:rPr>
              <a:t>Esquivar personas y objetos en movimiento, y probarlo con gente en el pasillo, antes de operar en horario de clases</a:t>
            </a:r>
          </a:p>
        </p:txBody>
      </p:sp>
      <p:sp>
        <p:nvSpPr>
          <p:cNvPr id="14" name="Rectangle 13"/>
          <p:cNvSpPr/>
          <p:nvPr/>
        </p:nvSpPr>
        <p:spPr>
          <a:xfrm>
            <a:off x="812800" y="4343400"/>
            <a:ext cx="3810000" cy="381000"/>
          </a:xfrm>
          <a:prstGeom prst="rect">
            <a:avLst/>
          </a:prstGeom>
          <a:noFill/>
          <a:ln w="9525">
            <a:solidFill>
              <a:srgbClr val="4472C4"/>
            </a:solidFill>
          </a:ln>
        </p:spPr>
        <p:txBody>
          <a:bodyPr rtlCol="0" anchor="ctr"/>
          <a:lstStyle/>
          <a:p>
            <a:pPr algn="ctr"/>
          </a:p>
        </p:txBody>
      </p:sp>
      <p:sp>
        <p:nvSpPr>
          <p:cNvPr id="15" name="Rounded Rectangle 14"/>
          <p:cNvSpPr/>
          <p:nvPr/>
        </p:nvSpPr>
        <p:spPr>
          <a:xfrm>
            <a:off x="1117600" y="4140200"/>
            <a:ext cx="3327400" cy="419100"/>
          </a:xfrm>
          <a:prstGeom prst="roundRect">
            <a:avLst>
              <a:gd name="adj" fmla="val 12000"/>
            </a:avLst>
          </a:prstGeom>
          <a:solidFill>
            <a:srgbClr val="4472C4"/>
          </a:solidFill>
          <a:ln>
            <a:noFill/>
          </a:ln>
        </p:spPr>
        <p:txBody>
          <a:bodyPr rtlCol="0" anchor="ctr" wrap="square" lIns="177800" tIns="0" rIns="76200" bIns="0">
            <a:noAutofit/>
          </a:bodyPr>
          <a:lstStyle/>
          <a:p>
            <a:pPr algn="l"/>
            <a:r>
              <a:rPr sz="1500" b="1" i="0">
                <a:solidFill>
                  <a:srgbClr val="FFFFFF"/>
                </a:solidFill>
                <a:latin typeface="Arial"/>
              </a:rPr>
              <a:t>Controlador predictivo</a:t>
            </a:r>
          </a:p>
        </p:txBody>
      </p:sp>
      <p:sp>
        <p:nvSpPr>
          <p:cNvPr id="16" name="TextBox 15"/>
          <p:cNvSpPr txBox="1"/>
          <p:nvPr/>
        </p:nvSpPr>
        <p:spPr>
          <a:xfrm>
            <a:off x="4826000" y="4114800"/>
            <a:ext cx="5207000" cy="660400"/>
          </a:xfrm>
          <a:prstGeom prst="rect">
            <a:avLst/>
          </a:prstGeom>
          <a:noFill/>
        </p:spPr>
        <p:txBody>
          <a:bodyPr wrap="square" lIns="0" tIns="0" rIns="0" bIns="0" anchor="ctr">
            <a:noAutofit/>
          </a:bodyPr>
          <a:lstStyle/>
          <a:p>
            <a:pPr algn="l"/>
            <a:r>
              <a:rPr sz="1300" b="0" i="0">
                <a:solidFill>
                  <a:srgbClr val="000000"/>
                </a:solidFill>
                <a:latin typeface="Arial"/>
              </a:rPr>
              <a:t>El MPPI de Nav2 admite cinemática tipo automóvil: la media vuelta podría volver a Nav2 y la llegada sería más precisa</a:t>
            </a:r>
          </a:p>
        </p:txBody>
      </p:sp>
      <p:sp>
        <p:nvSpPr>
          <p:cNvPr id="17" name="Rectangle 16"/>
          <p:cNvSpPr/>
          <p:nvPr/>
        </p:nvSpPr>
        <p:spPr>
          <a:xfrm>
            <a:off x="812800" y="5232400"/>
            <a:ext cx="3810000" cy="381000"/>
          </a:xfrm>
          <a:prstGeom prst="rect">
            <a:avLst/>
          </a:prstGeom>
          <a:noFill/>
          <a:ln w="9525">
            <a:solidFill>
              <a:srgbClr val="4472C4"/>
            </a:solidFill>
          </a:ln>
        </p:spPr>
        <p:txBody>
          <a:bodyPr rtlCol="0" anchor="ctr"/>
          <a:lstStyle/>
          <a:p>
            <a:pPr algn="ctr"/>
          </a:p>
        </p:txBody>
      </p:sp>
      <p:sp>
        <p:nvSpPr>
          <p:cNvPr id="18" name="Rounded Rectangle 17"/>
          <p:cNvSpPr/>
          <p:nvPr/>
        </p:nvSpPr>
        <p:spPr>
          <a:xfrm>
            <a:off x="1117600" y="5029200"/>
            <a:ext cx="3327400" cy="419100"/>
          </a:xfrm>
          <a:prstGeom prst="roundRect">
            <a:avLst>
              <a:gd name="adj" fmla="val 12000"/>
            </a:avLst>
          </a:prstGeom>
          <a:solidFill>
            <a:srgbClr val="4472C4"/>
          </a:solidFill>
          <a:ln>
            <a:noFill/>
          </a:ln>
        </p:spPr>
        <p:txBody>
          <a:bodyPr rtlCol="0" anchor="ctr" wrap="square" lIns="177800" tIns="0" rIns="76200" bIns="0">
            <a:noAutofit/>
          </a:bodyPr>
          <a:lstStyle/>
          <a:p>
            <a:pPr algn="l"/>
            <a:r>
              <a:rPr sz="1500" b="1" i="0">
                <a:solidFill>
                  <a:srgbClr val="FFFFFF"/>
                </a:solidFill>
                <a:latin typeface="Arial"/>
              </a:rPr>
              <a:t>Interacción por voz</a:t>
            </a:r>
          </a:p>
        </p:txBody>
      </p:sp>
      <p:sp>
        <p:nvSpPr>
          <p:cNvPr id="19" name="TextBox 18"/>
          <p:cNvSpPr txBox="1"/>
          <p:nvPr/>
        </p:nvSpPr>
        <p:spPr>
          <a:xfrm>
            <a:off x="4826000" y="5003800"/>
            <a:ext cx="4826000" cy="660400"/>
          </a:xfrm>
          <a:prstGeom prst="rect">
            <a:avLst/>
          </a:prstGeom>
          <a:noFill/>
        </p:spPr>
        <p:txBody>
          <a:bodyPr wrap="square" lIns="0" tIns="0" rIns="0" bIns="0" anchor="ctr">
            <a:noAutofit/>
          </a:bodyPr>
          <a:lstStyle/>
          <a:p>
            <a:pPr algn="l"/>
            <a:r>
              <a:rPr sz="1300" b="0" i="0">
                <a:solidFill>
                  <a:srgbClr val="000000"/>
                </a:solidFill>
                <a:latin typeface="Arial"/>
              </a:rPr>
              <a:t>Voz a texto y un modelo de lenguaje en el portátil, que traduzcan la petición a un origen y un destino del catálogo</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REFERENCIAS</a:t>
            </a:r>
          </a:p>
          <a:p>
            <a:pPr algn="l">
              <a:lnSpc>
                <a:spcPts val="4800"/>
              </a:lnSpc>
            </a:pPr>
            <a:r>
              <a:rPr sz="4000" b="0" i="0">
                <a:solidFill>
                  <a:srgbClr val="FFFFFF"/>
                </a:solidFill>
                <a:latin typeface="Arial Black"/>
              </a:rPr>
              <a:t>BIBLIOGRÁFICAS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Referencias bibliográficas</a:t>
            </a:r>
          </a:p>
        </p:txBody>
      </p:sp>
      <p:sp>
        <p:nvSpPr>
          <p:cNvPr id="5" name="TextBox 4"/>
          <p:cNvSpPr txBox="1"/>
          <p:nvPr/>
        </p:nvSpPr>
        <p:spPr>
          <a:xfrm>
            <a:off x="838200" y="1371600"/>
            <a:ext cx="4572000" cy="5080000"/>
          </a:xfrm>
          <a:prstGeom prst="rect">
            <a:avLst/>
          </a:prstGeom>
          <a:noFill/>
        </p:spPr>
        <p:txBody>
          <a:bodyPr wrap="square" lIns="0" tIns="0" rIns="0" bIns="0" anchor="t">
            <a:noAutofit/>
          </a:bodyPr>
          <a:lstStyle/>
          <a:p>
            <a:pPr algn="l" marL="139700" indent="-139700">
              <a:spcAft>
                <a:spcPts val="400"/>
              </a:spcAft>
              <a:buFont typeface="Arial"/>
              <a:buChar char="•"/>
            </a:pPr>
            <a:r>
              <a:rPr sz="1050" b="0" i="0">
                <a:solidFill>
                  <a:srgbClr val="000000"/>
                </a:solidFill>
                <a:latin typeface="Arial"/>
              </a:rPr>
              <a:t>ASTM International. (2021). </a:t>
            </a:r>
            <a:r>
              <a:rPr sz="1050" b="0" i="1">
                <a:solidFill>
                  <a:srgbClr val="000000"/>
                </a:solidFill>
                <a:latin typeface="Arial"/>
              </a:rPr>
              <a:t>Standard test method for navigation: Defined area</a:t>
            </a:r>
            <a:r>
              <a:rPr sz="1050" b="0" i="0">
                <a:solidFill>
                  <a:srgbClr val="000000"/>
                </a:solidFill>
                <a:latin typeface="Arial"/>
              </a:rPr>
              <a:t> (ASTM F3244-21).</a:t>
            </a:r>
          </a:p>
          <a:p>
            <a:pPr algn="l" marL="139700" indent="-139700">
              <a:spcAft>
                <a:spcPts val="400"/>
              </a:spcAft>
              <a:buFont typeface="Arial"/>
              <a:buChar char="•"/>
            </a:pPr>
            <a:r>
              <a:rPr sz="1050" b="0" i="0">
                <a:solidFill>
                  <a:srgbClr val="000000"/>
                </a:solidFill>
                <a:latin typeface="Arial"/>
              </a:rPr>
              <a:t>Burgard, W., et al. (1999). Experiences with an interactive museum tour-guide robot. </a:t>
            </a:r>
            <a:r>
              <a:rPr sz="1050" b="0" i="1">
                <a:solidFill>
                  <a:srgbClr val="000000"/>
                </a:solidFill>
                <a:latin typeface="Arial"/>
              </a:rPr>
              <a:t>Artificial Intelligence</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Crick, C., et al. (2017). Rosbridge: ROS for non-ROS users. </a:t>
            </a:r>
            <a:r>
              <a:rPr sz="1050" b="0" i="1">
                <a:solidFill>
                  <a:srgbClr val="000000"/>
                </a:solidFill>
                <a:latin typeface="Arial"/>
              </a:rPr>
              <a:t>Robotics Research</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Dolgov, D., Thrun, S., Montemerlo, M., y Diebel, J. (2010). Path planning for autonomous vehicles in unknown semi-structured environments. </a:t>
            </a:r>
            <a:r>
              <a:rPr sz="1050" b="0" i="1">
                <a:solidFill>
                  <a:srgbClr val="000000"/>
                </a:solidFill>
                <a:latin typeface="Arial"/>
              </a:rPr>
              <a:t>The International Journal of Robotics Research</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Gerkey, B. P., y Matarić, M. J. (2004). A formal analysis and taxonomy of task allocation in multi-robot systems. </a:t>
            </a:r>
            <a:r>
              <a:rPr sz="1050" b="0" i="1">
                <a:solidFill>
                  <a:srgbClr val="000000"/>
                </a:solidFill>
                <a:latin typeface="Arial"/>
              </a:rPr>
              <a:t>The International Journal of Robotics Research</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Guerreiro, J., et al. (2019). CaBot: Designing and evaluating an autonomous navigation robot for blind people. </a:t>
            </a:r>
            <a:r>
              <a:rPr sz="1050" b="0" i="1">
                <a:solidFill>
                  <a:srgbClr val="000000"/>
                </a:solidFill>
                <a:latin typeface="Arial"/>
              </a:rPr>
              <a:t>ASSETS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Jaimez, M., Monroy, J. G., y González-Jiménez, J. (2016). Planar odometry from a radial laser scanner. A range flow-based approach. </a:t>
            </a:r>
            <a:r>
              <a:rPr sz="1050" b="0" i="1">
                <a:solidFill>
                  <a:srgbClr val="000000"/>
                </a:solidFill>
                <a:latin typeface="Arial"/>
              </a:rPr>
              <a:t>ICRA</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Jiménez Muñoz, M. (2024). Arquitectura cognitiva para integración de usuarios humanos dentro de un sistema de mapas multinivel.</a:t>
            </a:r>
            <a:r>
              <a:rPr sz="1050" b="0" i="1">
                <a:solidFill>
                  <a:srgbClr val="000000"/>
                </a:solidFill>
                <a:latin typeface="Arial"/>
              </a:rPr>
              <a:t/>
            </a:r>
            <a:r>
              <a:rPr sz="1050" b="0" i="0">
                <a:solidFill>
                  <a:srgbClr val="000000"/>
                </a:solidFill>
                <a:latin typeface="Arial"/>
              </a:rPr>
              <a:t/>
            </a:r>
          </a:p>
          <a:p>
            <a:pPr algn="l" marL="139700" indent="-139700">
              <a:spcAft>
                <a:spcPts val="400"/>
              </a:spcAft>
              <a:buFont typeface="Arial"/>
              <a:buChar char="•"/>
            </a:pPr>
            <a:r>
              <a:rPr sz="1050" b="0" i="0">
                <a:solidFill>
                  <a:srgbClr val="000000"/>
                </a:solidFill>
                <a:latin typeface="Arial"/>
              </a:rPr>
              <a:t>Kim, T., Kang, G., Lee, D., y Shim, D. H. (2024). Development of an indoor delivery mobile robot for a multi-floor environment. </a:t>
            </a:r>
            <a:r>
              <a:rPr sz="1050" b="0" i="1">
                <a:solidFill>
                  <a:srgbClr val="000000"/>
                </a:solidFill>
                <a:latin typeface="Arial"/>
              </a:rPr>
              <a:t>IEEE Access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Korsah, G. A., Stentz, A., y Dias, M. B. (2013). A comprehensive taxonomy for multi-robot task allocation. </a:t>
            </a:r>
            <a:r>
              <a:rPr sz="1050" b="0" i="1">
                <a:solidFill>
                  <a:srgbClr val="000000"/>
                </a:solidFill>
                <a:latin typeface="Arial"/>
              </a:rPr>
              <a:t>The International Journal of Robotics Research</a:t>
            </a:r>
            <a:r>
              <a:rPr sz="1050" b="0" i="0">
                <a:solidFill>
                  <a:srgbClr val="000000"/>
                </a:solidFill>
                <a:latin typeface="Arial"/>
              </a:rPr>
              <a:t>.</a:t>
            </a:r>
          </a:p>
        </p:txBody>
      </p:sp>
      <p:sp>
        <p:nvSpPr>
          <p:cNvPr id="6" name="TextBox 5"/>
          <p:cNvSpPr txBox="1"/>
          <p:nvPr/>
        </p:nvSpPr>
        <p:spPr>
          <a:xfrm>
            <a:off x="5562600" y="1371600"/>
            <a:ext cx="4191000" cy="5080000"/>
          </a:xfrm>
          <a:prstGeom prst="rect">
            <a:avLst/>
          </a:prstGeom>
          <a:noFill/>
        </p:spPr>
        <p:txBody>
          <a:bodyPr wrap="square" lIns="0" tIns="0" rIns="0" bIns="0" anchor="t">
            <a:noAutofit/>
          </a:bodyPr>
          <a:lstStyle/>
          <a:p>
            <a:pPr algn="l" marL="139700" indent="-139700">
              <a:spcAft>
                <a:spcPts val="400"/>
              </a:spcAft>
              <a:buFont typeface="Arial"/>
              <a:buChar char="•"/>
            </a:pPr>
            <a:r>
              <a:rPr sz="1050" b="0" i="0">
                <a:solidFill>
                  <a:srgbClr val="000000"/>
                </a:solidFill>
                <a:latin typeface="Arial"/>
              </a:rPr>
              <a:t>Macenski, S., et al. (2020). The Marathon 2: A navigation system. </a:t>
            </a:r>
            <a:r>
              <a:rPr sz="1050" b="0" i="1">
                <a:solidFill>
                  <a:srgbClr val="000000"/>
                </a:solidFill>
                <a:latin typeface="Arial"/>
              </a:rPr>
              <a:t>IROS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Macenski, S., Foote, T., Gerkey, B., Lalancette, C., y Woodall, W. (2022). Robot Operating System 2: Design, architecture, and uses in the wild. </a:t>
            </a:r>
            <a:r>
              <a:rPr sz="1050" b="0" i="1">
                <a:solidFill>
                  <a:srgbClr val="000000"/>
                </a:solidFill>
                <a:latin typeface="Arial"/>
              </a:rPr>
              <a:t>Science Robotics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Macenski, S., et al. (2023). Regulated pure pursuit for robot path tracking. </a:t>
            </a:r>
            <a:r>
              <a:rPr sz="1050" b="0" i="1">
                <a:solidFill>
                  <a:srgbClr val="000000"/>
                </a:solidFill>
                <a:latin typeface="Arial"/>
              </a:rPr>
              <a:t>Autonomous Robots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Malavolta, I., et al. (2023). Computation offloading for ground robotic systems communicating over WiFi. </a:t>
            </a:r>
            <a:r>
              <a:rPr sz="1050" b="0" i="1">
                <a:solidFill>
                  <a:srgbClr val="000000"/>
                </a:solidFill>
                <a:latin typeface="Arial"/>
              </a:rPr>
              <a:t>Empirical Software Engineering</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Nair, B. R. (2024). Collaborative perception in multi-robot systems. </a:t>
            </a:r>
            <a:r>
              <a:rPr sz="1050" b="0" i="1">
                <a:solidFill>
                  <a:srgbClr val="000000"/>
                </a:solidFill>
                <a:latin typeface="Arial"/>
              </a:rPr>
              <a:t>ICRCV</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Popper, K. R. (1959). </a:t>
            </a:r>
            <a:r>
              <a:rPr sz="1050" b="0" i="1">
                <a:solidFill>
                  <a:srgbClr val="000000"/>
                </a:solidFill>
                <a:latin typeface="Arial"/>
              </a:rPr>
              <a:t>The logic of scientific discovery</a:t>
            </a:r>
            <a:r>
              <a:rPr sz="1050" b="0" i="0">
                <a:solidFill>
                  <a:srgbClr val="000000"/>
                </a:solidFill>
                <a:latin typeface="Arial"/>
              </a:rPr>
              <a:t>. Hutchinson.</a:t>
            </a:r>
          </a:p>
          <a:p>
            <a:pPr algn="l" marL="139700" indent="-139700">
              <a:spcAft>
                <a:spcPts val="400"/>
              </a:spcAft>
              <a:buFont typeface="Arial"/>
              <a:buChar char="•"/>
            </a:pPr>
            <a:r>
              <a:rPr sz="1050" b="0" i="0">
                <a:solidFill>
                  <a:srgbClr val="000000"/>
                </a:solidFill>
                <a:latin typeface="Arial"/>
              </a:rPr>
              <a:t>Song, Z., Lou, S., Tan, R., y Lv, C. (2024). Robot-elevator interaction through IoT devices for autonomous robot multi-floor transition. </a:t>
            </a:r>
            <a:r>
              <a:rPr sz="1050" b="0" i="1">
                <a:solidFill>
                  <a:srgbClr val="000000"/>
                </a:solidFill>
                <a:latin typeface="Arial"/>
              </a:rPr>
              <a:t>EECR</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Srivastava, A. K., Levin, J. M., y Dames, P. (2025). DELIVER: A system for coordinated multi-robot pickup and delivery using relay planning. </a:t>
            </a:r>
            <a:r>
              <a:rPr sz="1050" b="0" i="1">
                <a:solidFill>
                  <a:srgbClr val="000000"/>
                </a:solidFill>
                <a:latin typeface="Arial"/>
              </a:rPr>
              <a:t>IROS</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Wilson, E. B. (1927). Probable inference, the law of succession, and statistical inference. </a:t>
            </a:r>
            <a:r>
              <a:rPr sz="1050" b="0" i="1">
                <a:solidFill>
                  <a:srgbClr val="000000"/>
                </a:solidFill>
                <a:latin typeface="Arial"/>
              </a:rPr>
              <a:t>Journal of the American Statistical Association</a:t>
            </a:r>
            <a:r>
              <a:rPr sz="1050" b="0" i="0">
                <a:solidFill>
                  <a:srgbClr val="000000"/>
                </a:solidFill>
                <a:latin typeface="Arial"/>
              </a:rPr>
              <a:t>.</a:t>
            </a:r>
          </a:p>
          <a:p>
            <a:pPr algn="l" marL="139700" indent="-139700">
              <a:spcAft>
                <a:spcPts val="400"/>
              </a:spcAft>
              <a:buFont typeface="Arial"/>
              <a:buChar char="•"/>
            </a:pPr>
            <a:r>
              <a:rPr sz="1050" b="0" i="0">
                <a:solidFill>
                  <a:srgbClr val="000000"/>
                </a:solidFill>
                <a:latin typeface="Arial"/>
              </a:rPr>
              <a:t>Zhang, J., Kaess, M., y Singh, S. (2016). On degeneracy of optimization-based state estimation problems. </a:t>
            </a:r>
            <a:r>
              <a:rPr sz="1050" b="0" i="1">
                <a:solidFill>
                  <a:srgbClr val="000000"/>
                </a:solidFill>
                <a:latin typeface="Arial"/>
              </a:rPr>
              <a:t>ICRA</a:t>
            </a:r>
            <a:r>
              <a:rPr sz="1050" b="0" i="0">
                <a:solidFill>
                  <a:srgbClr val="000000"/>
                </a:solidFill>
                <a:latin typeface="Arial"/>
              </a:rPr>
              <a:t>.</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8382000" cy="1397000"/>
          </a:xfrm>
          <a:prstGeom prst="rect">
            <a:avLst/>
          </a:prstGeom>
          <a:noFill/>
        </p:spPr>
        <p:txBody>
          <a:bodyPr wrap="square" lIns="0" tIns="0" rIns="0" bIns="0" anchor="t">
            <a:noAutofit/>
          </a:bodyPr>
          <a:lstStyle/>
          <a:p>
            <a:pPr algn="l">
              <a:lnSpc>
                <a:spcPts val="4800"/>
              </a:lnSpc>
            </a:pPr>
            <a:r>
              <a:rPr sz="4000" b="0" i="0">
                <a:solidFill>
                  <a:srgbClr val="FFFFFF"/>
                </a:solidFill>
                <a:latin typeface="Arial Black"/>
              </a:rPr>
              <a:t>ANEXOS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ontenido.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130300" y="596900"/>
            <a:ext cx="8382000" cy="762000"/>
          </a:xfrm>
          <a:prstGeom prst="rect">
            <a:avLst/>
          </a:prstGeom>
          <a:noFill/>
        </p:spPr>
        <p:txBody>
          <a:bodyPr wrap="square" lIns="0" tIns="0" rIns="0" bIns="0" anchor="t">
            <a:noAutofit/>
          </a:bodyPr>
          <a:lstStyle/>
          <a:p>
            <a:pPr algn="l"/>
            <a:r>
              <a:rPr sz="4000" b="0" i="0">
                <a:solidFill>
                  <a:srgbClr val="001F5F"/>
                </a:solidFill>
                <a:latin typeface="Arial Black"/>
              </a:rPr>
              <a:t>Anexos</a:t>
            </a:r>
          </a:p>
        </p:txBody>
      </p:sp>
      <p:sp>
        <p:nvSpPr>
          <p:cNvPr id="5" name="TextBox 4"/>
          <p:cNvSpPr txBox="1"/>
          <p:nvPr/>
        </p:nvSpPr>
        <p:spPr>
          <a:xfrm>
            <a:off x="838200" y="1320800"/>
            <a:ext cx="6350000" cy="279400"/>
          </a:xfrm>
          <a:prstGeom prst="rect">
            <a:avLst/>
          </a:prstGeom>
          <a:noFill/>
        </p:spPr>
        <p:txBody>
          <a:bodyPr wrap="square" lIns="0" tIns="0" rIns="0" bIns="0" anchor="t">
            <a:noAutofit/>
          </a:bodyPr>
          <a:lstStyle/>
          <a:p>
            <a:pPr algn="l"/>
            <a:r>
              <a:rPr sz="1500" b="1" i="0">
                <a:solidFill>
                  <a:srgbClr val="001F5F"/>
                </a:solidFill>
                <a:latin typeface="Arial"/>
              </a:rPr>
              <a:t>Anexo A. Videos del proyecto</a:t>
            </a:r>
          </a:p>
        </p:txBody>
      </p:sp>
      <p:pic>
        <p:nvPicPr>
          <p:cNvPr id="6" name="Picture 5" descr="qr_video1.png">
            <a:hlinkClick r:id="rId5"/>
          </p:cNvPr>
          <p:cNvPicPr>
            <a:picLocks noChangeAspect="1"/>
          </p:cNvPicPr>
          <p:nvPr/>
        </p:nvPicPr>
        <p:blipFill>
          <a:blip r:embed="rId4"/>
          <a:stretch>
            <a:fillRect/>
          </a:stretch>
        </p:blipFill>
        <p:spPr>
          <a:xfrm>
            <a:off x="939800" y="1651000"/>
            <a:ext cx="1016000" cy="1016000"/>
          </a:xfrm>
          <a:prstGeom prst="rect">
            <a:avLst/>
          </a:prstGeom>
        </p:spPr>
      </p:pic>
      <p:sp>
        <p:nvSpPr>
          <p:cNvPr id="7" name="TextBox 6"/>
          <p:cNvSpPr txBox="1"/>
          <p:nvPr/>
        </p:nvSpPr>
        <p:spPr>
          <a:xfrm>
            <a:off x="8382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1. Seguidor de paredes en el pasillo simulado</a:t>
            </a:r>
          </a:p>
          <a:p>
            <a:pPr algn="ctr"/>
            <a:r>
              <a:rPr sz="950" b="0" i="0">
                <a:solidFill>
                  <a:srgbClr val="404040"/>
                </a:solidFill>
                <a:latin typeface="Arial"/>
              </a:rPr>
              <a:t>5 may.</a:t>
            </a:r>
          </a:p>
        </p:txBody>
      </p:sp>
      <p:pic>
        <p:nvPicPr>
          <p:cNvPr id="8" name="Picture 7" descr="qr_video2.png">
            <a:hlinkClick r:id="rId7"/>
          </p:cNvPr>
          <p:cNvPicPr>
            <a:picLocks noChangeAspect="1"/>
          </p:cNvPicPr>
          <p:nvPr/>
        </p:nvPicPr>
        <p:blipFill>
          <a:blip r:embed="rId6"/>
          <a:stretch>
            <a:fillRect/>
          </a:stretch>
        </p:blipFill>
        <p:spPr>
          <a:xfrm>
            <a:off x="2235200" y="1651000"/>
            <a:ext cx="1016000" cy="1016000"/>
          </a:xfrm>
          <a:prstGeom prst="rect">
            <a:avLst/>
          </a:prstGeom>
        </p:spPr>
      </p:pic>
      <p:sp>
        <p:nvSpPr>
          <p:cNvPr id="9" name="TextBox 8"/>
          <p:cNvSpPr txBox="1"/>
          <p:nvPr/>
        </p:nvSpPr>
        <p:spPr>
          <a:xfrm>
            <a:off x="21336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2. Teleoperación y mapeo en el modelo de Gregorio</a:t>
            </a:r>
          </a:p>
          <a:p>
            <a:pPr algn="ctr"/>
            <a:r>
              <a:rPr sz="950" b="0" i="0">
                <a:solidFill>
                  <a:srgbClr val="404040"/>
                </a:solidFill>
                <a:latin typeface="Arial"/>
              </a:rPr>
              <a:t>19 may.</a:t>
            </a:r>
          </a:p>
        </p:txBody>
      </p:sp>
      <p:pic>
        <p:nvPicPr>
          <p:cNvPr id="10" name="Picture 9" descr="qr_video3.png">
            <a:hlinkClick r:id="rId9"/>
          </p:cNvPr>
          <p:cNvPicPr>
            <a:picLocks noChangeAspect="1"/>
          </p:cNvPicPr>
          <p:nvPr/>
        </p:nvPicPr>
        <p:blipFill>
          <a:blip r:embed="rId8"/>
          <a:stretch>
            <a:fillRect/>
          </a:stretch>
        </p:blipFill>
        <p:spPr>
          <a:xfrm>
            <a:off x="3530600" y="1651000"/>
            <a:ext cx="1016000" cy="1016000"/>
          </a:xfrm>
          <a:prstGeom prst="rect">
            <a:avLst/>
          </a:prstGeom>
        </p:spPr>
      </p:pic>
      <p:sp>
        <p:nvSpPr>
          <p:cNvPr id="11" name="TextBox 10"/>
          <p:cNvSpPr txBox="1"/>
          <p:nvPr/>
        </p:nvSpPr>
        <p:spPr>
          <a:xfrm>
            <a:off x="34290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3. Prueba de marcha del AWS DeepRacer</a:t>
            </a:r>
          </a:p>
          <a:p>
            <a:pPr algn="ctr"/>
            <a:r>
              <a:rPr sz="950" b="0" i="0">
                <a:solidFill>
                  <a:srgbClr val="404040"/>
                </a:solidFill>
                <a:latin typeface="Arial"/>
              </a:rPr>
              <a:t>5 ago.</a:t>
            </a:r>
          </a:p>
        </p:txBody>
      </p:sp>
      <p:pic>
        <p:nvPicPr>
          <p:cNvPr id="12" name="Picture 11" descr="qr_video4.png">
            <a:hlinkClick r:id="rId11"/>
          </p:cNvPr>
          <p:cNvPicPr>
            <a:picLocks noChangeAspect="1"/>
          </p:cNvPicPr>
          <p:nvPr/>
        </p:nvPicPr>
        <p:blipFill>
          <a:blip r:embed="rId10"/>
          <a:stretch>
            <a:fillRect/>
          </a:stretch>
        </p:blipFill>
        <p:spPr>
          <a:xfrm>
            <a:off x="4826000" y="1651000"/>
            <a:ext cx="1016000" cy="1016000"/>
          </a:xfrm>
          <a:prstGeom prst="rect">
            <a:avLst/>
          </a:prstGeom>
        </p:spPr>
      </p:pic>
      <p:sp>
        <p:nvSpPr>
          <p:cNvPr id="13" name="TextBox 12"/>
          <p:cNvSpPr txBox="1"/>
          <p:nvPr/>
        </p:nvSpPr>
        <p:spPr>
          <a:xfrm>
            <a:off x="47244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4. Media vuelta con Nav2 en simulación</a:t>
            </a:r>
          </a:p>
          <a:p>
            <a:pPr algn="ctr"/>
            <a:r>
              <a:rPr sz="950" b="0" i="0">
                <a:solidFill>
                  <a:srgbClr val="404040"/>
                </a:solidFill>
                <a:latin typeface="Arial"/>
              </a:rPr>
              <a:t>18 ago.</a:t>
            </a:r>
          </a:p>
        </p:txBody>
      </p:sp>
      <p:pic>
        <p:nvPicPr>
          <p:cNvPr id="14" name="Picture 13" descr="qr_video5.png">
            <a:hlinkClick r:id="rId13"/>
          </p:cNvPr>
          <p:cNvPicPr>
            <a:picLocks noChangeAspect="1"/>
          </p:cNvPicPr>
          <p:nvPr/>
        </p:nvPicPr>
        <p:blipFill>
          <a:blip r:embed="rId12"/>
          <a:stretch>
            <a:fillRect/>
          </a:stretch>
        </p:blipFill>
        <p:spPr>
          <a:xfrm>
            <a:off x="6121400" y="1651000"/>
            <a:ext cx="1016000" cy="1016000"/>
          </a:xfrm>
          <a:prstGeom prst="rect">
            <a:avLst/>
          </a:prstGeom>
        </p:spPr>
      </p:pic>
      <p:sp>
        <p:nvSpPr>
          <p:cNvPr id="15" name="TextBox 14"/>
          <p:cNvSpPr txBox="1"/>
          <p:nvPr/>
        </p:nvSpPr>
        <p:spPr>
          <a:xfrm>
            <a:off x="60198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5. Primeras asignaciones del coordinador</a:t>
            </a:r>
          </a:p>
          <a:p>
            <a:pPr algn="ctr"/>
            <a:r>
              <a:rPr sz="950" b="0" i="0">
                <a:solidFill>
                  <a:srgbClr val="404040"/>
                </a:solidFill>
                <a:latin typeface="Arial"/>
              </a:rPr>
              <a:t>24 ago.</a:t>
            </a:r>
          </a:p>
        </p:txBody>
      </p:sp>
      <p:pic>
        <p:nvPicPr>
          <p:cNvPr id="16" name="Picture 15" descr="qr_video6.png">
            <a:hlinkClick r:id="rId15"/>
          </p:cNvPr>
          <p:cNvPicPr>
            <a:picLocks noChangeAspect="1"/>
          </p:cNvPicPr>
          <p:nvPr/>
        </p:nvPicPr>
        <p:blipFill>
          <a:blip r:embed="rId14"/>
          <a:stretch>
            <a:fillRect/>
          </a:stretch>
        </p:blipFill>
        <p:spPr>
          <a:xfrm>
            <a:off x="7416800" y="1651000"/>
            <a:ext cx="1016000" cy="1016000"/>
          </a:xfrm>
          <a:prstGeom prst="rect">
            <a:avLst/>
          </a:prstGeom>
        </p:spPr>
      </p:pic>
      <p:sp>
        <p:nvSpPr>
          <p:cNvPr id="17" name="TextBox 16"/>
          <p:cNvSpPr txBox="1"/>
          <p:nvPr/>
        </p:nvSpPr>
        <p:spPr>
          <a:xfrm>
            <a:off x="73152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6. Campaña de 30 misiones en simulación</a:t>
            </a:r>
          </a:p>
          <a:p>
            <a:pPr algn="ctr"/>
            <a:r>
              <a:rPr sz="950" b="0" i="0">
                <a:solidFill>
                  <a:srgbClr val="404040"/>
                </a:solidFill>
                <a:latin typeface="Arial"/>
              </a:rPr>
              <a:t>5 sep.</a:t>
            </a:r>
          </a:p>
        </p:txBody>
      </p:sp>
      <p:pic>
        <p:nvPicPr>
          <p:cNvPr id="18" name="Picture 17" descr="qr_video7.png">
            <a:hlinkClick r:id="rId17"/>
          </p:cNvPr>
          <p:cNvPicPr>
            <a:picLocks noChangeAspect="1"/>
          </p:cNvPicPr>
          <p:nvPr/>
        </p:nvPicPr>
        <p:blipFill>
          <a:blip r:embed="rId16"/>
          <a:stretch>
            <a:fillRect/>
          </a:stretch>
        </p:blipFill>
        <p:spPr>
          <a:xfrm>
            <a:off x="8712200" y="1651000"/>
            <a:ext cx="1016000" cy="1016000"/>
          </a:xfrm>
          <a:prstGeom prst="rect">
            <a:avLst/>
          </a:prstGeom>
        </p:spPr>
      </p:pic>
      <p:sp>
        <p:nvSpPr>
          <p:cNvPr id="19" name="TextBox 18"/>
          <p:cNvSpPr txBox="1"/>
          <p:nvPr/>
        </p:nvSpPr>
        <p:spPr>
          <a:xfrm>
            <a:off x="8610600" y="2705100"/>
            <a:ext cx="1219200" cy="762000"/>
          </a:xfrm>
          <a:prstGeom prst="rect">
            <a:avLst/>
          </a:prstGeom>
          <a:noFill/>
        </p:spPr>
        <p:txBody>
          <a:bodyPr wrap="square" lIns="0" tIns="0" rIns="0" bIns="0" anchor="t">
            <a:noAutofit/>
          </a:bodyPr>
          <a:lstStyle/>
          <a:p>
            <a:pPr algn="ctr"/>
            <a:r>
              <a:rPr sz="950" b="0" i="0">
                <a:solidFill>
                  <a:srgbClr val="000000"/>
                </a:solidFill>
                <a:latin typeface="Arial"/>
              </a:rPr>
              <a:t>7. Campaña con los agentes físicos</a:t>
            </a:r>
          </a:p>
          <a:p>
            <a:pPr algn="ctr"/>
            <a:r>
              <a:rPr sz="950" b="0" i="0">
                <a:solidFill>
                  <a:srgbClr val="404040"/>
                </a:solidFill>
                <a:latin typeface="Arial"/>
              </a:rPr>
              <a:t>20 oct.</a:t>
            </a:r>
          </a:p>
        </p:txBody>
      </p:sp>
      <p:sp>
        <p:nvSpPr>
          <p:cNvPr id="20" name="TextBox 19"/>
          <p:cNvSpPr txBox="1"/>
          <p:nvPr/>
        </p:nvSpPr>
        <p:spPr>
          <a:xfrm>
            <a:off x="838200" y="3683000"/>
            <a:ext cx="6350000" cy="279400"/>
          </a:xfrm>
          <a:prstGeom prst="rect">
            <a:avLst/>
          </a:prstGeom>
          <a:noFill/>
        </p:spPr>
        <p:txBody>
          <a:bodyPr wrap="square" lIns="0" tIns="0" rIns="0" bIns="0" anchor="t">
            <a:noAutofit/>
          </a:bodyPr>
          <a:lstStyle/>
          <a:p>
            <a:pPr algn="l"/>
            <a:r>
              <a:rPr sz="1500" b="1" i="0">
                <a:solidFill>
                  <a:srgbClr val="001F5F"/>
                </a:solidFill>
                <a:latin typeface="Arial"/>
              </a:rPr>
              <a:t>Anexo B. Repositorio del proyecto</a:t>
            </a:r>
          </a:p>
        </p:txBody>
      </p:sp>
      <p:pic>
        <p:nvPicPr>
          <p:cNvPr id="21" name="Picture 20" descr="qr_repositorio.png">
            <a:hlinkClick r:id="rId19"/>
          </p:cNvPr>
          <p:cNvPicPr>
            <a:picLocks noChangeAspect="1"/>
          </p:cNvPicPr>
          <p:nvPr/>
        </p:nvPicPr>
        <p:blipFill>
          <a:blip r:embed="rId18"/>
          <a:stretch>
            <a:fillRect/>
          </a:stretch>
        </p:blipFill>
        <p:spPr>
          <a:xfrm>
            <a:off x="838200" y="4038600"/>
            <a:ext cx="1270000" cy="1270000"/>
          </a:xfrm>
          <a:prstGeom prst="rect">
            <a:avLst/>
          </a:prstGeom>
        </p:spPr>
      </p:pic>
      <p:sp>
        <p:nvSpPr>
          <p:cNvPr id="22" name="TextBox 21"/>
          <p:cNvSpPr txBox="1"/>
          <p:nvPr/>
        </p:nvSpPr>
        <p:spPr>
          <a:xfrm>
            <a:off x="2235200" y="4089400"/>
            <a:ext cx="2794000" cy="1219200"/>
          </a:xfrm>
          <a:prstGeom prst="rect">
            <a:avLst/>
          </a:prstGeom>
          <a:noFill/>
        </p:spPr>
        <p:txBody>
          <a:bodyPr wrap="square" lIns="0" tIns="0" rIns="0" bIns="0" anchor="t">
            <a:noAutofit/>
          </a:bodyPr>
          <a:lstStyle/>
          <a:p>
            <a:pPr algn="l"/>
            <a:r>
              <a:rPr sz="1300" b="1" i="0">
                <a:solidFill>
                  <a:srgbClr val="000000"/>
                </a:solidFill>
                <a:latin typeface="Arial"/>
              </a:rPr>
              <a:t>Repositorio</a:t>
            </a:r>
          </a:p>
          <a:p>
            <a:pPr algn="l"/>
            <a:r>
              <a:rPr sz="1100" b="0" i="0">
                <a:solidFill>
                  <a:srgbClr val="404040"/>
                </a:solidFill>
                <a:latin typeface="Arial"/>
              </a:rPr>
              <a:t>github.com/shdeza12</a:t>
            </a:r>
          </a:p>
          <a:p>
            <a:pPr algn="l"/>
            <a:r>
              <a:rPr sz="1100" b="0" i="0">
                <a:solidFill>
                  <a:srgbClr val="000000"/>
                </a:solidFill>
                <a:latin typeface="Arial"/>
              </a:rPr>
              <a:t>Código, requisitos con su prueba, protocolo, registro de cada misión, evidencia y entregables</a:t>
            </a:r>
          </a:p>
        </p:txBody>
      </p:sp>
      <p:pic>
        <p:nvPicPr>
          <p:cNvPr id="23" name="Picture 22" descr="qr_sitio.png">
            <a:hlinkClick r:id="rId21"/>
          </p:cNvPr>
          <p:cNvPicPr>
            <a:picLocks noChangeAspect="1"/>
          </p:cNvPicPr>
          <p:nvPr/>
        </p:nvPicPr>
        <p:blipFill>
          <a:blip r:embed="rId20"/>
          <a:stretch>
            <a:fillRect/>
          </a:stretch>
        </p:blipFill>
        <p:spPr>
          <a:xfrm>
            <a:off x="5207000" y="4038600"/>
            <a:ext cx="1270000" cy="1270000"/>
          </a:xfrm>
          <a:prstGeom prst="rect">
            <a:avLst/>
          </a:prstGeom>
        </p:spPr>
      </p:pic>
      <p:sp>
        <p:nvSpPr>
          <p:cNvPr id="24" name="TextBox 23"/>
          <p:cNvSpPr txBox="1"/>
          <p:nvPr/>
        </p:nvSpPr>
        <p:spPr>
          <a:xfrm>
            <a:off x="6604000" y="4089400"/>
            <a:ext cx="2540000" cy="1219200"/>
          </a:xfrm>
          <a:prstGeom prst="rect">
            <a:avLst/>
          </a:prstGeom>
          <a:noFill/>
        </p:spPr>
        <p:txBody>
          <a:bodyPr wrap="square" lIns="0" tIns="0" rIns="0" bIns="0" anchor="t">
            <a:noAutofit/>
          </a:bodyPr>
          <a:lstStyle/>
          <a:p>
            <a:pPr algn="l"/>
            <a:r>
              <a:rPr sz="1300" b="1" i="0">
                <a:solidFill>
                  <a:srgbClr val="000000"/>
                </a:solidFill>
                <a:latin typeface="Arial"/>
              </a:rPr>
              <a:t>Sitio del proyecto</a:t>
            </a:r>
          </a:p>
          <a:p>
            <a:pPr algn="l"/>
            <a:r>
              <a:rPr sz="1100" b="0" i="0">
                <a:solidFill>
                  <a:srgbClr val="404040"/>
                </a:solidFill>
                <a:latin typeface="Arial"/>
              </a:rPr>
              <a:t>shdeza12.github.io</a:t>
            </a:r>
          </a:p>
          <a:p>
            <a:pPr algn="l"/>
            <a:r>
              <a:rPr sz="1100" b="0" i="0">
                <a:solidFill>
                  <a:srgbClr val="000000"/>
                </a:solidFill>
                <a:latin typeface="Arial"/>
              </a:rPr>
              <a:t>El mismo contenido, para leerlo en el navegador</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agenda.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2286000" y="5334000"/>
            <a:ext cx="9715500" cy="1524000"/>
          </a:xfrm>
          <a:prstGeom prst="rect">
            <a:avLst/>
          </a:prstGeom>
          <a:solidFill>
            <a:srgbClr val="FFFFFF"/>
          </a:solidFill>
          <a:ln>
            <a:noFill/>
          </a:ln>
        </p:spPr>
        <p:txBody>
          <a:bodyPr rtlCol="0" anchor="ctr"/>
          <a:lstStyle/>
          <a:p>
            <a:pPr algn="ctr"/>
          </a:p>
        </p:txBody>
      </p:sp>
      <p:pic>
        <p:nvPicPr>
          <p:cNvPr id="5" name="Picture 4" descr="banda_acreditacion.png"/>
          <p:cNvPicPr>
            <a:picLocks noChangeAspect="1"/>
          </p:cNvPicPr>
          <p:nvPr/>
        </p:nvPicPr>
        <p:blipFill>
          <a:blip r:embed="rId4"/>
          <a:stretch>
            <a:fillRect/>
          </a:stretch>
        </p:blipFill>
        <p:spPr>
          <a:xfrm>
            <a:off x="2438400" y="5435600"/>
            <a:ext cx="6261100" cy="1168400"/>
          </a:xfrm>
          <a:prstGeom prst="rect">
            <a:avLst/>
          </a:prstGeom>
        </p:spPr>
      </p:pic>
      <p:sp>
        <p:nvSpPr>
          <p:cNvPr id="6" name="TextBox 5"/>
          <p:cNvSpPr txBox="1"/>
          <p:nvPr/>
        </p:nvSpPr>
        <p:spPr>
          <a:xfrm>
            <a:off x="8128000" y="4241800"/>
            <a:ext cx="3429000" cy="711200"/>
          </a:xfrm>
          <a:prstGeom prst="rect">
            <a:avLst/>
          </a:prstGeom>
          <a:noFill/>
        </p:spPr>
        <p:txBody>
          <a:bodyPr wrap="square" lIns="0" tIns="0" rIns="0" bIns="0" anchor="t">
            <a:noAutofit/>
          </a:bodyPr>
          <a:lstStyle/>
          <a:p>
            <a:pPr algn="r"/>
            <a:r>
              <a:rPr sz="4000" b="0" i="0">
                <a:solidFill>
                  <a:srgbClr val="FFFFFF"/>
                </a:solidFill>
                <a:latin typeface="Arial Black"/>
              </a:rPr>
              <a:t>GRACIAS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000000"/>
                </a:solidFill>
                <a:latin typeface="Calibri"/>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separador.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219200" y="2413000"/>
            <a:ext cx="7620000" cy="889000"/>
          </a:xfrm>
          <a:prstGeom prst="rect">
            <a:avLst/>
          </a:prstGeom>
          <a:noFill/>
        </p:spPr>
        <p:txBody>
          <a:bodyPr wrap="square" lIns="0" tIns="0" rIns="0" bIns="0" anchor="t">
            <a:noAutofit/>
          </a:bodyPr>
          <a:lstStyle/>
          <a:p>
            <a:pPr algn="l"/>
            <a:r>
              <a:rPr sz="4800" b="0" i="0">
                <a:solidFill>
                  <a:srgbClr val="FFFFFF"/>
                </a:solidFill>
                <a:latin typeface="Arial Black"/>
              </a:rPr>
              <a:t>¿PREGUNTAS?</a:t>
            </a:r>
          </a:p>
        </p:txBody>
      </p:sp>
      <p:sp>
        <p:nvSpPr>
          <p:cNvPr id="3" name="Numero de pagina"/>
          <p:cNvSpPr txBox="1"/>
          <p:nvPr/>
        </p:nvSpPr>
        <p:spPr>
          <a:xfrm>
            <a:off x="10160000" y="5740400"/>
            <a:ext cx="1587500" cy="914400"/>
          </a:xfrm>
          <a:prstGeom prst="rect">
            <a:avLst/>
          </a:prstGeom>
          <a:noFill/>
        </p:spPr>
        <p:txBody>
          <a:bodyPr wrap="square" lIns="0" tIns="0" rIns="0" bIns="0" anchor="t">
            <a:noAutofit/>
          </a:bodyPr>
          <a:lstStyle/>
          <a:p>
            <a:pPr algn="r"/>
            <a:r>
              <a:rPr sz="5400" b="0" i="0">
                <a:solidFill>
                  <a:srgbClr val="FFFFFF"/>
                </a:solidFill>
                <a:effectLst>
                  <a:outerShdw blurRad="50800" dist="25400" dir="2700000" algn="tl" rotWithShape="0">
                    <a:prstClr val="black">
                      <a:alpha val="50000"/>
                    </a:prstClr>
                  </a:outerShdw>
                </a:effectLst>
                <a:latin typeface="Calibri"/>
              </a:rP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